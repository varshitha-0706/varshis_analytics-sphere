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9" r:id="rId5"/>
    <p:sldId id="259" r:id="rId6"/>
    <p:sldId id="280" r:id="rId7"/>
    <p:sldId id="260" r:id="rId8"/>
    <p:sldId id="278" r:id="rId9"/>
    <p:sldId id="261" r:id="rId10"/>
    <p:sldId id="262" r:id="rId11"/>
    <p:sldId id="265" r:id="rId12"/>
    <p:sldId id="266" r:id="rId13"/>
    <p:sldId id="267" r:id="rId14"/>
    <p:sldId id="281" r:id="rId15"/>
    <p:sldId id="277" r:id="rId16"/>
    <p:sldId id="268" r:id="rId17"/>
    <p:sldId id="282" r:id="rId18"/>
    <p:sldId id="283" r:id="rId19"/>
    <p:sldId id="28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D97853D-2D2F-427A-BFEE-739422174A0E}"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3976239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3D97853D-2D2F-427A-BFEE-739422174A0E}"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3656680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97853D-2D2F-427A-BFEE-739422174A0E}"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4212811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D97853D-2D2F-427A-BFEE-739422174A0E}" type="datetimeFigureOut">
              <a:rPr lang="en-US" smtClean="0"/>
              <a:t>8/12/2024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726285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D97853D-2D2F-427A-BFEE-739422174A0E}" type="datetimeFigureOut">
              <a:rPr lang="en-US" smtClean="0"/>
              <a:t>8/12/2024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279002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3D97853D-2D2F-427A-BFEE-739422174A0E}" type="datetimeFigureOut">
              <a:rPr lang="en-US" smtClean="0"/>
              <a:t>8/12/2024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1093925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D97853D-2D2F-427A-BFEE-739422174A0E}" type="datetimeFigureOut">
              <a:rPr lang="en-US" smtClean="0"/>
              <a:t>8/12/2024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1134545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3D97853D-2D2F-427A-BFEE-739422174A0E}" type="datetimeFigureOut">
              <a:rPr lang="en-US" smtClean="0"/>
              <a:t>8/12/2024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1279828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97853D-2D2F-427A-BFEE-739422174A0E}" type="datetimeFigureOut">
              <a:rPr lang="en-US" smtClean="0"/>
              <a:t>8/12/2024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971120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97853D-2D2F-427A-BFEE-739422174A0E}" type="datetimeFigureOut">
              <a:rPr lang="en-US" smtClean="0"/>
              <a:t>8/12/2024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2908429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97853D-2D2F-427A-BFEE-739422174A0E}"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3034687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97853D-2D2F-427A-BFEE-739422174A0E}"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8670B-3236-45C6-9196-EA67ECBE04A3}"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2729246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97853D-2D2F-427A-BFEE-739422174A0E}"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30625064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D97853D-2D2F-427A-BFEE-739422174A0E}" type="datetimeFigureOut">
              <a:rPr lang="en-US" smtClean="0"/>
              <a:t>8/12/2024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3742232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D97853D-2D2F-427A-BFEE-739422174A0E}" type="datetimeFigureOut">
              <a:rPr lang="en-US" smtClean="0"/>
              <a:t>8/12/2024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32626163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97853D-2D2F-427A-BFEE-739422174A0E}"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31778011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97853D-2D2F-427A-BFEE-739422174A0E}"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8670B-3236-45C6-9196-EA67ECBE04A3}" type="slidenum">
              <a:rPr lang="en-US" smtClean="0"/>
              <a:t>‹#›</a:t>
            </a:fld>
            <a:endParaRPr lang="en-US"/>
          </a:p>
        </p:txBody>
      </p:sp>
    </p:spTree>
    <p:extLst>
      <p:ext uri="{BB962C8B-B14F-4D97-AF65-F5344CB8AC3E}">
        <p14:creationId xmlns:p14="http://schemas.microsoft.com/office/powerpoint/2010/main" val="2727286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D97853D-2D2F-427A-BFEE-739422174A0E}" type="datetimeFigureOut">
              <a:rPr lang="en-US" smtClean="0"/>
              <a:t>8/12/2024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0C8670B-3236-45C6-9196-EA67ECBE04A3}" type="slidenum">
              <a:rPr lang="en-US" smtClean="0"/>
              <a:t>‹#›</a:t>
            </a:fld>
            <a:endParaRPr lang="en-US"/>
          </a:p>
        </p:txBody>
      </p:sp>
    </p:spTree>
    <p:extLst>
      <p:ext uri="{BB962C8B-B14F-4D97-AF65-F5344CB8AC3E}">
        <p14:creationId xmlns:p14="http://schemas.microsoft.com/office/powerpoint/2010/main" val="381430930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types-of-attributes-in-er-mode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domain-relational-calculus-in-dbm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scaler.com/topics/tuple-in-dbm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Relational Calculus</a:t>
            </a:r>
            <a:br>
              <a:rPr lang="en-US" b="1" dirty="0" smtClean="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74601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Relational Calculus?</a:t>
            </a:r>
            <a:br>
              <a:rPr lang="en-US" b="1" dirty="0" smtClean="0"/>
            </a:br>
            <a:endParaRPr lang="en-US" dirty="0"/>
          </a:p>
        </p:txBody>
      </p:sp>
      <p:sp>
        <p:nvSpPr>
          <p:cNvPr id="3" name="Content Placeholder 2"/>
          <p:cNvSpPr>
            <a:spLocks noGrp="1"/>
          </p:cNvSpPr>
          <p:nvPr>
            <p:ph idx="1"/>
          </p:nvPr>
        </p:nvSpPr>
        <p:spPr>
          <a:xfrm>
            <a:off x="875201" y="1378425"/>
            <a:ext cx="10561623" cy="3534770"/>
          </a:xfrm>
        </p:spPr>
        <p:txBody>
          <a:bodyPr>
            <a:noAutofit/>
          </a:bodyPr>
          <a:lstStyle/>
          <a:p>
            <a:r>
              <a:rPr lang="en-US" sz="2400" dirty="0"/>
              <a:t>Before understanding Relational calculus in DBMS, we need to understand Procedural Language and Declarative </a:t>
            </a:r>
            <a:r>
              <a:rPr lang="en-US" sz="2400" dirty="0" err="1"/>
              <a:t>Langauge</a:t>
            </a:r>
            <a:r>
              <a:rPr lang="en-US" sz="2400" dirty="0" smtClean="0"/>
              <a:t>.</a:t>
            </a:r>
          </a:p>
          <a:p>
            <a:pPr marL="0" indent="0">
              <a:buNone/>
            </a:pPr>
            <a:endParaRPr lang="en-US" sz="2400" dirty="0"/>
          </a:p>
          <a:p>
            <a:r>
              <a:rPr lang="en-US" sz="2400" dirty="0"/>
              <a:t>    </a:t>
            </a:r>
            <a:r>
              <a:rPr lang="en-US" sz="2800" b="1" dirty="0">
                <a:solidFill>
                  <a:srgbClr val="FFFF00"/>
                </a:solidFill>
              </a:rPr>
              <a:t>Procedural Language </a:t>
            </a:r>
            <a:r>
              <a:rPr lang="en-US" sz="2400" dirty="0"/>
              <a:t>- Those Languages which clearly define how to get the required results from the Database are called Procedural Language. Relational algebra is a Procedural Language.</a:t>
            </a:r>
          </a:p>
          <a:p>
            <a:r>
              <a:rPr lang="en-US" sz="2400" dirty="0"/>
              <a:t>    </a:t>
            </a:r>
            <a:r>
              <a:rPr lang="en-US" sz="2800" b="1" dirty="0" smtClean="0">
                <a:solidFill>
                  <a:srgbClr val="FFFF00"/>
                </a:solidFill>
              </a:rPr>
              <a:t>Declarative Language </a:t>
            </a:r>
            <a:r>
              <a:rPr lang="en-US" sz="2400" dirty="0" smtClean="0"/>
              <a:t>- </a:t>
            </a:r>
            <a:r>
              <a:rPr lang="en-US" sz="2400" dirty="0"/>
              <a:t>Those Language that only cares about What to get from the database without getting into how to get the results are called Declarative Language. Relational Calculus is a Declarative Language</a:t>
            </a:r>
            <a:r>
              <a:rPr lang="en-US" sz="2400" dirty="0" smtClean="0"/>
              <a:t>.</a:t>
            </a:r>
          </a:p>
          <a:p>
            <a:r>
              <a:rPr lang="en-US" sz="2400" dirty="0"/>
              <a:t>So Relational Calculus is a Declarative Language that uses Predicate Logic or First-Order Logic to determine the results from Database.</a:t>
            </a:r>
          </a:p>
        </p:txBody>
      </p:sp>
    </p:spTree>
    <p:extLst>
      <p:ext uri="{BB962C8B-B14F-4D97-AF65-F5344CB8AC3E}">
        <p14:creationId xmlns:p14="http://schemas.microsoft.com/office/powerpoint/2010/main" val="1280038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Relational Calculus in DBMS</a:t>
            </a:r>
            <a:br>
              <a:rPr lang="en-US" b="1"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68537" y="1558805"/>
            <a:ext cx="6059606" cy="4462427"/>
          </a:xfrm>
        </p:spPr>
      </p:pic>
      <p:sp>
        <p:nvSpPr>
          <p:cNvPr id="5" name="Rectangle 4"/>
          <p:cNvSpPr/>
          <p:nvPr/>
        </p:nvSpPr>
        <p:spPr>
          <a:xfrm>
            <a:off x="441277" y="2050914"/>
            <a:ext cx="6096000" cy="3970318"/>
          </a:xfrm>
          <a:prstGeom prst="rect">
            <a:avLst/>
          </a:prstGeom>
        </p:spPr>
        <p:txBody>
          <a:bodyPr>
            <a:spAutoFit/>
          </a:bodyPr>
          <a:lstStyle/>
          <a:p>
            <a:r>
              <a:rPr lang="en-US" sz="3600" dirty="0" smtClean="0"/>
              <a:t>Relational Calculus is of Two Types:</a:t>
            </a:r>
          </a:p>
          <a:p>
            <a:endParaRPr lang="en-US" sz="3600" dirty="0" smtClean="0"/>
          </a:p>
          <a:p>
            <a:r>
              <a:rPr lang="en-US" sz="3600" dirty="0" smtClean="0"/>
              <a:t>   1.Tuple Relational Calculus (TRC)</a:t>
            </a:r>
          </a:p>
          <a:p>
            <a:r>
              <a:rPr lang="en-US" sz="3600" dirty="0" smtClean="0"/>
              <a:t> 2. Domain Relational Calculus (DRC)</a:t>
            </a:r>
            <a:endParaRPr lang="en-US" sz="3600" dirty="0"/>
          </a:p>
        </p:txBody>
      </p:sp>
    </p:spTree>
    <p:extLst>
      <p:ext uri="{BB962C8B-B14F-4D97-AF65-F5344CB8AC3E}">
        <p14:creationId xmlns:p14="http://schemas.microsoft.com/office/powerpoint/2010/main" val="1233574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a:t>
            </a:r>
            <a:r>
              <a:rPr lang="en-US" b="1" dirty="0" smtClean="0"/>
              <a:t>uple </a:t>
            </a:r>
            <a:r>
              <a:rPr lang="en-US" b="1" dirty="0"/>
              <a:t>Relational Calculus (TRC)</a:t>
            </a:r>
            <a:endParaRPr lang="en-US" dirty="0"/>
          </a:p>
        </p:txBody>
      </p:sp>
      <p:sp>
        <p:nvSpPr>
          <p:cNvPr id="3" name="Content Placeholder 2"/>
          <p:cNvSpPr>
            <a:spLocks noGrp="1"/>
          </p:cNvSpPr>
          <p:nvPr>
            <p:ph idx="1"/>
          </p:nvPr>
        </p:nvSpPr>
        <p:spPr>
          <a:xfrm>
            <a:off x="1103312" y="2052918"/>
            <a:ext cx="10620115" cy="4195481"/>
          </a:xfrm>
        </p:spPr>
        <p:txBody>
          <a:bodyPr>
            <a:normAutofit lnSpcReduction="10000"/>
          </a:bodyPr>
          <a:lstStyle/>
          <a:p>
            <a:r>
              <a:rPr lang="en-US" sz="3200" dirty="0" smtClean="0"/>
              <a:t>is </a:t>
            </a:r>
            <a:r>
              <a:rPr lang="en-US" sz="3200" dirty="0"/>
              <a:t>a non-procedural query language used in relational database management systems (RDBMS) to retrieve data from tables. </a:t>
            </a:r>
            <a:endParaRPr lang="en-US" sz="3200" dirty="0" smtClean="0"/>
          </a:p>
          <a:p>
            <a:r>
              <a:rPr lang="en-US" sz="3200" dirty="0" smtClean="0"/>
              <a:t>TRC </a:t>
            </a:r>
            <a:r>
              <a:rPr lang="en-US" sz="3200" dirty="0"/>
              <a:t>is based on the concept of tuples, which are ordered sets of attribute values that represent a single row or record in a database table</a:t>
            </a:r>
            <a:r>
              <a:rPr lang="en-US" sz="3200" dirty="0" smtClean="0"/>
              <a:t>.</a:t>
            </a:r>
          </a:p>
          <a:p>
            <a:r>
              <a:rPr lang="en-US" sz="3200" dirty="0"/>
              <a:t>TRC queries are expressed as logical formulas that describe the desired tuples.</a:t>
            </a:r>
          </a:p>
        </p:txBody>
      </p:sp>
    </p:spTree>
    <p:extLst>
      <p:ext uri="{BB962C8B-B14F-4D97-AF65-F5344CB8AC3E}">
        <p14:creationId xmlns:p14="http://schemas.microsoft.com/office/powerpoint/2010/main" val="373823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Tuple Relational Calculus (TRC)</a:t>
            </a:r>
            <a:br>
              <a:rPr lang="en-US" dirty="0"/>
            </a:br>
            <a:endParaRPr lang="en-US" dirty="0"/>
          </a:p>
        </p:txBody>
      </p:sp>
      <p:sp>
        <p:nvSpPr>
          <p:cNvPr id="3" name="Content Placeholder 2"/>
          <p:cNvSpPr>
            <a:spLocks noGrp="1"/>
          </p:cNvSpPr>
          <p:nvPr>
            <p:ph idx="1"/>
          </p:nvPr>
        </p:nvSpPr>
        <p:spPr>
          <a:xfrm>
            <a:off x="646111" y="1546481"/>
            <a:ext cx="10692449" cy="4910590"/>
          </a:xfrm>
        </p:spPr>
        <p:txBody>
          <a:bodyPr>
            <a:noAutofit/>
          </a:bodyPr>
          <a:lstStyle/>
          <a:p>
            <a:r>
              <a:rPr lang="en-US" sz="2400" dirty="0" smtClean="0"/>
              <a:t>Tuple </a:t>
            </a:r>
            <a:r>
              <a:rPr lang="en-US" sz="2400" dirty="0"/>
              <a:t>Relational Calculus in DBMS uses a tuple variable (t) that goes to each row of the table and checks if the predicate is true or false for the given row. Depending on the given predicate condition, it returns the row or part of the row</a:t>
            </a:r>
            <a:r>
              <a:rPr lang="en-US" sz="2400" dirty="0" smtClean="0"/>
              <a:t>.</a:t>
            </a:r>
            <a:endParaRPr lang="en-US" sz="2400" dirty="0"/>
          </a:p>
          <a:p>
            <a:r>
              <a:rPr lang="en-US" sz="2400" dirty="0"/>
              <a:t>The Tuple Relational Calculus expression Syntax</a:t>
            </a:r>
          </a:p>
          <a:p>
            <a:r>
              <a:rPr lang="en-US" sz="2400" dirty="0" smtClean="0"/>
              <a:t>      </a:t>
            </a:r>
            <a:r>
              <a:rPr lang="en-US" sz="3200" b="1" dirty="0" smtClean="0"/>
              <a:t>{ t | P(t)} </a:t>
            </a:r>
          </a:p>
          <a:p>
            <a:r>
              <a:rPr lang="en-US" sz="2400" dirty="0" smtClean="0"/>
              <a:t>Where </a:t>
            </a:r>
            <a:r>
              <a:rPr lang="en-US" sz="2400" dirty="0"/>
              <a:t>t is the tuple variable that runs over every Row, and P(t) is the predicate logic expression or condition</a:t>
            </a:r>
            <a:r>
              <a:rPr lang="en-US" sz="2400" dirty="0" smtClean="0"/>
              <a:t>.</a:t>
            </a:r>
          </a:p>
          <a:p>
            <a:r>
              <a:rPr lang="en-US" sz="2400" dirty="0"/>
              <a:t>where t is a </a:t>
            </a:r>
            <a:r>
              <a:rPr lang="en-US" sz="2400" b="1" dirty="0"/>
              <a:t>tuple variable</a:t>
            </a:r>
            <a:r>
              <a:rPr lang="en-US" sz="2400" dirty="0"/>
              <a:t> and P(t) is a </a:t>
            </a:r>
            <a:r>
              <a:rPr lang="en-US" sz="2400" b="1" dirty="0"/>
              <a:t>logical formula</a:t>
            </a:r>
            <a:r>
              <a:rPr lang="en-US" sz="2400" dirty="0"/>
              <a:t> that describes the conditions that the tuples in the result must satisfy. The </a:t>
            </a:r>
            <a:r>
              <a:rPr lang="en-US" sz="2400" b="1" dirty="0"/>
              <a:t>curly braces {}</a:t>
            </a:r>
            <a:r>
              <a:rPr lang="en-US" sz="2400" dirty="0"/>
              <a:t> are used to indicate that the expression is a set of tuples</a:t>
            </a:r>
            <a:r>
              <a:rPr lang="en-US" sz="2400" dirty="0" smtClean="0"/>
              <a:t>.</a:t>
            </a:r>
          </a:p>
        </p:txBody>
      </p:sp>
    </p:spTree>
    <p:extLst>
      <p:ext uri="{BB962C8B-B14F-4D97-AF65-F5344CB8AC3E}">
        <p14:creationId xmlns:p14="http://schemas.microsoft.com/office/powerpoint/2010/main" val="2863481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1021425" y="1152983"/>
            <a:ext cx="10046909" cy="5015805"/>
          </a:xfrm>
        </p:spPr>
        <p:txBody>
          <a:bodyPr>
            <a:normAutofit fontScale="85000" lnSpcReduction="20000"/>
          </a:bodyPr>
          <a:lstStyle/>
          <a:p>
            <a:r>
              <a:rPr lang="en-US" sz="3600" dirty="0"/>
              <a:t> </a:t>
            </a:r>
            <a:r>
              <a:rPr lang="en-US" sz="4400" b="1" dirty="0"/>
              <a:t>{ t | P(t)} </a:t>
            </a:r>
          </a:p>
          <a:p>
            <a:r>
              <a:rPr lang="en-US" sz="2800" dirty="0" smtClean="0"/>
              <a:t>P(t</a:t>
            </a:r>
            <a:r>
              <a:rPr lang="en-US" sz="2800" dirty="0"/>
              <a:t>) may have various conditions logically combined with OR (∨), AND (∧), NOT(¬). </a:t>
            </a:r>
            <a:endParaRPr lang="en-US" sz="2800" dirty="0" smtClean="0"/>
          </a:p>
          <a:p>
            <a:r>
              <a:rPr lang="en-US" sz="2800" dirty="0" smtClean="0"/>
              <a:t>It </a:t>
            </a:r>
            <a:r>
              <a:rPr lang="en-US" sz="2800" dirty="0"/>
              <a:t>also uses quantifiers:</a:t>
            </a:r>
            <a:br>
              <a:rPr lang="en-US" sz="2800" dirty="0"/>
            </a:br>
            <a:r>
              <a:rPr lang="en-US" sz="2800" dirty="0"/>
              <a:t>∃ t ∈ r (Q(t)) = ”there exists” a tuple in t in relation r such that predicate Q(t) is true. </a:t>
            </a:r>
            <a:br>
              <a:rPr lang="en-US" sz="2800" dirty="0"/>
            </a:br>
            <a:r>
              <a:rPr lang="en-US" sz="2800" dirty="0"/>
              <a:t>∀ t ∈ r (Q(t)) = Q(t) is true “for all” tuples in relation r</a:t>
            </a:r>
            <a:r>
              <a:rPr lang="en-US" sz="2800" dirty="0" smtClean="0"/>
              <a:t>.</a:t>
            </a:r>
          </a:p>
          <a:p>
            <a:endParaRPr lang="en-US" sz="2800" dirty="0" smtClean="0"/>
          </a:p>
          <a:p>
            <a:r>
              <a:rPr lang="en-US" sz="2800" b="1" dirty="0"/>
              <a:t>Universal Quantifiers:</a:t>
            </a:r>
            <a:r>
              <a:rPr lang="en-US" sz="2800" dirty="0"/>
              <a:t> The universal quantifier denoted by ∀ is read as for all which means that in a given set of tuples exactly all tuples satisfy a given condition.</a:t>
            </a:r>
          </a:p>
          <a:p>
            <a:r>
              <a:rPr lang="en-US" sz="2800" b="1" dirty="0"/>
              <a:t>Existential Quantifiers:</a:t>
            </a:r>
            <a:r>
              <a:rPr lang="en-US" sz="2800" dirty="0"/>
              <a:t> The existential quantifier denoted by ∃ is read as for all which means that in a given set of tuples there is at least one occurrences whose value satisfy a given condition.</a:t>
            </a:r>
          </a:p>
          <a:p>
            <a:endParaRPr lang="en-US" sz="2800" dirty="0"/>
          </a:p>
          <a:p>
            <a:endParaRPr lang="en-US" dirty="0"/>
          </a:p>
        </p:txBody>
      </p:sp>
    </p:spTree>
    <p:extLst>
      <p:ext uri="{BB962C8B-B14F-4D97-AF65-F5344CB8AC3E}">
        <p14:creationId xmlns:p14="http://schemas.microsoft.com/office/powerpoint/2010/main" val="3649738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020" y="79711"/>
            <a:ext cx="9404723" cy="1400530"/>
          </a:xfrm>
        </p:spPr>
        <p:txBody>
          <a:bodyPr/>
          <a:lstStyle/>
          <a:p>
            <a:r>
              <a:rPr lang="en-US" sz="3200" dirty="0" smtClean="0"/>
              <a:t>Let's take an example of a Customer Database and try to see how TRC expressions work.</a:t>
            </a:r>
            <a:endParaRPr lang="en-US" sz="3200" dirty="0"/>
          </a:p>
        </p:txBody>
      </p:sp>
      <p:sp>
        <p:nvSpPr>
          <p:cNvPr id="3" name="Content Placeholder 2"/>
          <p:cNvSpPr>
            <a:spLocks noGrp="1"/>
          </p:cNvSpPr>
          <p:nvPr>
            <p:ph idx="1"/>
          </p:nvPr>
        </p:nvSpPr>
        <p:spPr>
          <a:xfrm>
            <a:off x="6479174" y="1127636"/>
            <a:ext cx="4341438" cy="2847567"/>
          </a:xfrm>
        </p:spPr>
        <p:txBody>
          <a:bodyPr/>
          <a:lstStyle/>
          <a:p>
            <a:r>
              <a:rPr lang="en-US" b="1" dirty="0"/>
              <a:t>Customer Table</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214826919"/>
              </p:ext>
            </p:extLst>
          </p:nvPr>
        </p:nvGraphicFramePr>
        <p:xfrm>
          <a:off x="6900729" y="1558125"/>
          <a:ext cx="4973709" cy="2123440"/>
        </p:xfrm>
        <a:graphic>
          <a:graphicData uri="http://schemas.openxmlformats.org/drawingml/2006/table">
            <a:tbl>
              <a:tblPr firstRow="1" bandRow="1">
                <a:tableStyleId>{5C22544A-7EE6-4342-B048-85BDC9FD1C3A}</a:tableStyleId>
              </a:tblPr>
              <a:tblGrid>
                <a:gridCol w="1434856"/>
                <a:gridCol w="1514877"/>
                <a:gridCol w="2023976"/>
              </a:tblGrid>
              <a:tr h="370840">
                <a:tc>
                  <a:txBody>
                    <a:bodyPr/>
                    <a:lstStyle/>
                    <a:p>
                      <a:pPr algn="ctr"/>
                      <a:r>
                        <a:rPr lang="en-US" dirty="0" err="1">
                          <a:effectLst/>
                        </a:rPr>
                        <a:t>Customer_id</a:t>
                      </a:r>
                      <a:endParaRPr lang="en-US" dirty="0">
                        <a:effectLst/>
                      </a:endParaRPr>
                    </a:p>
                  </a:txBody>
                  <a:tcPr anchor="ctr"/>
                </a:tc>
                <a:tc>
                  <a:txBody>
                    <a:bodyPr/>
                    <a:lstStyle/>
                    <a:p>
                      <a:pPr algn="ctr"/>
                      <a:r>
                        <a:rPr lang="en-US">
                          <a:effectLst/>
                        </a:rPr>
                        <a:t>Name</a:t>
                      </a:r>
                    </a:p>
                  </a:txBody>
                  <a:tcPr anchor="ctr"/>
                </a:tc>
                <a:tc>
                  <a:txBody>
                    <a:bodyPr/>
                    <a:lstStyle/>
                    <a:p>
                      <a:pPr algn="ctr"/>
                      <a:r>
                        <a:rPr lang="en-US">
                          <a:effectLst/>
                        </a:rPr>
                        <a:t>Zip code</a:t>
                      </a:r>
                    </a:p>
                  </a:txBody>
                  <a:tcPr anchor="ctr"/>
                </a:tc>
              </a:tr>
              <a:tr h="370840">
                <a:tc>
                  <a:txBody>
                    <a:bodyPr/>
                    <a:lstStyle/>
                    <a:p>
                      <a:pPr algn="ctr"/>
                      <a:r>
                        <a:rPr lang="en-US" dirty="0">
                          <a:effectLst/>
                        </a:rPr>
                        <a:t>1</a:t>
                      </a:r>
                    </a:p>
                  </a:txBody>
                  <a:tcPr anchor="ctr"/>
                </a:tc>
                <a:tc>
                  <a:txBody>
                    <a:bodyPr/>
                    <a:lstStyle/>
                    <a:p>
                      <a:pPr algn="ctr"/>
                      <a:r>
                        <a:rPr lang="en-US">
                          <a:effectLst/>
                        </a:rPr>
                        <a:t>Rohit</a:t>
                      </a:r>
                    </a:p>
                  </a:txBody>
                  <a:tcPr anchor="ctr"/>
                </a:tc>
                <a:tc>
                  <a:txBody>
                    <a:bodyPr/>
                    <a:lstStyle/>
                    <a:p>
                      <a:pPr algn="ctr"/>
                      <a:r>
                        <a:rPr lang="en-US">
                          <a:effectLst/>
                        </a:rPr>
                        <a:t>12345</a:t>
                      </a:r>
                    </a:p>
                  </a:txBody>
                  <a:tcPr anchor="ctr"/>
                </a:tc>
              </a:tr>
              <a:tr h="370840">
                <a:tc>
                  <a:txBody>
                    <a:bodyPr/>
                    <a:lstStyle/>
                    <a:p>
                      <a:pPr algn="ctr"/>
                      <a:r>
                        <a:rPr lang="en-US" dirty="0">
                          <a:effectLst/>
                        </a:rPr>
                        <a:t>2</a:t>
                      </a:r>
                    </a:p>
                  </a:txBody>
                  <a:tcPr anchor="ctr"/>
                </a:tc>
                <a:tc>
                  <a:txBody>
                    <a:bodyPr/>
                    <a:lstStyle/>
                    <a:p>
                      <a:pPr algn="ctr"/>
                      <a:r>
                        <a:rPr lang="en-US" dirty="0">
                          <a:effectLst/>
                        </a:rPr>
                        <a:t>Rahul</a:t>
                      </a:r>
                    </a:p>
                  </a:txBody>
                  <a:tcPr anchor="ctr"/>
                </a:tc>
                <a:tc>
                  <a:txBody>
                    <a:bodyPr/>
                    <a:lstStyle/>
                    <a:p>
                      <a:pPr algn="ctr"/>
                      <a:r>
                        <a:rPr lang="en-US" dirty="0">
                          <a:effectLst/>
                        </a:rPr>
                        <a:t>13245</a:t>
                      </a:r>
                    </a:p>
                  </a:txBody>
                  <a:tcPr anchor="ctr"/>
                </a:tc>
              </a:tr>
              <a:tr h="370840">
                <a:tc>
                  <a:txBody>
                    <a:bodyPr/>
                    <a:lstStyle/>
                    <a:p>
                      <a:pPr algn="ctr"/>
                      <a:r>
                        <a:rPr lang="en-US" dirty="0">
                          <a:effectLst/>
                        </a:rPr>
                        <a:t>3</a:t>
                      </a:r>
                    </a:p>
                  </a:txBody>
                  <a:tcPr anchor="ctr"/>
                </a:tc>
                <a:tc>
                  <a:txBody>
                    <a:bodyPr/>
                    <a:lstStyle/>
                    <a:p>
                      <a:pPr algn="ctr"/>
                      <a:r>
                        <a:rPr lang="en-US">
                          <a:effectLst/>
                        </a:rPr>
                        <a:t>Rohit</a:t>
                      </a:r>
                    </a:p>
                  </a:txBody>
                  <a:tcPr anchor="ctr"/>
                </a:tc>
                <a:tc>
                  <a:txBody>
                    <a:bodyPr/>
                    <a:lstStyle/>
                    <a:p>
                      <a:pPr algn="ctr"/>
                      <a:r>
                        <a:rPr lang="en-US">
                          <a:effectLst/>
                        </a:rPr>
                        <a:t>56789</a:t>
                      </a:r>
                    </a:p>
                  </a:txBody>
                  <a:tcPr anchor="ctr"/>
                </a:tc>
              </a:tr>
              <a:tr h="370840">
                <a:tc>
                  <a:txBody>
                    <a:bodyPr/>
                    <a:lstStyle/>
                    <a:p>
                      <a:pPr algn="ctr"/>
                      <a:r>
                        <a:rPr lang="en-US" dirty="0">
                          <a:effectLst/>
                        </a:rPr>
                        <a:t>4</a:t>
                      </a:r>
                    </a:p>
                  </a:txBody>
                  <a:tcPr anchor="ctr"/>
                </a:tc>
                <a:tc>
                  <a:txBody>
                    <a:bodyPr/>
                    <a:lstStyle/>
                    <a:p>
                      <a:pPr algn="ctr"/>
                      <a:r>
                        <a:rPr lang="en-US">
                          <a:effectLst/>
                        </a:rPr>
                        <a:t>Amit</a:t>
                      </a:r>
                    </a:p>
                  </a:txBody>
                  <a:tcPr anchor="ctr"/>
                </a:tc>
                <a:tc>
                  <a:txBody>
                    <a:bodyPr/>
                    <a:lstStyle/>
                    <a:p>
                      <a:pPr algn="ctr"/>
                      <a:r>
                        <a:rPr lang="en-US" dirty="0">
                          <a:effectLst/>
                        </a:rPr>
                        <a:t>12345.</a:t>
                      </a:r>
                    </a:p>
                  </a:txBody>
                  <a:tcPr anchor="ctr"/>
                </a:tc>
              </a:tr>
            </a:tbl>
          </a:graphicData>
        </a:graphic>
      </p:graphicFrame>
      <p:sp>
        <p:nvSpPr>
          <p:cNvPr id="5" name="Rectangle 4"/>
          <p:cNvSpPr/>
          <p:nvPr/>
        </p:nvSpPr>
        <p:spPr>
          <a:xfrm>
            <a:off x="262597" y="2017491"/>
            <a:ext cx="6096000" cy="3046988"/>
          </a:xfrm>
          <a:prstGeom prst="rect">
            <a:avLst/>
          </a:prstGeom>
        </p:spPr>
        <p:txBody>
          <a:bodyPr>
            <a:spAutoFit/>
          </a:bodyPr>
          <a:lstStyle/>
          <a:p>
            <a:r>
              <a:rPr lang="en-US" sz="2400" b="1" dirty="0" smtClean="0"/>
              <a:t>Example 1</a:t>
            </a:r>
            <a:r>
              <a:rPr lang="en-US" sz="2400" dirty="0" smtClean="0"/>
              <a:t>: Write a TRC query to get all the data of customers whose zip code is 12345.</a:t>
            </a:r>
          </a:p>
          <a:p>
            <a:endParaRPr lang="en-US" sz="2400" dirty="0"/>
          </a:p>
          <a:p>
            <a:r>
              <a:rPr lang="en-US" sz="2400" dirty="0" smtClean="0"/>
              <a:t>TRC Query:</a:t>
            </a:r>
            <a:endParaRPr lang="en-US" sz="2400" dirty="0" smtClean="0"/>
          </a:p>
          <a:p>
            <a:endParaRPr lang="en-US" sz="2400" dirty="0"/>
          </a:p>
          <a:p>
            <a:endParaRPr lang="en-US" sz="2400" dirty="0" smtClean="0"/>
          </a:p>
          <a:p>
            <a:endParaRPr lang="en-US" sz="2400" dirty="0" smtClean="0"/>
          </a:p>
        </p:txBody>
      </p:sp>
      <p:sp>
        <p:nvSpPr>
          <p:cNvPr id="6" name="Rectangle 5"/>
          <p:cNvSpPr/>
          <p:nvPr/>
        </p:nvSpPr>
        <p:spPr>
          <a:xfrm>
            <a:off x="142020" y="4492522"/>
            <a:ext cx="11576368" cy="2985433"/>
          </a:xfrm>
          <a:prstGeom prst="rect">
            <a:avLst/>
          </a:prstGeom>
        </p:spPr>
        <p:txBody>
          <a:bodyPr wrap="square">
            <a:spAutoFit/>
          </a:bodyPr>
          <a:lstStyle/>
          <a:p>
            <a:r>
              <a:rPr lang="en-US" sz="3200" b="1" dirty="0" smtClean="0"/>
              <a:t>{t \| t ∈ Customer ∧ t.Zipcode = 12345} or TRC Query: {t \| Customer(t) ∧ t[</a:t>
            </a:r>
            <a:r>
              <a:rPr lang="en-US" sz="3200" b="1" dirty="0" err="1" smtClean="0"/>
              <a:t>Zipcode</a:t>
            </a:r>
            <a:r>
              <a:rPr lang="en-US" sz="3200" b="1" dirty="0" smtClean="0"/>
              <a:t>] = 12345 }</a:t>
            </a:r>
          </a:p>
          <a:p>
            <a:r>
              <a:rPr lang="en-US" sz="2000" b="1" dirty="0" smtClean="0"/>
              <a:t>Workflow of query</a:t>
            </a:r>
            <a:r>
              <a:rPr lang="en-US" sz="2000" dirty="0" smtClean="0"/>
              <a:t> - The tuple variable "t" will go through every tuple of the Customer table. Each row will check whether the </a:t>
            </a:r>
            <a:r>
              <a:rPr lang="en-US" sz="2000" dirty="0" err="1" smtClean="0"/>
              <a:t>Cust_Zipcode</a:t>
            </a:r>
            <a:r>
              <a:rPr lang="en-US" sz="2000" dirty="0" smtClean="0"/>
              <a:t> is 12345 or not and only return those rows that satisfies the Predicate expression condition.</a:t>
            </a:r>
            <a:endParaRPr lang="en-US" sz="2000" b="1" dirty="0"/>
          </a:p>
          <a:p>
            <a:endParaRPr lang="en-US" sz="3200" b="1" dirty="0" smtClean="0"/>
          </a:p>
          <a:p>
            <a:endParaRPr lang="en-US" sz="3200" b="1" dirty="0"/>
          </a:p>
        </p:txBody>
      </p:sp>
    </p:spTree>
    <p:extLst>
      <p:ext uri="{BB962C8B-B14F-4D97-AF65-F5344CB8AC3E}">
        <p14:creationId xmlns:p14="http://schemas.microsoft.com/office/powerpoint/2010/main" val="3861213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1103312" y="2052918"/>
            <a:ext cx="10033261" cy="4195481"/>
          </a:xfrm>
        </p:spPr>
        <p:txBody>
          <a:bodyPr>
            <a:normAutofit/>
          </a:bodyPr>
          <a:lstStyle/>
          <a:p>
            <a:r>
              <a:rPr lang="en-US" sz="2400" dirty="0"/>
              <a:t>The TRC expression above can be read as </a:t>
            </a:r>
            <a:r>
              <a:rPr lang="en-US" sz="2400" b="1" dirty="0"/>
              <a:t>"Return all the tuple which belongs to the Customer Table and whose </a:t>
            </a:r>
            <a:r>
              <a:rPr lang="en-US" sz="2400" b="1" dirty="0" err="1"/>
              <a:t>Zipcode</a:t>
            </a:r>
            <a:r>
              <a:rPr lang="en-US" sz="2400" b="1" dirty="0"/>
              <a:t> is equal to 12345</a:t>
            </a:r>
            <a:r>
              <a:rPr lang="en-US" sz="2400" b="1" dirty="0" smtClean="0"/>
              <a:t>.“</a:t>
            </a:r>
          </a:p>
          <a:p>
            <a:r>
              <a:rPr lang="en-US" sz="2400" b="1" dirty="0"/>
              <a:t>{t \| t ∈ Customer ∧ t.Zipcode = 12345}</a:t>
            </a:r>
            <a:r>
              <a:rPr lang="en-US" sz="2400" dirty="0"/>
              <a:t> </a:t>
            </a:r>
            <a:r>
              <a:rPr lang="en-US" sz="2400" b="1" dirty="0"/>
              <a:t>or</a:t>
            </a:r>
            <a:r>
              <a:rPr lang="en-US" sz="2400" dirty="0"/>
              <a:t> </a:t>
            </a:r>
            <a:r>
              <a:rPr lang="en-US" sz="2400" b="1" dirty="0"/>
              <a:t>TRC Query:</a:t>
            </a:r>
            <a:r>
              <a:rPr lang="en-US" sz="2400" dirty="0"/>
              <a:t> </a:t>
            </a:r>
            <a:r>
              <a:rPr lang="en-US" sz="2400" b="1" dirty="0"/>
              <a:t>{t \| Customer(t) ∧ t[</a:t>
            </a:r>
            <a:r>
              <a:rPr lang="en-US" sz="2400" b="1" dirty="0" err="1"/>
              <a:t>Zipcode</a:t>
            </a:r>
            <a:r>
              <a:rPr lang="en-US" sz="2400" b="1" dirty="0"/>
              <a:t>] = 12345 </a:t>
            </a:r>
            <a:r>
              <a:rPr lang="en-US" sz="2400" b="1" dirty="0" smtClean="0"/>
              <a:t>}</a:t>
            </a:r>
          </a:p>
          <a:p>
            <a:endParaRPr lang="en-US" sz="2400" dirty="0"/>
          </a:p>
          <a:p>
            <a:r>
              <a:rPr lang="en-US" sz="2400" b="1" dirty="0"/>
              <a:t>Result of the TRC expression above:</a:t>
            </a:r>
            <a:endParaRPr lang="en-US" sz="2400" dirty="0"/>
          </a:p>
          <a:p>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1065539852"/>
              </p:ext>
            </p:extLst>
          </p:nvPr>
        </p:nvGraphicFramePr>
        <p:xfrm>
          <a:off x="1267726" y="5005063"/>
          <a:ext cx="8127999" cy="137160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pPr algn="ctr"/>
                      <a:r>
                        <a:rPr lang="en-US" sz="2400" dirty="0" err="1">
                          <a:effectLst/>
                        </a:rPr>
                        <a:t>Customer_id</a:t>
                      </a:r>
                      <a:endParaRPr lang="en-US" sz="2400" dirty="0">
                        <a:effectLst/>
                      </a:endParaRPr>
                    </a:p>
                  </a:txBody>
                  <a:tcPr anchor="ctr"/>
                </a:tc>
                <a:tc>
                  <a:txBody>
                    <a:bodyPr/>
                    <a:lstStyle/>
                    <a:p>
                      <a:pPr algn="ctr"/>
                      <a:r>
                        <a:rPr lang="en-US" sz="2400">
                          <a:effectLst/>
                        </a:rPr>
                        <a:t>Name</a:t>
                      </a:r>
                    </a:p>
                  </a:txBody>
                  <a:tcPr anchor="ctr"/>
                </a:tc>
                <a:tc>
                  <a:txBody>
                    <a:bodyPr/>
                    <a:lstStyle/>
                    <a:p>
                      <a:pPr algn="ctr"/>
                      <a:r>
                        <a:rPr lang="en-US" sz="2400">
                          <a:effectLst/>
                        </a:rPr>
                        <a:t>Zip code</a:t>
                      </a:r>
                    </a:p>
                  </a:txBody>
                  <a:tcPr anchor="ctr"/>
                </a:tc>
              </a:tr>
              <a:tr h="370840">
                <a:tc>
                  <a:txBody>
                    <a:bodyPr/>
                    <a:lstStyle/>
                    <a:p>
                      <a:pPr algn="ctr"/>
                      <a:r>
                        <a:rPr lang="en-US" sz="2400">
                          <a:effectLst/>
                        </a:rPr>
                        <a:t>1</a:t>
                      </a:r>
                    </a:p>
                  </a:txBody>
                  <a:tcPr anchor="ctr"/>
                </a:tc>
                <a:tc>
                  <a:txBody>
                    <a:bodyPr/>
                    <a:lstStyle/>
                    <a:p>
                      <a:pPr algn="ctr"/>
                      <a:r>
                        <a:rPr lang="en-US" sz="2400">
                          <a:effectLst/>
                        </a:rPr>
                        <a:t>Rohit</a:t>
                      </a:r>
                    </a:p>
                  </a:txBody>
                  <a:tcPr anchor="ctr"/>
                </a:tc>
                <a:tc>
                  <a:txBody>
                    <a:bodyPr/>
                    <a:lstStyle/>
                    <a:p>
                      <a:pPr algn="ctr"/>
                      <a:r>
                        <a:rPr lang="en-US" sz="2400">
                          <a:effectLst/>
                        </a:rPr>
                        <a:t>12345</a:t>
                      </a:r>
                    </a:p>
                  </a:txBody>
                  <a:tcPr anchor="ctr"/>
                </a:tc>
              </a:tr>
              <a:tr h="370840">
                <a:tc>
                  <a:txBody>
                    <a:bodyPr/>
                    <a:lstStyle/>
                    <a:p>
                      <a:pPr algn="ctr"/>
                      <a:r>
                        <a:rPr lang="en-US" sz="2400" dirty="0">
                          <a:effectLst/>
                        </a:rPr>
                        <a:t>4.</a:t>
                      </a:r>
                    </a:p>
                  </a:txBody>
                  <a:tcPr anchor="ctr"/>
                </a:tc>
                <a:tc>
                  <a:txBody>
                    <a:bodyPr/>
                    <a:lstStyle/>
                    <a:p>
                      <a:pPr algn="ctr"/>
                      <a:r>
                        <a:rPr lang="en-US" sz="2400">
                          <a:effectLst/>
                        </a:rPr>
                        <a:t>Amit</a:t>
                      </a:r>
                    </a:p>
                  </a:txBody>
                  <a:tcPr anchor="ctr"/>
                </a:tc>
                <a:tc>
                  <a:txBody>
                    <a:bodyPr/>
                    <a:lstStyle/>
                    <a:p>
                      <a:pPr algn="ctr"/>
                      <a:r>
                        <a:rPr lang="en-US" sz="2400" dirty="0">
                          <a:effectLst/>
                        </a:rPr>
                        <a:t>12345</a:t>
                      </a:r>
                    </a:p>
                  </a:txBody>
                  <a:tcPr anchor="ctr"/>
                </a:tc>
              </a:tr>
            </a:tbl>
          </a:graphicData>
        </a:graphic>
      </p:graphicFrame>
    </p:spTree>
    <p:extLst>
      <p:ext uri="{BB962C8B-B14F-4D97-AF65-F5344CB8AC3E}">
        <p14:creationId xmlns:p14="http://schemas.microsoft.com/office/powerpoint/2010/main" val="123665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520957"/>
            <a:ext cx="9404723" cy="1400530"/>
          </a:xfrm>
        </p:spPr>
        <p:txBody>
          <a:bodyPr/>
          <a:lstStyle/>
          <a:p>
            <a:r>
              <a:rPr lang="en-US" sz="4000" b="1" dirty="0"/>
              <a:t>Example 2</a:t>
            </a:r>
            <a:r>
              <a:rPr lang="en-US" sz="4000" dirty="0"/>
              <a:t>: Write a TRC query to get the customer id of all the Customers.</a:t>
            </a:r>
            <a:br>
              <a:rPr lang="en-US" sz="4000" dirty="0"/>
            </a:br>
            <a:endParaRPr lang="en-US" sz="4000" dirty="0"/>
          </a:p>
        </p:txBody>
      </p:sp>
      <p:sp>
        <p:nvSpPr>
          <p:cNvPr id="3" name="Content Placeholder 2"/>
          <p:cNvSpPr>
            <a:spLocks noGrp="1"/>
          </p:cNvSpPr>
          <p:nvPr>
            <p:ph idx="1"/>
          </p:nvPr>
        </p:nvSpPr>
        <p:spPr>
          <a:xfrm>
            <a:off x="1103312" y="2052918"/>
            <a:ext cx="10920366" cy="4195481"/>
          </a:xfrm>
        </p:spPr>
        <p:txBody>
          <a:bodyPr>
            <a:normAutofit fontScale="92500"/>
          </a:bodyPr>
          <a:lstStyle/>
          <a:p>
            <a:r>
              <a:rPr lang="en-US" sz="2400" b="1" dirty="0" smtClean="0"/>
              <a:t>TRC </a:t>
            </a:r>
            <a:r>
              <a:rPr lang="en-US" sz="2400" b="1" dirty="0"/>
              <a:t>query:</a:t>
            </a:r>
            <a:r>
              <a:rPr lang="en-US" sz="2400" dirty="0"/>
              <a:t> </a:t>
            </a:r>
            <a:r>
              <a:rPr lang="en-US" sz="2400" b="1" dirty="0"/>
              <a:t>{ t \| ∃s (s ∈ Customer ∧ </a:t>
            </a:r>
            <a:r>
              <a:rPr lang="en-US" sz="2400" b="1" dirty="0" err="1"/>
              <a:t>s.Customer_id</a:t>
            </a:r>
            <a:r>
              <a:rPr lang="en-US" sz="2400" b="1" dirty="0"/>
              <a:t> = </a:t>
            </a:r>
            <a:r>
              <a:rPr lang="en-US" sz="2400" b="1" dirty="0" err="1"/>
              <a:t>t.customer_id</a:t>
            </a:r>
            <a:r>
              <a:rPr lang="en-US" sz="2400" b="1" dirty="0"/>
              <a:t>) }</a:t>
            </a:r>
            <a:endParaRPr lang="en-US" sz="2400" dirty="0"/>
          </a:p>
          <a:p>
            <a:endParaRPr lang="en-US" b="1" dirty="0" smtClean="0"/>
          </a:p>
          <a:p>
            <a:r>
              <a:rPr lang="en-US" b="1" dirty="0" smtClean="0"/>
              <a:t>Result </a:t>
            </a:r>
            <a:r>
              <a:rPr lang="en-US" b="1" dirty="0"/>
              <a:t>of the TRC Query:</a:t>
            </a:r>
            <a:endParaRPr lang="en-US" dirty="0"/>
          </a:p>
          <a:p>
            <a:endParaRPr lang="en-US" dirty="0" smtClean="0"/>
          </a:p>
          <a:p>
            <a:endParaRPr lang="en-US" dirty="0"/>
          </a:p>
          <a:p>
            <a:endParaRPr lang="en-US" dirty="0" smtClean="0"/>
          </a:p>
          <a:p>
            <a:endParaRPr lang="en-US" dirty="0"/>
          </a:p>
          <a:p>
            <a:endParaRPr lang="en-US" sz="2400" dirty="0" smtClean="0"/>
          </a:p>
          <a:p>
            <a:r>
              <a:rPr lang="en-US" sz="2400" dirty="0"/>
              <a:t>TRC can also be used to perform more complex queries, such as joins and nested queries, by using additional logical operators and expressions.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229476715"/>
              </p:ext>
            </p:extLst>
          </p:nvPr>
        </p:nvGraphicFramePr>
        <p:xfrm>
          <a:off x="1555845" y="3236119"/>
          <a:ext cx="2511188" cy="1828800"/>
        </p:xfrm>
        <a:graphic>
          <a:graphicData uri="http://schemas.openxmlformats.org/drawingml/2006/table">
            <a:tbl>
              <a:tblPr>
                <a:tableStyleId>{69C7853C-536D-4A76-A0AE-DD22124D55A5}</a:tableStyleId>
              </a:tblPr>
              <a:tblGrid>
                <a:gridCol w="2511188"/>
              </a:tblGrid>
              <a:tr h="0">
                <a:tc>
                  <a:txBody>
                    <a:bodyPr/>
                    <a:lstStyle/>
                    <a:p>
                      <a:pPr algn="ctr"/>
                      <a:r>
                        <a:rPr lang="en-US">
                          <a:effectLst/>
                        </a:rPr>
                        <a:t>Customer_id</a:t>
                      </a:r>
                    </a:p>
                  </a:txBody>
                  <a:tcPr anchor="ctr"/>
                </a:tc>
              </a:tr>
              <a:tr h="0">
                <a:tc>
                  <a:txBody>
                    <a:bodyPr/>
                    <a:lstStyle/>
                    <a:p>
                      <a:pPr algn="ctr"/>
                      <a:r>
                        <a:rPr lang="en-US">
                          <a:effectLst/>
                        </a:rPr>
                        <a:t>1</a:t>
                      </a:r>
                    </a:p>
                  </a:txBody>
                  <a:tcPr anchor="ctr"/>
                </a:tc>
              </a:tr>
              <a:tr h="0">
                <a:tc>
                  <a:txBody>
                    <a:bodyPr/>
                    <a:lstStyle/>
                    <a:p>
                      <a:pPr algn="ctr"/>
                      <a:r>
                        <a:rPr lang="en-US">
                          <a:effectLst/>
                        </a:rPr>
                        <a:t>2</a:t>
                      </a:r>
                    </a:p>
                  </a:txBody>
                  <a:tcPr anchor="ctr"/>
                </a:tc>
              </a:tr>
              <a:tr h="0">
                <a:tc>
                  <a:txBody>
                    <a:bodyPr/>
                    <a:lstStyle/>
                    <a:p>
                      <a:pPr algn="ctr"/>
                      <a:r>
                        <a:rPr lang="en-US">
                          <a:effectLst/>
                        </a:rPr>
                        <a:t>3</a:t>
                      </a:r>
                    </a:p>
                  </a:txBody>
                  <a:tcPr anchor="ctr"/>
                </a:tc>
              </a:tr>
              <a:tr h="0">
                <a:tc>
                  <a:txBody>
                    <a:bodyPr/>
                    <a:lstStyle/>
                    <a:p>
                      <a:pPr algn="ctr"/>
                      <a:r>
                        <a:rPr lang="en-US" dirty="0">
                          <a:effectLst/>
                        </a:rPr>
                        <a:t>4</a:t>
                      </a:r>
                    </a:p>
                  </a:txBody>
                  <a:tcPr anchor="ctr"/>
                </a:tc>
              </a:tr>
            </a:tbl>
          </a:graphicData>
        </a:graphic>
      </p:graphicFrame>
    </p:spTree>
    <p:extLst>
      <p:ext uri="{BB962C8B-B14F-4D97-AF65-F5344CB8AC3E}">
        <p14:creationId xmlns:p14="http://schemas.microsoft.com/office/powerpoint/2010/main" val="2157377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2421074"/>
              </p:ext>
            </p:extLst>
          </p:nvPr>
        </p:nvGraphicFramePr>
        <p:xfrm>
          <a:off x="9023424" y="718002"/>
          <a:ext cx="2047850" cy="1463040"/>
        </p:xfrm>
        <a:graphic>
          <a:graphicData uri="http://schemas.openxmlformats.org/drawingml/2006/table">
            <a:tbl>
              <a:tblPr>
                <a:tableStyleId>{69C7853C-536D-4A76-A0AE-DD22124D55A5}</a:tableStyleId>
              </a:tblPr>
              <a:tblGrid>
                <a:gridCol w="2047850"/>
              </a:tblGrid>
              <a:tr h="0">
                <a:tc>
                  <a:txBody>
                    <a:bodyPr/>
                    <a:lstStyle/>
                    <a:p>
                      <a:r>
                        <a:rPr lang="en-US" dirty="0"/>
                        <a:t>Employee ID</a:t>
                      </a:r>
                    </a:p>
                  </a:txBody>
                  <a:tcPr anchor="ctr"/>
                </a:tc>
              </a:tr>
              <a:tr h="0">
                <a:tc>
                  <a:txBody>
                    <a:bodyPr/>
                    <a:lstStyle/>
                    <a:p>
                      <a:r>
                        <a:rPr lang="en-US" dirty="0"/>
                        <a:t>Name</a:t>
                      </a:r>
                    </a:p>
                  </a:txBody>
                  <a:tcPr anchor="ctr"/>
                </a:tc>
              </a:tr>
              <a:tr h="0">
                <a:tc>
                  <a:txBody>
                    <a:bodyPr/>
                    <a:lstStyle/>
                    <a:p>
                      <a:r>
                        <a:rPr lang="en-US"/>
                        <a:t>Salary</a:t>
                      </a:r>
                    </a:p>
                  </a:txBody>
                  <a:tcPr anchor="ctr"/>
                </a:tc>
              </a:tr>
              <a:tr h="0">
                <a:tc>
                  <a:txBody>
                    <a:bodyPr/>
                    <a:lstStyle/>
                    <a:p>
                      <a:r>
                        <a:rPr lang="en-US" dirty="0"/>
                        <a:t>Department ID</a:t>
                      </a:r>
                    </a:p>
                  </a:txBody>
                  <a:tcPr anchor="ctr"/>
                </a:tc>
              </a:tr>
            </a:tbl>
          </a:graphicData>
        </a:graphic>
      </p:graphicFrame>
      <p:sp>
        <p:nvSpPr>
          <p:cNvPr id="5" name="Rectangle 1"/>
          <p:cNvSpPr>
            <a:spLocks noGrp="1" noChangeArrowheads="1"/>
          </p:cNvSpPr>
          <p:nvPr>
            <p:ph type="title"/>
          </p:nvPr>
        </p:nvSpPr>
        <p:spPr bwMode="auto">
          <a:xfrm>
            <a:off x="182113" y="384801"/>
            <a:ext cx="824033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Arial" panose="020B0604020202020204" pitchFamily="34" charset="0"/>
              </a:rPr>
              <a:t> example3:- </a:t>
            </a:r>
            <a:br>
              <a:rPr kumimoji="0" lang="en-US" sz="3200" b="0" i="0" u="none" strike="noStrike" cap="none" normalizeH="0" baseline="0" dirty="0" smtClean="0">
                <a:ln>
                  <a:noFill/>
                </a:ln>
                <a:solidFill>
                  <a:schemeClr val="tx1"/>
                </a:solidFill>
                <a:effectLst/>
                <a:latin typeface="Arial" panose="020B0604020202020204" pitchFamily="34" charset="0"/>
              </a:rPr>
            </a:br>
            <a:r>
              <a:rPr kumimoji="0" lang="en-US" sz="3200" b="0" i="0" u="none" strike="noStrike" cap="none" normalizeH="0" baseline="0" dirty="0" smtClean="0">
                <a:ln>
                  <a:noFill/>
                </a:ln>
                <a:solidFill>
                  <a:schemeClr val="tx1"/>
                </a:solidFill>
                <a:effectLst/>
                <a:latin typeface="Arial" panose="020B0604020202020204" pitchFamily="34" charset="0"/>
              </a:rPr>
              <a:t>let’s say we have a table called “Employees”</a:t>
            </a:r>
            <a:br>
              <a:rPr kumimoji="0" lang="en-US" sz="3200" b="0" i="0" u="none" strike="noStrike" cap="none" normalizeH="0" baseline="0" dirty="0" smtClean="0">
                <a:ln>
                  <a:noFill/>
                </a:ln>
                <a:solidFill>
                  <a:schemeClr val="tx1"/>
                </a:solidFill>
                <a:effectLst/>
                <a:latin typeface="Arial" panose="020B0604020202020204" pitchFamily="34" charset="0"/>
              </a:rPr>
            </a:br>
            <a:r>
              <a:rPr kumimoji="0" lang="en-US" sz="3200" b="0" i="0" u="none" strike="noStrike" cap="none" normalizeH="0" baseline="0" dirty="0" smtClean="0">
                <a:ln>
                  <a:noFill/>
                </a:ln>
                <a:solidFill>
                  <a:schemeClr val="tx1"/>
                </a:solidFill>
                <a:effectLst/>
                <a:latin typeface="Arial" panose="020B0604020202020204" pitchFamily="34" charset="0"/>
              </a:rPr>
              <a:t> with the following </a:t>
            </a:r>
            <a:r>
              <a:rPr kumimoji="0" lang="en-US" sz="3200" b="0" i="0" u="none" strike="noStrike" cap="none" normalizeH="0" baseline="0" dirty="0" smtClean="0">
                <a:ln>
                  <a:noFill/>
                </a:ln>
                <a:solidFill>
                  <a:schemeClr val="tx1"/>
                </a:solidFill>
                <a:effectLst/>
                <a:latin typeface="Arial" panose="020B0604020202020204" pitchFamily="34" charset="0"/>
                <a:hlinkClick r:id="rId2"/>
              </a:rPr>
              <a:t>attributes</a:t>
            </a:r>
            <a:r>
              <a:rPr kumimoji="0" lang="en-US" sz="3200" b="0" i="0" u="none" strike="noStrike" cap="none" normalizeH="0" baseline="0" dirty="0" smtClean="0">
                <a:ln>
                  <a:noFill/>
                </a:ln>
                <a:solidFill>
                  <a:schemeClr val="tx1"/>
                </a:solidFill>
                <a:effectLst/>
                <a:latin typeface="Arial" panose="020B0604020202020204" pitchFamily="34" charset="0"/>
              </a:rPr>
              <a:t>:</a:t>
            </a:r>
          </a:p>
        </p:txBody>
      </p:sp>
      <p:sp>
        <p:nvSpPr>
          <p:cNvPr id="6" name="Rectangle 5"/>
          <p:cNvSpPr/>
          <p:nvPr/>
        </p:nvSpPr>
        <p:spPr>
          <a:xfrm>
            <a:off x="182113" y="2333685"/>
            <a:ext cx="11554265" cy="4278094"/>
          </a:xfrm>
          <a:prstGeom prst="rect">
            <a:avLst/>
          </a:prstGeom>
        </p:spPr>
        <p:txBody>
          <a:bodyPr wrap="square">
            <a:spAutoFit/>
          </a:bodyPr>
          <a:lstStyle/>
          <a:p>
            <a:r>
              <a:rPr lang="en-US" sz="2400" dirty="0" smtClean="0"/>
              <a:t>To retrieve the names of all employees who earn more than $50,000 per year, we can use the following TRC query:</a:t>
            </a:r>
          </a:p>
          <a:p>
            <a:r>
              <a:rPr lang="en-US" sz="3200" b="1" dirty="0" smtClean="0">
                <a:effectLst/>
              </a:rPr>
              <a:t>{ t | Employees(t) ∧ </a:t>
            </a:r>
            <a:r>
              <a:rPr lang="en-US" sz="3200" b="1" dirty="0" err="1" smtClean="0">
                <a:effectLst/>
              </a:rPr>
              <a:t>t.Salary</a:t>
            </a:r>
            <a:r>
              <a:rPr lang="en-US" sz="3200" b="1" dirty="0" smtClean="0">
                <a:effectLst/>
              </a:rPr>
              <a:t> &gt; 50000 }</a:t>
            </a:r>
          </a:p>
          <a:p>
            <a:endParaRPr lang="en-US" sz="2400" dirty="0" smtClean="0">
              <a:effectLst/>
            </a:endParaRPr>
          </a:p>
          <a:p>
            <a:r>
              <a:rPr lang="en-US" sz="2400" dirty="0" smtClean="0">
                <a:effectLst/>
              </a:rPr>
              <a:t>In this query, the “Employees(t)” expression specifies that the tuple variable t represents a row in the “Employees” table. The “∧” symbol is the logical AND operator, which is used to combine the condition “</a:t>
            </a:r>
            <a:r>
              <a:rPr lang="en-US" sz="2400" dirty="0" err="1" smtClean="0">
                <a:effectLst/>
              </a:rPr>
              <a:t>t.Salary</a:t>
            </a:r>
            <a:r>
              <a:rPr lang="en-US" sz="2400" dirty="0" smtClean="0">
                <a:effectLst/>
              </a:rPr>
              <a:t> &gt; 50000” with the table selection.</a:t>
            </a:r>
          </a:p>
          <a:p>
            <a:r>
              <a:rPr lang="en-US" sz="2400" dirty="0" smtClean="0">
                <a:effectLst/>
              </a:rPr>
              <a:t>The result of this query will be a set of tuples, where each tuple contains the Name attribute of an employee who earns more than $50,000 per year.</a:t>
            </a:r>
          </a:p>
          <a:p>
            <a:endParaRPr lang="en-US" sz="2400" dirty="0"/>
          </a:p>
        </p:txBody>
      </p:sp>
    </p:spTree>
    <p:extLst>
      <p:ext uri="{BB962C8B-B14F-4D97-AF65-F5344CB8AC3E}">
        <p14:creationId xmlns:p14="http://schemas.microsoft.com/office/powerpoint/2010/main" val="680068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Domain Relational Calculus (DRC)</a:t>
            </a:r>
            <a:br>
              <a:rPr lang="en-US" b="1" dirty="0"/>
            </a:br>
            <a:endParaRPr lang="en-US" dirty="0"/>
          </a:p>
        </p:txBody>
      </p:sp>
      <p:sp>
        <p:nvSpPr>
          <p:cNvPr id="3" name="Content Placeholder 2"/>
          <p:cNvSpPr>
            <a:spLocks noGrp="1"/>
          </p:cNvSpPr>
          <p:nvPr>
            <p:ph idx="1"/>
          </p:nvPr>
        </p:nvSpPr>
        <p:spPr>
          <a:xfrm>
            <a:off x="1103312" y="2052918"/>
            <a:ext cx="10702001" cy="4195481"/>
          </a:xfrm>
        </p:spPr>
        <p:txBody>
          <a:bodyPr/>
          <a:lstStyle/>
          <a:p>
            <a:r>
              <a:rPr lang="en-US" sz="2800" b="1" dirty="0" smtClean="0">
                <a:hlinkClick r:id="rId2"/>
              </a:rPr>
              <a:t>Domain </a:t>
            </a:r>
            <a:r>
              <a:rPr lang="en-US" sz="2800" b="1" dirty="0">
                <a:hlinkClick r:id="rId2"/>
              </a:rPr>
              <a:t>Relational Calculus</a:t>
            </a:r>
            <a:r>
              <a:rPr lang="en-US" sz="2800" b="1" dirty="0"/>
              <a:t> </a:t>
            </a:r>
            <a:r>
              <a:rPr lang="en-US" sz="2800" dirty="0"/>
              <a:t>is similar to Tuple Relational Calculus, where it makes a list of the attributes that are to be chosen from the relations as per the conditions.</a:t>
            </a:r>
          </a:p>
          <a:p>
            <a:r>
              <a:rPr lang="en-US" sz="3200" b="1" dirty="0"/>
              <a:t>{&lt;a1,a2,a3,.....an&gt; | </a:t>
            </a:r>
            <a:r>
              <a:rPr lang="en-US" sz="3200" b="1" dirty="0" smtClean="0"/>
              <a:t>P(a1,a2,a3</a:t>
            </a:r>
            <a:r>
              <a:rPr lang="en-US" sz="3200" b="1" dirty="0"/>
              <a:t>,.....an</a:t>
            </a:r>
            <a:r>
              <a:rPr lang="en-US" sz="3200" b="1" dirty="0" smtClean="0"/>
              <a:t>)}</a:t>
            </a:r>
          </a:p>
          <a:p>
            <a:r>
              <a:rPr lang="en-US" sz="3200" dirty="0"/>
              <a:t>where a1,a2,…an are the attributes of the relation and P is the condition.</a:t>
            </a:r>
            <a:endParaRPr lang="en-US" sz="3200" b="1" dirty="0"/>
          </a:p>
        </p:txBody>
      </p:sp>
    </p:spTree>
    <p:extLst>
      <p:ext uri="{BB962C8B-B14F-4D97-AF65-F5344CB8AC3E}">
        <p14:creationId xmlns:p14="http://schemas.microsoft.com/office/powerpoint/2010/main" val="1131882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Let's take the example of Customer Database and try to understand DRC queries with some examples.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2600073"/>
              </p:ext>
            </p:extLst>
          </p:nvPr>
        </p:nvGraphicFramePr>
        <p:xfrm>
          <a:off x="775767" y="1853248"/>
          <a:ext cx="4410384" cy="1828800"/>
        </p:xfrm>
        <a:graphic>
          <a:graphicData uri="http://schemas.openxmlformats.org/drawingml/2006/table">
            <a:tbl>
              <a:tblPr>
                <a:tableStyleId>{69C7853C-536D-4A76-A0AE-DD22124D55A5}</a:tableStyleId>
              </a:tblPr>
              <a:tblGrid>
                <a:gridCol w="1470128"/>
                <a:gridCol w="1470128"/>
                <a:gridCol w="1470128"/>
              </a:tblGrid>
              <a:tr h="0">
                <a:tc>
                  <a:txBody>
                    <a:bodyPr/>
                    <a:lstStyle/>
                    <a:p>
                      <a:pPr algn="ctr"/>
                      <a:r>
                        <a:rPr lang="en-US" sz="1600" dirty="0" err="1">
                          <a:effectLst/>
                        </a:rPr>
                        <a:t>Customer_id</a:t>
                      </a:r>
                      <a:endParaRPr lang="en-US" dirty="0">
                        <a:effectLst/>
                      </a:endParaRPr>
                    </a:p>
                  </a:txBody>
                  <a:tcPr anchor="ctr"/>
                </a:tc>
                <a:tc>
                  <a:txBody>
                    <a:bodyPr/>
                    <a:lstStyle/>
                    <a:p>
                      <a:pPr algn="ctr"/>
                      <a:r>
                        <a:rPr lang="en-US">
                          <a:effectLst/>
                        </a:rPr>
                        <a:t>Name</a:t>
                      </a:r>
                    </a:p>
                  </a:txBody>
                  <a:tcPr anchor="ctr"/>
                </a:tc>
                <a:tc>
                  <a:txBody>
                    <a:bodyPr/>
                    <a:lstStyle/>
                    <a:p>
                      <a:pPr algn="ctr"/>
                      <a:r>
                        <a:rPr lang="en-US">
                          <a:effectLst/>
                        </a:rPr>
                        <a:t>Zip code</a:t>
                      </a:r>
                    </a:p>
                  </a:txBody>
                  <a:tcPr anchor="ctr"/>
                </a:tc>
              </a:tr>
              <a:tr h="0">
                <a:tc>
                  <a:txBody>
                    <a:bodyPr/>
                    <a:lstStyle/>
                    <a:p>
                      <a:pPr algn="ctr"/>
                      <a:r>
                        <a:rPr lang="en-US">
                          <a:effectLst/>
                        </a:rPr>
                        <a:t>1</a:t>
                      </a:r>
                    </a:p>
                  </a:txBody>
                  <a:tcPr anchor="ctr"/>
                </a:tc>
                <a:tc>
                  <a:txBody>
                    <a:bodyPr/>
                    <a:lstStyle/>
                    <a:p>
                      <a:pPr algn="ctr"/>
                      <a:r>
                        <a:rPr lang="en-US">
                          <a:effectLst/>
                        </a:rPr>
                        <a:t>Rohit</a:t>
                      </a:r>
                    </a:p>
                  </a:txBody>
                  <a:tcPr anchor="ctr"/>
                </a:tc>
                <a:tc>
                  <a:txBody>
                    <a:bodyPr/>
                    <a:lstStyle/>
                    <a:p>
                      <a:pPr algn="ctr"/>
                      <a:r>
                        <a:rPr lang="en-US">
                          <a:effectLst/>
                        </a:rPr>
                        <a:t>12345</a:t>
                      </a:r>
                    </a:p>
                  </a:txBody>
                  <a:tcPr anchor="ctr"/>
                </a:tc>
              </a:tr>
              <a:tr h="0">
                <a:tc>
                  <a:txBody>
                    <a:bodyPr/>
                    <a:lstStyle/>
                    <a:p>
                      <a:pPr algn="ctr"/>
                      <a:r>
                        <a:rPr lang="en-US">
                          <a:effectLst/>
                        </a:rPr>
                        <a:t>2</a:t>
                      </a:r>
                    </a:p>
                  </a:txBody>
                  <a:tcPr anchor="ctr"/>
                </a:tc>
                <a:tc>
                  <a:txBody>
                    <a:bodyPr/>
                    <a:lstStyle/>
                    <a:p>
                      <a:pPr algn="ctr"/>
                      <a:r>
                        <a:rPr lang="en-US" dirty="0">
                          <a:effectLst/>
                        </a:rPr>
                        <a:t>Rahul</a:t>
                      </a:r>
                    </a:p>
                  </a:txBody>
                  <a:tcPr anchor="ctr"/>
                </a:tc>
                <a:tc>
                  <a:txBody>
                    <a:bodyPr/>
                    <a:lstStyle/>
                    <a:p>
                      <a:pPr algn="ctr"/>
                      <a:r>
                        <a:rPr lang="en-US">
                          <a:effectLst/>
                        </a:rPr>
                        <a:t>13245</a:t>
                      </a:r>
                    </a:p>
                  </a:txBody>
                  <a:tcPr anchor="ctr"/>
                </a:tc>
              </a:tr>
              <a:tr h="0">
                <a:tc>
                  <a:txBody>
                    <a:bodyPr/>
                    <a:lstStyle/>
                    <a:p>
                      <a:pPr algn="ctr"/>
                      <a:r>
                        <a:rPr lang="en-US">
                          <a:effectLst/>
                        </a:rPr>
                        <a:t>3</a:t>
                      </a:r>
                    </a:p>
                  </a:txBody>
                  <a:tcPr anchor="ctr"/>
                </a:tc>
                <a:tc>
                  <a:txBody>
                    <a:bodyPr/>
                    <a:lstStyle/>
                    <a:p>
                      <a:pPr algn="ctr"/>
                      <a:r>
                        <a:rPr lang="en-US">
                          <a:effectLst/>
                        </a:rPr>
                        <a:t>Rohit</a:t>
                      </a:r>
                    </a:p>
                  </a:txBody>
                  <a:tcPr anchor="ctr"/>
                </a:tc>
                <a:tc>
                  <a:txBody>
                    <a:bodyPr/>
                    <a:lstStyle/>
                    <a:p>
                      <a:pPr algn="ctr"/>
                      <a:r>
                        <a:rPr lang="en-US">
                          <a:effectLst/>
                        </a:rPr>
                        <a:t>56789</a:t>
                      </a:r>
                    </a:p>
                  </a:txBody>
                  <a:tcPr anchor="ctr"/>
                </a:tc>
              </a:tr>
              <a:tr h="0">
                <a:tc>
                  <a:txBody>
                    <a:bodyPr/>
                    <a:lstStyle/>
                    <a:p>
                      <a:pPr algn="ctr"/>
                      <a:r>
                        <a:rPr lang="en-US">
                          <a:effectLst/>
                        </a:rPr>
                        <a:t>4</a:t>
                      </a:r>
                    </a:p>
                  </a:txBody>
                  <a:tcPr anchor="ctr"/>
                </a:tc>
                <a:tc>
                  <a:txBody>
                    <a:bodyPr/>
                    <a:lstStyle/>
                    <a:p>
                      <a:pPr algn="ctr"/>
                      <a:r>
                        <a:rPr lang="en-US">
                          <a:effectLst/>
                        </a:rPr>
                        <a:t>Amit</a:t>
                      </a:r>
                    </a:p>
                  </a:txBody>
                  <a:tcPr anchor="ctr"/>
                </a:tc>
                <a:tc>
                  <a:txBody>
                    <a:bodyPr/>
                    <a:lstStyle/>
                    <a:p>
                      <a:pPr algn="ctr"/>
                      <a:r>
                        <a:rPr lang="en-US" dirty="0">
                          <a:effectLst/>
                        </a:rPr>
                        <a:t>12345</a:t>
                      </a:r>
                    </a:p>
                  </a:txBody>
                  <a:tcPr anchor="ctr"/>
                </a:tc>
              </a:tr>
            </a:tbl>
          </a:graphicData>
        </a:graphic>
      </p:graphicFrame>
      <p:sp>
        <p:nvSpPr>
          <p:cNvPr id="5" name="Rectangle 1"/>
          <p:cNvSpPr>
            <a:spLocks noChangeArrowheads="1"/>
          </p:cNvSpPr>
          <p:nvPr/>
        </p:nvSpPr>
        <p:spPr bwMode="auto">
          <a:xfrm>
            <a:off x="-327546" y="-1423575"/>
            <a:ext cx="6009891" cy="538609"/>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smtClean="0">
                <a:ln>
                  <a:noFill/>
                </a:ln>
                <a:solidFill>
                  <a:schemeClr val="tx1"/>
                </a:solidFill>
                <a:effectLst/>
                <a:latin typeface="Arial" panose="020B0604020202020204" pitchFamily="34" charset="0"/>
              </a:rPr>
              <a:t>Customer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
        <p:nvSpPr>
          <p:cNvPr id="6" name="Rectangle 5"/>
          <p:cNvSpPr/>
          <p:nvPr/>
        </p:nvSpPr>
        <p:spPr>
          <a:xfrm>
            <a:off x="263855" y="3811012"/>
            <a:ext cx="11623343" cy="3046988"/>
          </a:xfrm>
          <a:prstGeom prst="rect">
            <a:avLst/>
          </a:prstGeom>
        </p:spPr>
        <p:txBody>
          <a:bodyPr wrap="square">
            <a:spAutoFit/>
          </a:bodyPr>
          <a:lstStyle/>
          <a:p>
            <a:r>
              <a:rPr lang="en-US" sz="2400" b="1" dirty="0" smtClean="0"/>
              <a:t>Example 1</a:t>
            </a:r>
            <a:r>
              <a:rPr lang="en-US" sz="2400" dirty="0" smtClean="0"/>
              <a:t>: Write a DRC query to get the data of all customers with Zip code 12345.</a:t>
            </a:r>
          </a:p>
          <a:p>
            <a:r>
              <a:rPr lang="en-US" sz="2400" b="1" dirty="0" smtClean="0"/>
              <a:t>DRC query:</a:t>
            </a:r>
            <a:r>
              <a:rPr lang="en-US" sz="2400" dirty="0" smtClean="0"/>
              <a:t> </a:t>
            </a:r>
            <a:r>
              <a:rPr lang="en-US" sz="2400" b="1" dirty="0" smtClean="0"/>
              <a:t>{&lt;x1,x2,x3&gt; \| &lt;x1,x2&gt; ∈ Customer ∧ x3 = 12345 }</a:t>
            </a:r>
            <a:endParaRPr lang="en-US" sz="2400" dirty="0" smtClean="0"/>
          </a:p>
          <a:p>
            <a:r>
              <a:rPr lang="en-US" sz="2400" b="1" dirty="0" smtClean="0"/>
              <a:t>Workflow of Query</a:t>
            </a:r>
            <a:r>
              <a:rPr lang="en-US" sz="2400" dirty="0" smtClean="0"/>
              <a:t>: In the above query x1,x2,x3 (ordered) refers to the attribute or column which we need in the result, and the predicate condition is that the first two domain variables x1 and x2 should be present while matching the condition for each row and the third domain variable x3 should be equal to 12345.</a:t>
            </a:r>
            <a:endParaRPr lang="en-US" sz="2400" dirty="0"/>
          </a:p>
        </p:txBody>
      </p:sp>
    </p:spTree>
    <p:extLst>
      <p:ext uri="{BB962C8B-B14F-4D97-AF65-F5344CB8AC3E}">
        <p14:creationId xmlns:p14="http://schemas.microsoft.com/office/powerpoint/2010/main" val="2244866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Result of the DRC query will be: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80993387"/>
              </p:ext>
            </p:extLst>
          </p:nvPr>
        </p:nvGraphicFramePr>
        <p:xfrm>
          <a:off x="775767" y="1568363"/>
          <a:ext cx="8947149" cy="1097280"/>
        </p:xfrm>
        <a:graphic>
          <a:graphicData uri="http://schemas.openxmlformats.org/drawingml/2006/table">
            <a:tbl>
              <a:tblPr>
                <a:tableStyleId>{69C7853C-536D-4A76-A0AE-DD22124D55A5}</a:tableStyleId>
              </a:tblPr>
              <a:tblGrid>
                <a:gridCol w="2982383"/>
                <a:gridCol w="2982383"/>
                <a:gridCol w="2982383"/>
              </a:tblGrid>
              <a:tr h="0">
                <a:tc>
                  <a:txBody>
                    <a:bodyPr/>
                    <a:lstStyle/>
                    <a:p>
                      <a:pPr algn="ctr"/>
                      <a:r>
                        <a:rPr lang="en-US">
                          <a:effectLst/>
                        </a:rPr>
                        <a:t>Customer_id</a:t>
                      </a:r>
                    </a:p>
                  </a:txBody>
                  <a:tcPr anchor="ctr"/>
                </a:tc>
                <a:tc>
                  <a:txBody>
                    <a:bodyPr/>
                    <a:lstStyle/>
                    <a:p>
                      <a:pPr algn="ctr"/>
                      <a:r>
                        <a:rPr lang="en-US">
                          <a:effectLst/>
                        </a:rPr>
                        <a:t>Name</a:t>
                      </a:r>
                    </a:p>
                  </a:txBody>
                  <a:tcPr anchor="ctr"/>
                </a:tc>
                <a:tc>
                  <a:txBody>
                    <a:bodyPr/>
                    <a:lstStyle/>
                    <a:p>
                      <a:pPr algn="ctr"/>
                      <a:r>
                        <a:rPr lang="en-US">
                          <a:effectLst/>
                        </a:rPr>
                        <a:t>Zip code</a:t>
                      </a:r>
                    </a:p>
                  </a:txBody>
                  <a:tcPr anchor="ctr"/>
                </a:tc>
              </a:tr>
              <a:tr h="0">
                <a:tc>
                  <a:txBody>
                    <a:bodyPr/>
                    <a:lstStyle/>
                    <a:p>
                      <a:pPr algn="ctr"/>
                      <a:r>
                        <a:rPr lang="en-US">
                          <a:effectLst/>
                        </a:rPr>
                        <a:t>1</a:t>
                      </a:r>
                    </a:p>
                  </a:txBody>
                  <a:tcPr anchor="ctr"/>
                </a:tc>
                <a:tc>
                  <a:txBody>
                    <a:bodyPr/>
                    <a:lstStyle/>
                    <a:p>
                      <a:pPr algn="ctr"/>
                      <a:r>
                        <a:rPr lang="en-US">
                          <a:effectLst/>
                        </a:rPr>
                        <a:t>Rohit</a:t>
                      </a:r>
                    </a:p>
                  </a:txBody>
                  <a:tcPr anchor="ctr"/>
                </a:tc>
                <a:tc>
                  <a:txBody>
                    <a:bodyPr/>
                    <a:lstStyle/>
                    <a:p>
                      <a:pPr algn="ctr"/>
                      <a:r>
                        <a:rPr lang="en-US">
                          <a:effectLst/>
                        </a:rPr>
                        <a:t>12345</a:t>
                      </a:r>
                    </a:p>
                  </a:txBody>
                  <a:tcPr anchor="ctr"/>
                </a:tc>
              </a:tr>
              <a:tr h="0">
                <a:tc>
                  <a:txBody>
                    <a:bodyPr/>
                    <a:lstStyle/>
                    <a:p>
                      <a:pPr algn="ctr"/>
                      <a:r>
                        <a:rPr lang="en-US">
                          <a:effectLst/>
                        </a:rPr>
                        <a:t>4</a:t>
                      </a:r>
                    </a:p>
                  </a:txBody>
                  <a:tcPr anchor="ctr"/>
                </a:tc>
                <a:tc>
                  <a:txBody>
                    <a:bodyPr/>
                    <a:lstStyle/>
                    <a:p>
                      <a:pPr algn="ctr"/>
                      <a:r>
                        <a:rPr lang="en-US">
                          <a:effectLst/>
                        </a:rPr>
                        <a:t>Amit</a:t>
                      </a:r>
                    </a:p>
                  </a:txBody>
                  <a:tcPr anchor="ctr"/>
                </a:tc>
                <a:tc>
                  <a:txBody>
                    <a:bodyPr/>
                    <a:lstStyle/>
                    <a:p>
                      <a:pPr algn="ctr"/>
                      <a:r>
                        <a:rPr lang="en-US" dirty="0">
                          <a:effectLst/>
                        </a:rPr>
                        <a:t>12345</a:t>
                      </a:r>
                    </a:p>
                  </a:txBody>
                  <a:tcPr anchor="ctr"/>
                </a:tc>
              </a:tr>
            </a:tbl>
          </a:graphicData>
        </a:graphic>
      </p:graphicFrame>
      <p:sp>
        <p:nvSpPr>
          <p:cNvPr id="5" name="Rectangle 4"/>
          <p:cNvSpPr/>
          <p:nvPr/>
        </p:nvSpPr>
        <p:spPr>
          <a:xfrm>
            <a:off x="646111" y="2828836"/>
            <a:ext cx="10695179" cy="1569660"/>
          </a:xfrm>
          <a:prstGeom prst="rect">
            <a:avLst/>
          </a:prstGeom>
        </p:spPr>
        <p:txBody>
          <a:bodyPr wrap="square">
            <a:spAutoFit/>
          </a:bodyPr>
          <a:lstStyle/>
          <a:p>
            <a:r>
              <a:rPr lang="en-US" sz="2400" b="1" dirty="0" smtClean="0"/>
              <a:t>Example 2:</a:t>
            </a:r>
            <a:r>
              <a:rPr lang="en-US" sz="2400" dirty="0" smtClean="0"/>
              <a:t> Write a DRC query to get the customer id of all the customer.</a:t>
            </a:r>
          </a:p>
          <a:p>
            <a:r>
              <a:rPr lang="en-US" sz="2400" b="1" dirty="0" smtClean="0"/>
              <a:t>DRC Query:</a:t>
            </a:r>
            <a:r>
              <a:rPr lang="en-US" sz="2400" dirty="0" smtClean="0"/>
              <a:t> </a:t>
            </a:r>
            <a:r>
              <a:rPr lang="en-US" sz="2400" b="1" dirty="0" smtClean="0"/>
              <a:t>{ &lt;x1&gt; \| ∃ x2,x3(&lt;x1,x2,x3&gt; ∈ Customer ) }</a:t>
            </a:r>
          </a:p>
          <a:p>
            <a:endParaRPr lang="en-US" sz="2400" dirty="0"/>
          </a:p>
        </p:txBody>
      </p:sp>
      <p:graphicFrame>
        <p:nvGraphicFramePr>
          <p:cNvPr id="6" name="Table 5"/>
          <p:cNvGraphicFramePr>
            <a:graphicFrameLocks noGrp="1"/>
          </p:cNvGraphicFramePr>
          <p:nvPr>
            <p:extLst>
              <p:ext uri="{D42A27DB-BD31-4B8C-83A1-F6EECF244321}">
                <p14:modId xmlns:p14="http://schemas.microsoft.com/office/powerpoint/2010/main" val="773158265"/>
              </p:ext>
            </p:extLst>
          </p:nvPr>
        </p:nvGraphicFramePr>
        <p:xfrm>
          <a:off x="4992924" y="4398496"/>
          <a:ext cx="3318562" cy="1828800"/>
        </p:xfrm>
        <a:graphic>
          <a:graphicData uri="http://schemas.openxmlformats.org/drawingml/2006/table">
            <a:tbl>
              <a:tblPr>
                <a:tableStyleId>{69C7853C-536D-4A76-A0AE-DD22124D55A5}</a:tableStyleId>
              </a:tblPr>
              <a:tblGrid>
                <a:gridCol w="3318562"/>
              </a:tblGrid>
              <a:tr h="0">
                <a:tc>
                  <a:txBody>
                    <a:bodyPr/>
                    <a:lstStyle/>
                    <a:p>
                      <a:pPr algn="ctr"/>
                      <a:r>
                        <a:rPr lang="en-US" dirty="0" err="1">
                          <a:effectLst/>
                        </a:rPr>
                        <a:t>Customer_id</a:t>
                      </a:r>
                      <a:endParaRPr lang="en-US" dirty="0">
                        <a:effectLst/>
                      </a:endParaRPr>
                    </a:p>
                  </a:txBody>
                  <a:tcPr anchor="ctr"/>
                </a:tc>
              </a:tr>
              <a:tr h="0">
                <a:tc>
                  <a:txBody>
                    <a:bodyPr/>
                    <a:lstStyle/>
                    <a:p>
                      <a:pPr algn="ctr"/>
                      <a:r>
                        <a:rPr lang="en-US" dirty="0">
                          <a:effectLst/>
                        </a:rPr>
                        <a:t>1</a:t>
                      </a:r>
                    </a:p>
                  </a:txBody>
                  <a:tcPr anchor="ctr"/>
                </a:tc>
              </a:tr>
              <a:tr h="0">
                <a:tc>
                  <a:txBody>
                    <a:bodyPr/>
                    <a:lstStyle/>
                    <a:p>
                      <a:pPr algn="ctr"/>
                      <a:r>
                        <a:rPr lang="en-US">
                          <a:effectLst/>
                        </a:rPr>
                        <a:t>2</a:t>
                      </a:r>
                    </a:p>
                  </a:txBody>
                  <a:tcPr anchor="ctr"/>
                </a:tc>
              </a:tr>
              <a:tr h="0">
                <a:tc>
                  <a:txBody>
                    <a:bodyPr/>
                    <a:lstStyle/>
                    <a:p>
                      <a:pPr algn="ctr"/>
                      <a:r>
                        <a:rPr lang="en-US">
                          <a:effectLst/>
                        </a:rPr>
                        <a:t>3</a:t>
                      </a:r>
                    </a:p>
                  </a:txBody>
                  <a:tcPr anchor="ctr"/>
                </a:tc>
              </a:tr>
              <a:tr h="0">
                <a:tc>
                  <a:txBody>
                    <a:bodyPr/>
                    <a:lstStyle/>
                    <a:p>
                      <a:pPr algn="ctr"/>
                      <a:r>
                        <a:rPr lang="en-US" dirty="0">
                          <a:effectLst/>
                        </a:rPr>
                        <a:t>4</a:t>
                      </a:r>
                    </a:p>
                  </a:txBody>
                  <a:tcPr anchor="ctr"/>
                </a:tc>
              </a:tr>
            </a:tbl>
          </a:graphicData>
        </a:graphic>
      </p:graphicFrame>
      <p:sp>
        <p:nvSpPr>
          <p:cNvPr id="7" name="Rectangle 1"/>
          <p:cNvSpPr>
            <a:spLocks noChangeArrowheads="1"/>
          </p:cNvSpPr>
          <p:nvPr/>
        </p:nvSpPr>
        <p:spPr bwMode="auto">
          <a:xfrm>
            <a:off x="844005" y="424684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panose="020B0604020202020204" pitchFamily="34" charset="0"/>
              </a:rPr>
              <a:t>Result of the above Query will be:</a:t>
            </a:r>
            <a:endParaRPr kumimoji="0" 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7384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 example:</a:t>
            </a:r>
            <a:r>
              <a:rPr lang="en-US" dirty="0"/>
              <a:t/>
            </a:r>
            <a:br>
              <a:rPr lang="en-US" dirty="0"/>
            </a:br>
            <a:endParaRPr lang="en-US" dirty="0"/>
          </a:p>
        </p:txBody>
      </p:sp>
      <p:sp>
        <p:nvSpPr>
          <p:cNvPr id="3" name="Content Placeholder 2"/>
          <p:cNvSpPr>
            <a:spLocks noGrp="1"/>
          </p:cNvSpPr>
          <p:nvPr>
            <p:ph idx="1"/>
          </p:nvPr>
        </p:nvSpPr>
        <p:spPr>
          <a:xfrm>
            <a:off x="1103312" y="2052918"/>
            <a:ext cx="9965022" cy="4195481"/>
          </a:xfrm>
        </p:spPr>
        <p:txBody>
          <a:bodyPr>
            <a:noAutofit/>
          </a:bodyPr>
          <a:lstStyle/>
          <a:p>
            <a:r>
              <a:rPr lang="en-US" sz="2800" dirty="0" smtClean="0"/>
              <a:t>{</a:t>
            </a:r>
            <a:r>
              <a:rPr lang="en-US" sz="2800" dirty="0"/>
              <a:t> T.name | Author(T) AND </a:t>
            </a:r>
            <a:r>
              <a:rPr lang="en-US" sz="2800" dirty="0" err="1"/>
              <a:t>T.article</a:t>
            </a:r>
            <a:r>
              <a:rPr lang="en-US" sz="2800" dirty="0"/>
              <a:t> = 'database' }    </a:t>
            </a:r>
          </a:p>
          <a:p>
            <a:r>
              <a:rPr lang="en-US" sz="2800" b="1" dirty="0"/>
              <a:t>Output:</a:t>
            </a:r>
            <a:r>
              <a:rPr lang="en-US" sz="2800" dirty="0"/>
              <a:t> This query selects the tuples from the AUTHOR relation. It returns a tuple with 'name' from Author who has written an article on 'database'.</a:t>
            </a:r>
          </a:p>
          <a:p>
            <a:r>
              <a:rPr lang="en-US" sz="2800" dirty="0"/>
              <a:t>TRC (tuple relation calculus) can be quantified. In TRC, we can use Existential (∃) and Universal Quantifiers (∀).</a:t>
            </a:r>
          </a:p>
          <a:p>
            <a:r>
              <a:rPr lang="en-US" sz="2800" dirty="0"/>
              <a:t>  </a:t>
            </a:r>
            <a:endParaRPr lang="en-US" sz="2800" dirty="0" smtClean="0"/>
          </a:p>
          <a:p>
            <a:endParaRPr lang="en-US" sz="2800" dirty="0"/>
          </a:p>
          <a:p>
            <a:endParaRPr lang="en-US" sz="2800" dirty="0"/>
          </a:p>
        </p:txBody>
      </p:sp>
    </p:spTree>
    <p:extLst>
      <p:ext uri="{BB962C8B-B14F-4D97-AF65-F5344CB8AC3E}">
        <p14:creationId xmlns:p14="http://schemas.microsoft.com/office/powerpoint/2010/main" val="2800095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dirty="0"/>
              <a:t>For </a:t>
            </a:r>
            <a:r>
              <a:rPr lang="fr-FR" b="1" dirty="0" err="1"/>
              <a:t>example</a:t>
            </a:r>
            <a:r>
              <a:rPr lang="fr-FR" b="1" dirty="0"/>
              <a:t>:</a:t>
            </a:r>
            <a:r>
              <a:rPr lang="fr-FR" dirty="0"/>
              <a:t/>
            </a:r>
            <a:br>
              <a:rPr lang="fr-FR" dirty="0"/>
            </a:br>
            <a:endParaRPr lang="en-US" dirty="0"/>
          </a:p>
        </p:txBody>
      </p:sp>
      <p:sp>
        <p:nvSpPr>
          <p:cNvPr id="3" name="Content Placeholder 2"/>
          <p:cNvSpPr>
            <a:spLocks noGrp="1"/>
          </p:cNvSpPr>
          <p:nvPr>
            <p:ph idx="1"/>
          </p:nvPr>
        </p:nvSpPr>
        <p:spPr>
          <a:xfrm>
            <a:off x="875201" y="1356882"/>
            <a:ext cx="11134829" cy="4195481"/>
          </a:xfrm>
        </p:spPr>
        <p:txBody>
          <a:bodyPr/>
          <a:lstStyle/>
          <a:p>
            <a:r>
              <a:rPr lang="en-US" sz="2400" b="1" dirty="0" smtClean="0"/>
              <a:t>example1 </a:t>
            </a:r>
            <a:r>
              <a:rPr lang="en-US" sz="2400" b="1" dirty="0"/>
              <a:t>:</a:t>
            </a:r>
            <a:endParaRPr lang="en-US" sz="2400" dirty="0"/>
          </a:p>
          <a:p>
            <a:r>
              <a:rPr lang="en-US" sz="2400" dirty="0"/>
              <a:t>{ R| ∃T ∈ Authors(</a:t>
            </a:r>
            <a:r>
              <a:rPr lang="en-US" sz="2400" dirty="0" err="1"/>
              <a:t>T.article</a:t>
            </a:r>
            <a:r>
              <a:rPr lang="en-US" sz="2400" dirty="0"/>
              <a:t>='database' AND R.name=T.name</a:t>
            </a:r>
            <a:r>
              <a:rPr lang="en-US" sz="2400" dirty="0" smtClean="0"/>
              <a:t>)}</a:t>
            </a:r>
          </a:p>
          <a:p>
            <a:endParaRPr lang="en-US" sz="2400" dirty="0" smtClean="0"/>
          </a:p>
          <a:p>
            <a:r>
              <a:rPr lang="en-US" sz="2400" b="1" dirty="0" smtClean="0"/>
              <a:t>Example2:-</a:t>
            </a:r>
            <a:endParaRPr lang="fr-FR" sz="2400" b="1" dirty="0" smtClean="0"/>
          </a:p>
          <a:p>
            <a:r>
              <a:rPr lang="fr-FR" sz="2400" dirty="0" smtClean="0"/>
              <a:t>{&lt;</a:t>
            </a:r>
            <a:r>
              <a:rPr lang="fr-FR" sz="2400" dirty="0"/>
              <a:t> article, page, </a:t>
            </a:r>
            <a:r>
              <a:rPr lang="fr-FR" sz="2400" dirty="0" err="1"/>
              <a:t>subject</a:t>
            </a:r>
            <a:r>
              <a:rPr lang="fr-FR" sz="2400" dirty="0"/>
              <a:t> &gt; |  ∈ </a:t>
            </a:r>
            <a:r>
              <a:rPr lang="fr-FR" sz="2400" dirty="0" err="1"/>
              <a:t>javatpoint</a:t>
            </a:r>
            <a:r>
              <a:rPr lang="fr-FR" sz="2400" dirty="0"/>
              <a:t> ∧ </a:t>
            </a:r>
            <a:r>
              <a:rPr lang="fr-FR" sz="2400" dirty="0" err="1"/>
              <a:t>subject</a:t>
            </a:r>
            <a:r>
              <a:rPr lang="fr-FR" sz="2400" dirty="0"/>
              <a:t> = '</a:t>
            </a:r>
            <a:r>
              <a:rPr lang="fr-FR" sz="2400" dirty="0" err="1"/>
              <a:t>database</a:t>
            </a:r>
            <a:r>
              <a:rPr lang="fr-FR" sz="2400" dirty="0"/>
              <a:t>'}  </a:t>
            </a:r>
          </a:p>
          <a:p>
            <a:endParaRPr lang="en-US" dirty="0"/>
          </a:p>
        </p:txBody>
      </p:sp>
    </p:spTree>
    <p:extLst>
      <p:ext uri="{BB962C8B-B14F-4D97-AF65-F5344CB8AC3E}">
        <p14:creationId xmlns:p14="http://schemas.microsoft.com/office/powerpoint/2010/main" val="2770114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br>
              <a:rPr lang="en-US" b="1" dirty="0"/>
            </a:br>
            <a:endParaRPr lang="en-US" dirty="0"/>
          </a:p>
        </p:txBody>
      </p:sp>
      <p:sp>
        <p:nvSpPr>
          <p:cNvPr id="3" name="Content Placeholder 2"/>
          <p:cNvSpPr>
            <a:spLocks noGrp="1"/>
          </p:cNvSpPr>
          <p:nvPr>
            <p:ph idx="1"/>
          </p:nvPr>
        </p:nvSpPr>
        <p:spPr>
          <a:xfrm>
            <a:off x="875201" y="1479712"/>
            <a:ext cx="11052942" cy="5030270"/>
          </a:xfrm>
        </p:spPr>
        <p:txBody>
          <a:bodyPr>
            <a:normAutofit/>
          </a:bodyPr>
          <a:lstStyle/>
          <a:p>
            <a:r>
              <a:rPr lang="en-US" sz="2400" dirty="0"/>
              <a:t>Relational Calculus in DBMS tells us what we want from the database and not how to get that.</a:t>
            </a:r>
          </a:p>
          <a:p>
            <a:r>
              <a:rPr lang="en-US" sz="2400" dirty="0"/>
              <a:t>Relational Calculus is a Declarative Language.</a:t>
            </a:r>
          </a:p>
          <a:p>
            <a:r>
              <a:rPr lang="en-US" sz="2400" dirty="0"/>
              <a:t>TRC uses tuple variable and checks every Row with the Predicate expression condition.</a:t>
            </a:r>
          </a:p>
          <a:p>
            <a:r>
              <a:rPr lang="en-US" sz="2400" dirty="0"/>
              <a:t>DRC uses domain variables and returns the required attribute or column based on the condition.</a:t>
            </a:r>
          </a:p>
          <a:p>
            <a:r>
              <a:rPr lang="en-US" sz="2400" dirty="0"/>
              <a:t>For any requirement both, TRC and DRC can be written.</a:t>
            </a:r>
          </a:p>
          <a:p>
            <a:r>
              <a:rPr lang="en-US" sz="2400" dirty="0"/>
              <a:t>TRC and DRC queries can give more than one </a:t>
            </a:r>
            <a:r>
              <a:rPr lang="en-US" sz="2400" dirty="0">
                <a:hlinkClick r:id="rId2"/>
              </a:rPr>
              <a:t>tuple</a:t>
            </a:r>
            <a:r>
              <a:rPr lang="en-US" sz="2400" dirty="0"/>
              <a:t> or attribute in the result</a:t>
            </a:r>
            <a:r>
              <a:rPr lang="en-US" sz="2400" dirty="0" smtClean="0"/>
              <a:t>.</a:t>
            </a:r>
            <a:endParaRPr lang="en-US" sz="2400" dirty="0"/>
          </a:p>
        </p:txBody>
      </p:sp>
    </p:spTree>
    <p:extLst>
      <p:ext uri="{BB962C8B-B14F-4D97-AF65-F5344CB8AC3E}">
        <p14:creationId xmlns:p14="http://schemas.microsoft.com/office/powerpoint/2010/main" val="2354591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defTabSz="914400" eaLnBrk="0" fontAlgn="base" hangingPunct="0">
              <a:spcAft>
                <a:spcPct val="0"/>
              </a:spcAft>
            </a:pPr>
            <a:r>
              <a:rPr lang="en-US" sz="4400" b="1" dirty="0">
                <a:solidFill>
                  <a:schemeClr val="tx1"/>
                </a:solidFill>
                <a:latin typeface="Arial" panose="020B0604020202020204" pitchFamily="34" charset="0"/>
              </a:rPr>
              <a:t>Tuple Relational Calculus Examples</a:t>
            </a:r>
            <a:br>
              <a:rPr lang="en-US" sz="4400" b="1" dirty="0">
                <a:solidFill>
                  <a:schemeClr val="tx1"/>
                </a:solidFill>
                <a:latin typeface="Arial" panose="020B0604020202020204" pitchFamily="34" charset="0"/>
              </a:rPr>
            </a:br>
            <a:r>
              <a:rPr lang="en-US" sz="3200" b="1" dirty="0">
                <a:solidFill>
                  <a:schemeClr val="tx1"/>
                </a:solidFill>
                <a:latin typeface="Arial" panose="020B0604020202020204" pitchFamily="34" charset="0"/>
              </a:rPr>
              <a:t>Table Customer</a:t>
            </a:r>
            <a:r>
              <a:rPr lang="en-US" sz="4800" dirty="0">
                <a:solidFill>
                  <a:schemeClr val="tx1"/>
                </a:solidFill>
                <a:latin typeface="Arial" panose="020B0604020202020204" pitchFamily="34" charset="0"/>
              </a:rPr>
              <a:t> </a:t>
            </a:r>
            <a:br>
              <a:rPr lang="en-US" sz="4800" dirty="0">
                <a:solidFill>
                  <a:schemeClr val="tx1"/>
                </a:solidFill>
                <a:latin typeface="Arial" panose="020B0604020202020204" pitchFamily="34" charset="0"/>
              </a:rPr>
            </a:b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788485422"/>
              </p:ext>
            </p:extLst>
          </p:nvPr>
        </p:nvGraphicFramePr>
        <p:xfrm>
          <a:off x="530108" y="2717504"/>
          <a:ext cx="4041892" cy="2103120"/>
        </p:xfrm>
        <a:graphic>
          <a:graphicData uri="http://schemas.openxmlformats.org/drawingml/2006/table">
            <a:tbl>
              <a:tblPr>
                <a:tableStyleId>{69C7853C-536D-4A76-A0AE-DD22124D55A5}</a:tableStyleId>
              </a:tblPr>
              <a:tblGrid>
                <a:gridCol w="1606121"/>
                <a:gridCol w="870917"/>
                <a:gridCol w="1564854"/>
              </a:tblGrid>
              <a:tr h="0">
                <a:tc>
                  <a:txBody>
                    <a:bodyPr/>
                    <a:lstStyle/>
                    <a:p>
                      <a:r>
                        <a:rPr lang="en-US" dirty="0"/>
                        <a:t>Customer name</a:t>
                      </a:r>
                    </a:p>
                  </a:txBody>
                  <a:tcPr anchor="ctr"/>
                </a:tc>
                <a:tc>
                  <a:txBody>
                    <a:bodyPr/>
                    <a:lstStyle/>
                    <a:p>
                      <a:r>
                        <a:rPr lang="en-US"/>
                        <a:t>Street</a:t>
                      </a:r>
                    </a:p>
                  </a:txBody>
                  <a:tcPr anchor="ctr"/>
                </a:tc>
                <a:tc>
                  <a:txBody>
                    <a:bodyPr/>
                    <a:lstStyle/>
                    <a:p>
                      <a:r>
                        <a:rPr lang="en-US"/>
                        <a:t>City</a:t>
                      </a:r>
                    </a:p>
                  </a:txBody>
                  <a:tcPr anchor="ctr"/>
                </a:tc>
              </a:tr>
              <a:tr h="0">
                <a:tc>
                  <a:txBody>
                    <a:bodyPr/>
                    <a:lstStyle/>
                    <a:p>
                      <a:r>
                        <a:rPr lang="en-US"/>
                        <a:t>Saurabh</a:t>
                      </a:r>
                    </a:p>
                  </a:txBody>
                  <a:tcPr anchor="ctr"/>
                </a:tc>
                <a:tc>
                  <a:txBody>
                    <a:bodyPr/>
                    <a:lstStyle/>
                    <a:p>
                      <a:r>
                        <a:rPr lang="en-US"/>
                        <a:t>A7</a:t>
                      </a:r>
                    </a:p>
                  </a:txBody>
                  <a:tcPr anchor="ctr"/>
                </a:tc>
                <a:tc>
                  <a:txBody>
                    <a:bodyPr/>
                    <a:lstStyle/>
                    <a:p>
                      <a:r>
                        <a:rPr lang="en-US"/>
                        <a:t>Patiala</a:t>
                      </a:r>
                    </a:p>
                  </a:txBody>
                  <a:tcPr anchor="ctr"/>
                </a:tc>
              </a:tr>
              <a:tr h="0">
                <a:tc>
                  <a:txBody>
                    <a:bodyPr/>
                    <a:lstStyle/>
                    <a:p>
                      <a:r>
                        <a:rPr lang="en-US"/>
                        <a:t>Mehak</a:t>
                      </a:r>
                    </a:p>
                  </a:txBody>
                  <a:tcPr anchor="ctr"/>
                </a:tc>
                <a:tc>
                  <a:txBody>
                    <a:bodyPr/>
                    <a:lstStyle/>
                    <a:p>
                      <a:r>
                        <a:rPr lang="en-US"/>
                        <a:t>B6</a:t>
                      </a:r>
                    </a:p>
                  </a:txBody>
                  <a:tcPr anchor="ctr"/>
                </a:tc>
                <a:tc>
                  <a:txBody>
                    <a:bodyPr/>
                    <a:lstStyle/>
                    <a:p>
                      <a:r>
                        <a:rPr lang="en-US"/>
                        <a:t>Jalandhar</a:t>
                      </a:r>
                    </a:p>
                  </a:txBody>
                  <a:tcPr anchor="ctr"/>
                </a:tc>
              </a:tr>
              <a:tr h="0">
                <a:tc>
                  <a:txBody>
                    <a:bodyPr/>
                    <a:lstStyle/>
                    <a:p>
                      <a:r>
                        <a:rPr lang="en-US"/>
                        <a:t>Sumiti</a:t>
                      </a:r>
                    </a:p>
                  </a:txBody>
                  <a:tcPr anchor="ctr"/>
                </a:tc>
                <a:tc>
                  <a:txBody>
                    <a:bodyPr/>
                    <a:lstStyle/>
                    <a:p>
                      <a:r>
                        <a:rPr lang="en-US"/>
                        <a:t>D9</a:t>
                      </a:r>
                    </a:p>
                  </a:txBody>
                  <a:tcPr anchor="ctr"/>
                </a:tc>
                <a:tc>
                  <a:txBody>
                    <a:bodyPr/>
                    <a:lstStyle/>
                    <a:p>
                      <a:r>
                        <a:rPr lang="en-US"/>
                        <a:t>Ludhiana</a:t>
                      </a:r>
                    </a:p>
                  </a:txBody>
                  <a:tcPr anchor="ctr"/>
                </a:tc>
              </a:tr>
              <a:tr h="0">
                <a:tc>
                  <a:txBody>
                    <a:bodyPr/>
                    <a:lstStyle/>
                    <a:p>
                      <a:r>
                        <a:rPr lang="en-US"/>
                        <a:t>Ria</a:t>
                      </a:r>
                    </a:p>
                  </a:txBody>
                  <a:tcPr anchor="ctr"/>
                </a:tc>
                <a:tc>
                  <a:txBody>
                    <a:bodyPr/>
                    <a:lstStyle/>
                    <a:p>
                      <a:r>
                        <a:rPr lang="en-US" dirty="0"/>
                        <a:t>A5</a:t>
                      </a:r>
                    </a:p>
                  </a:txBody>
                  <a:tcPr anchor="ctr"/>
                </a:tc>
                <a:tc>
                  <a:txBody>
                    <a:bodyPr/>
                    <a:lstStyle/>
                    <a:p>
                      <a:r>
                        <a:rPr lang="en-US" dirty="0"/>
                        <a:t>Patiala</a:t>
                      </a:r>
                    </a:p>
                  </a:txBody>
                  <a:tcPr anchor="ct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341109334"/>
              </p:ext>
            </p:extLst>
          </p:nvPr>
        </p:nvGraphicFramePr>
        <p:xfrm>
          <a:off x="5125834" y="1610183"/>
          <a:ext cx="4637146" cy="1463040"/>
        </p:xfrm>
        <a:graphic>
          <a:graphicData uri="http://schemas.openxmlformats.org/drawingml/2006/table">
            <a:tbl>
              <a:tblPr>
                <a:tableStyleId>{69C7853C-536D-4A76-A0AE-DD22124D55A5}</a:tableStyleId>
              </a:tblPr>
              <a:tblGrid>
                <a:gridCol w="2318573"/>
                <a:gridCol w="2318573"/>
              </a:tblGrid>
              <a:tr h="0">
                <a:tc>
                  <a:txBody>
                    <a:bodyPr/>
                    <a:lstStyle/>
                    <a:p>
                      <a:r>
                        <a:rPr lang="en-US" dirty="0"/>
                        <a:t>Branch name</a:t>
                      </a:r>
                    </a:p>
                  </a:txBody>
                  <a:tcPr anchor="ctr"/>
                </a:tc>
                <a:tc>
                  <a:txBody>
                    <a:bodyPr/>
                    <a:lstStyle/>
                    <a:p>
                      <a:r>
                        <a:rPr lang="en-US"/>
                        <a:t>Branch City</a:t>
                      </a:r>
                    </a:p>
                  </a:txBody>
                  <a:tcPr anchor="ctr"/>
                </a:tc>
              </a:tr>
              <a:tr h="0">
                <a:tc>
                  <a:txBody>
                    <a:bodyPr/>
                    <a:lstStyle/>
                    <a:p>
                      <a:r>
                        <a:rPr lang="en-US" dirty="0"/>
                        <a:t>ABC</a:t>
                      </a:r>
                    </a:p>
                  </a:txBody>
                  <a:tcPr anchor="ctr"/>
                </a:tc>
                <a:tc>
                  <a:txBody>
                    <a:bodyPr/>
                    <a:lstStyle/>
                    <a:p>
                      <a:r>
                        <a:rPr lang="en-US"/>
                        <a:t>Patiala</a:t>
                      </a:r>
                    </a:p>
                  </a:txBody>
                  <a:tcPr anchor="ctr"/>
                </a:tc>
              </a:tr>
              <a:tr h="0">
                <a:tc>
                  <a:txBody>
                    <a:bodyPr/>
                    <a:lstStyle/>
                    <a:p>
                      <a:r>
                        <a:rPr lang="en-US"/>
                        <a:t>DEF</a:t>
                      </a:r>
                    </a:p>
                  </a:txBody>
                  <a:tcPr anchor="ctr"/>
                </a:tc>
                <a:tc>
                  <a:txBody>
                    <a:bodyPr/>
                    <a:lstStyle/>
                    <a:p>
                      <a:r>
                        <a:rPr lang="en-US"/>
                        <a:t>Ludhiana</a:t>
                      </a:r>
                    </a:p>
                  </a:txBody>
                  <a:tcPr anchor="ctr"/>
                </a:tc>
              </a:tr>
              <a:tr h="0">
                <a:tc>
                  <a:txBody>
                    <a:bodyPr/>
                    <a:lstStyle/>
                    <a:p>
                      <a:r>
                        <a:rPr lang="en-US"/>
                        <a:t>GHI</a:t>
                      </a:r>
                    </a:p>
                  </a:txBody>
                  <a:tcPr anchor="ctr"/>
                </a:tc>
                <a:tc>
                  <a:txBody>
                    <a:bodyPr/>
                    <a:lstStyle/>
                    <a:p>
                      <a:r>
                        <a:rPr lang="en-US" dirty="0"/>
                        <a:t>Jalandhar</a:t>
                      </a:r>
                    </a:p>
                  </a:txBody>
                  <a:tcPr anchor="ctr"/>
                </a:tc>
              </a:tr>
            </a:tbl>
          </a:graphicData>
        </a:graphic>
      </p:graphicFrame>
      <p:sp>
        <p:nvSpPr>
          <p:cNvPr id="9" name="Rectangle 3"/>
          <p:cNvSpPr>
            <a:spLocks noChangeArrowheads="1"/>
          </p:cNvSpPr>
          <p:nvPr/>
        </p:nvSpPr>
        <p:spPr bwMode="auto">
          <a:xfrm>
            <a:off x="5125834" y="115298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Table Branch</a:t>
            </a:r>
            <a:r>
              <a:rPr kumimoji="0" lang="en-US" sz="1800" b="0" i="0" u="none" strike="noStrike" cap="none" normalizeH="0" baseline="0" dirty="0" smtClean="0">
                <a:ln>
                  <a:noFill/>
                </a:ln>
                <a:solidFill>
                  <a:schemeClr val="tx1"/>
                </a:solidFill>
                <a:effectLst/>
                <a:latin typeface="Arial" panose="020B0604020202020204" pitchFamily="34" charset="0"/>
              </a:rPr>
              <a:t> </a:t>
            </a:r>
          </a:p>
        </p:txBody>
      </p:sp>
      <p:graphicFrame>
        <p:nvGraphicFramePr>
          <p:cNvPr id="10" name="Table 9"/>
          <p:cNvGraphicFramePr>
            <a:graphicFrameLocks noGrp="1"/>
          </p:cNvGraphicFramePr>
          <p:nvPr>
            <p:extLst>
              <p:ext uri="{D42A27DB-BD31-4B8C-83A1-F6EECF244321}">
                <p14:modId xmlns:p14="http://schemas.microsoft.com/office/powerpoint/2010/main" val="4121385567"/>
              </p:ext>
            </p:extLst>
          </p:nvPr>
        </p:nvGraphicFramePr>
        <p:xfrm>
          <a:off x="5125834" y="4003602"/>
          <a:ext cx="5311555" cy="2103120"/>
        </p:xfrm>
        <a:graphic>
          <a:graphicData uri="http://schemas.openxmlformats.org/drawingml/2006/table">
            <a:tbl>
              <a:tblPr>
                <a:tableStyleId>{69C7853C-536D-4A76-A0AE-DD22124D55A5}</a:tableStyleId>
              </a:tblPr>
              <a:tblGrid>
                <a:gridCol w="1653955"/>
                <a:gridCol w="2096086"/>
                <a:gridCol w="1561514"/>
              </a:tblGrid>
              <a:tr h="0">
                <a:tc>
                  <a:txBody>
                    <a:bodyPr/>
                    <a:lstStyle/>
                    <a:p>
                      <a:r>
                        <a:rPr lang="en-US" dirty="0"/>
                        <a:t>Account number</a:t>
                      </a:r>
                    </a:p>
                  </a:txBody>
                  <a:tcPr anchor="ctr"/>
                </a:tc>
                <a:tc>
                  <a:txBody>
                    <a:bodyPr/>
                    <a:lstStyle/>
                    <a:p>
                      <a:r>
                        <a:rPr lang="en-US" dirty="0"/>
                        <a:t>Branch name</a:t>
                      </a:r>
                    </a:p>
                  </a:txBody>
                  <a:tcPr anchor="ctr"/>
                </a:tc>
                <a:tc>
                  <a:txBody>
                    <a:bodyPr/>
                    <a:lstStyle/>
                    <a:p>
                      <a:r>
                        <a:rPr lang="en-US"/>
                        <a:t>Balance</a:t>
                      </a:r>
                    </a:p>
                  </a:txBody>
                  <a:tcPr anchor="ctr"/>
                </a:tc>
              </a:tr>
              <a:tr h="0">
                <a:tc>
                  <a:txBody>
                    <a:bodyPr/>
                    <a:lstStyle/>
                    <a:p>
                      <a:r>
                        <a:rPr lang="en-US"/>
                        <a:t>1111</a:t>
                      </a:r>
                    </a:p>
                  </a:txBody>
                  <a:tcPr anchor="ctr"/>
                </a:tc>
                <a:tc>
                  <a:txBody>
                    <a:bodyPr/>
                    <a:lstStyle/>
                    <a:p>
                      <a:r>
                        <a:rPr lang="en-US"/>
                        <a:t>ABC</a:t>
                      </a:r>
                    </a:p>
                  </a:txBody>
                  <a:tcPr anchor="ctr"/>
                </a:tc>
                <a:tc>
                  <a:txBody>
                    <a:bodyPr/>
                    <a:lstStyle/>
                    <a:p>
                      <a:r>
                        <a:rPr lang="en-US"/>
                        <a:t>50000</a:t>
                      </a:r>
                    </a:p>
                  </a:txBody>
                  <a:tcPr anchor="ctr"/>
                </a:tc>
              </a:tr>
              <a:tr h="0">
                <a:tc>
                  <a:txBody>
                    <a:bodyPr/>
                    <a:lstStyle/>
                    <a:p>
                      <a:r>
                        <a:rPr lang="en-US" dirty="0"/>
                        <a:t>1112</a:t>
                      </a:r>
                    </a:p>
                  </a:txBody>
                  <a:tcPr anchor="ctr"/>
                </a:tc>
                <a:tc>
                  <a:txBody>
                    <a:bodyPr/>
                    <a:lstStyle/>
                    <a:p>
                      <a:r>
                        <a:rPr lang="en-US"/>
                        <a:t>DEF</a:t>
                      </a:r>
                    </a:p>
                  </a:txBody>
                  <a:tcPr anchor="ctr"/>
                </a:tc>
                <a:tc>
                  <a:txBody>
                    <a:bodyPr/>
                    <a:lstStyle/>
                    <a:p>
                      <a:r>
                        <a:rPr lang="en-US"/>
                        <a:t>10000</a:t>
                      </a:r>
                    </a:p>
                  </a:txBody>
                  <a:tcPr anchor="ctr"/>
                </a:tc>
              </a:tr>
              <a:tr h="0">
                <a:tc>
                  <a:txBody>
                    <a:bodyPr/>
                    <a:lstStyle/>
                    <a:p>
                      <a:r>
                        <a:rPr lang="en-US"/>
                        <a:t>1113</a:t>
                      </a:r>
                    </a:p>
                  </a:txBody>
                  <a:tcPr anchor="ctr"/>
                </a:tc>
                <a:tc>
                  <a:txBody>
                    <a:bodyPr/>
                    <a:lstStyle/>
                    <a:p>
                      <a:r>
                        <a:rPr lang="en-US"/>
                        <a:t>GHI</a:t>
                      </a:r>
                    </a:p>
                  </a:txBody>
                  <a:tcPr anchor="ctr"/>
                </a:tc>
                <a:tc>
                  <a:txBody>
                    <a:bodyPr/>
                    <a:lstStyle/>
                    <a:p>
                      <a:r>
                        <a:rPr lang="en-US"/>
                        <a:t>9000</a:t>
                      </a:r>
                    </a:p>
                  </a:txBody>
                  <a:tcPr anchor="ctr"/>
                </a:tc>
              </a:tr>
              <a:tr h="0">
                <a:tc>
                  <a:txBody>
                    <a:bodyPr/>
                    <a:lstStyle/>
                    <a:p>
                      <a:r>
                        <a:rPr lang="en-US"/>
                        <a:t>1114</a:t>
                      </a:r>
                    </a:p>
                  </a:txBody>
                  <a:tcPr anchor="ctr"/>
                </a:tc>
                <a:tc>
                  <a:txBody>
                    <a:bodyPr/>
                    <a:lstStyle/>
                    <a:p>
                      <a:r>
                        <a:rPr lang="en-US"/>
                        <a:t>ABC</a:t>
                      </a:r>
                    </a:p>
                  </a:txBody>
                  <a:tcPr anchor="ctr"/>
                </a:tc>
                <a:tc>
                  <a:txBody>
                    <a:bodyPr/>
                    <a:lstStyle/>
                    <a:p>
                      <a:r>
                        <a:rPr lang="en-US" dirty="0"/>
                        <a:t>7000</a:t>
                      </a:r>
                    </a:p>
                  </a:txBody>
                  <a:tcPr anchor="ctr"/>
                </a:tc>
              </a:tr>
            </a:tbl>
          </a:graphicData>
        </a:graphic>
      </p:graphicFrame>
      <p:sp>
        <p:nvSpPr>
          <p:cNvPr id="11" name="Rectangle 4"/>
          <p:cNvSpPr>
            <a:spLocks noChangeArrowheads="1"/>
          </p:cNvSpPr>
          <p:nvPr/>
        </p:nvSpPr>
        <p:spPr bwMode="auto">
          <a:xfrm>
            <a:off x="5125834" y="354640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Table Account</a:t>
            </a:r>
            <a:r>
              <a:rPr kumimoji="0" 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737102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28087299"/>
              </p:ext>
            </p:extLst>
          </p:nvPr>
        </p:nvGraphicFramePr>
        <p:xfrm>
          <a:off x="831085" y="2247045"/>
          <a:ext cx="5447610" cy="1828800"/>
        </p:xfrm>
        <a:graphic>
          <a:graphicData uri="http://schemas.openxmlformats.org/drawingml/2006/table">
            <a:tbl>
              <a:tblPr>
                <a:tableStyleId>{69C7853C-536D-4A76-A0AE-DD22124D55A5}</a:tableStyleId>
              </a:tblPr>
              <a:tblGrid>
                <a:gridCol w="1815870"/>
                <a:gridCol w="1815870"/>
                <a:gridCol w="1815870"/>
              </a:tblGrid>
              <a:tr h="0">
                <a:tc>
                  <a:txBody>
                    <a:bodyPr/>
                    <a:lstStyle/>
                    <a:p>
                      <a:r>
                        <a:rPr lang="en-US" dirty="0"/>
                        <a:t>Loan number</a:t>
                      </a:r>
                    </a:p>
                  </a:txBody>
                  <a:tcPr anchor="ctr"/>
                </a:tc>
                <a:tc>
                  <a:txBody>
                    <a:bodyPr/>
                    <a:lstStyle/>
                    <a:p>
                      <a:r>
                        <a:rPr lang="en-US"/>
                        <a:t>Branch name</a:t>
                      </a:r>
                    </a:p>
                  </a:txBody>
                  <a:tcPr anchor="ctr"/>
                </a:tc>
                <a:tc>
                  <a:txBody>
                    <a:bodyPr/>
                    <a:lstStyle/>
                    <a:p>
                      <a:r>
                        <a:rPr lang="en-US"/>
                        <a:t>Amount</a:t>
                      </a:r>
                    </a:p>
                  </a:txBody>
                  <a:tcPr anchor="ctr"/>
                </a:tc>
              </a:tr>
              <a:tr h="0">
                <a:tc>
                  <a:txBody>
                    <a:bodyPr/>
                    <a:lstStyle/>
                    <a:p>
                      <a:r>
                        <a:rPr lang="en-US"/>
                        <a:t>L33</a:t>
                      </a:r>
                    </a:p>
                  </a:txBody>
                  <a:tcPr anchor="ctr"/>
                </a:tc>
                <a:tc>
                  <a:txBody>
                    <a:bodyPr/>
                    <a:lstStyle/>
                    <a:p>
                      <a:r>
                        <a:rPr lang="en-US"/>
                        <a:t>ABC</a:t>
                      </a:r>
                    </a:p>
                  </a:txBody>
                  <a:tcPr anchor="ctr"/>
                </a:tc>
                <a:tc>
                  <a:txBody>
                    <a:bodyPr/>
                    <a:lstStyle/>
                    <a:p>
                      <a:r>
                        <a:rPr lang="en-US"/>
                        <a:t>10000</a:t>
                      </a:r>
                    </a:p>
                  </a:txBody>
                  <a:tcPr anchor="ctr"/>
                </a:tc>
              </a:tr>
              <a:tr h="0">
                <a:tc>
                  <a:txBody>
                    <a:bodyPr/>
                    <a:lstStyle/>
                    <a:p>
                      <a:r>
                        <a:rPr lang="en-US"/>
                        <a:t>L35</a:t>
                      </a:r>
                    </a:p>
                  </a:txBody>
                  <a:tcPr anchor="ctr"/>
                </a:tc>
                <a:tc>
                  <a:txBody>
                    <a:bodyPr/>
                    <a:lstStyle/>
                    <a:p>
                      <a:r>
                        <a:rPr lang="en-US"/>
                        <a:t>DEF</a:t>
                      </a:r>
                    </a:p>
                  </a:txBody>
                  <a:tcPr anchor="ctr"/>
                </a:tc>
                <a:tc>
                  <a:txBody>
                    <a:bodyPr/>
                    <a:lstStyle/>
                    <a:p>
                      <a:r>
                        <a:rPr lang="en-US"/>
                        <a:t>15000</a:t>
                      </a:r>
                    </a:p>
                  </a:txBody>
                  <a:tcPr anchor="ctr"/>
                </a:tc>
              </a:tr>
              <a:tr h="0">
                <a:tc>
                  <a:txBody>
                    <a:bodyPr/>
                    <a:lstStyle/>
                    <a:p>
                      <a:r>
                        <a:rPr lang="en-US"/>
                        <a:t>L49</a:t>
                      </a:r>
                    </a:p>
                  </a:txBody>
                  <a:tcPr anchor="ctr"/>
                </a:tc>
                <a:tc>
                  <a:txBody>
                    <a:bodyPr/>
                    <a:lstStyle/>
                    <a:p>
                      <a:r>
                        <a:rPr lang="en-US"/>
                        <a:t>GHI</a:t>
                      </a:r>
                    </a:p>
                  </a:txBody>
                  <a:tcPr anchor="ctr"/>
                </a:tc>
                <a:tc>
                  <a:txBody>
                    <a:bodyPr/>
                    <a:lstStyle/>
                    <a:p>
                      <a:r>
                        <a:rPr lang="en-US"/>
                        <a:t>9000</a:t>
                      </a:r>
                    </a:p>
                  </a:txBody>
                  <a:tcPr anchor="ctr"/>
                </a:tc>
              </a:tr>
              <a:tr h="0">
                <a:tc>
                  <a:txBody>
                    <a:bodyPr/>
                    <a:lstStyle/>
                    <a:p>
                      <a:r>
                        <a:rPr lang="en-US"/>
                        <a:t>L98</a:t>
                      </a:r>
                    </a:p>
                  </a:txBody>
                  <a:tcPr anchor="ctr"/>
                </a:tc>
                <a:tc>
                  <a:txBody>
                    <a:bodyPr/>
                    <a:lstStyle/>
                    <a:p>
                      <a:r>
                        <a:rPr lang="en-US"/>
                        <a:t>DEF</a:t>
                      </a:r>
                    </a:p>
                  </a:txBody>
                  <a:tcPr anchor="ctr"/>
                </a:tc>
                <a:tc>
                  <a:txBody>
                    <a:bodyPr/>
                    <a:lstStyle/>
                    <a:p>
                      <a:r>
                        <a:rPr lang="en-US" dirty="0"/>
                        <a:t>65000</a:t>
                      </a:r>
                    </a:p>
                  </a:txBody>
                  <a:tcPr anchor="ctr"/>
                </a:tc>
              </a:tr>
            </a:tbl>
          </a:graphicData>
        </a:graphic>
      </p:graphicFrame>
      <p:sp>
        <p:nvSpPr>
          <p:cNvPr id="5" name="Rectangle 1"/>
          <p:cNvSpPr>
            <a:spLocks noChangeArrowheads="1"/>
          </p:cNvSpPr>
          <p:nvPr/>
        </p:nvSpPr>
        <p:spPr bwMode="auto">
          <a:xfrm>
            <a:off x="5971607"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 </a:t>
            </a:r>
          </a:p>
        </p:txBody>
      </p:sp>
      <p:sp>
        <p:nvSpPr>
          <p:cNvPr id="6" name="Rectangle 5"/>
          <p:cNvSpPr/>
          <p:nvPr/>
        </p:nvSpPr>
        <p:spPr>
          <a:xfrm>
            <a:off x="831085" y="1483916"/>
            <a:ext cx="2586990" cy="646331"/>
          </a:xfrm>
          <a:prstGeom prst="rect">
            <a:avLst/>
          </a:prstGeom>
        </p:spPr>
        <p:txBody>
          <a:bodyPr wrap="none">
            <a:spAutoFit/>
          </a:bodyPr>
          <a:lstStyle/>
          <a:p>
            <a:r>
              <a:rPr lang="en-US" sz="3600" b="1" dirty="0" smtClean="0">
                <a:latin typeface="Arial" panose="020B0604020202020204" pitchFamily="34" charset="0"/>
              </a:rPr>
              <a:t>Table Loan</a:t>
            </a:r>
            <a:endParaRPr lang="en-US" sz="3600" dirty="0"/>
          </a:p>
        </p:txBody>
      </p:sp>
      <p:graphicFrame>
        <p:nvGraphicFramePr>
          <p:cNvPr id="7" name="Table 6"/>
          <p:cNvGraphicFramePr>
            <a:graphicFrameLocks noGrp="1"/>
          </p:cNvGraphicFramePr>
          <p:nvPr>
            <p:extLst>
              <p:ext uri="{D42A27DB-BD31-4B8C-83A1-F6EECF244321}">
                <p14:modId xmlns:p14="http://schemas.microsoft.com/office/powerpoint/2010/main" val="337293981"/>
              </p:ext>
            </p:extLst>
          </p:nvPr>
        </p:nvGraphicFramePr>
        <p:xfrm>
          <a:off x="6791700" y="1593393"/>
          <a:ext cx="3815340" cy="1463040"/>
        </p:xfrm>
        <a:graphic>
          <a:graphicData uri="http://schemas.openxmlformats.org/drawingml/2006/table">
            <a:tbl>
              <a:tblPr>
                <a:tableStyleId>{69C7853C-536D-4A76-A0AE-DD22124D55A5}</a:tableStyleId>
              </a:tblPr>
              <a:tblGrid>
                <a:gridCol w="2113149"/>
                <a:gridCol w="1702191"/>
              </a:tblGrid>
              <a:tr h="0">
                <a:tc>
                  <a:txBody>
                    <a:bodyPr/>
                    <a:lstStyle/>
                    <a:p>
                      <a:r>
                        <a:rPr lang="en-US"/>
                        <a:t>Customer name</a:t>
                      </a:r>
                    </a:p>
                  </a:txBody>
                  <a:tcPr anchor="ctr"/>
                </a:tc>
                <a:tc>
                  <a:txBody>
                    <a:bodyPr/>
                    <a:lstStyle/>
                    <a:p>
                      <a:r>
                        <a:rPr lang="en-US"/>
                        <a:t>Loan number</a:t>
                      </a:r>
                    </a:p>
                  </a:txBody>
                  <a:tcPr anchor="ctr"/>
                </a:tc>
              </a:tr>
              <a:tr h="0">
                <a:tc>
                  <a:txBody>
                    <a:bodyPr/>
                    <a:lstStyle/>
                    <a:p>
                      <a:r>
                        <a:rPr lang="en-US"/>
                        <a:t>Saurabh</a:t>
                      </a:r>
                    </a:p>
                  </a:txBody>
                  <a:tcPr anchor="ctr"/>
                </a:tc>
                <a:tc>
                  <a:txBody>
                    <a:bodyPr/>
                    <a:lstStyle/>
                    <a:p>
                      <a:r>
                        <a:rPr lang="en-US"/>
                        <a:t>L33</a:t>
                      </a:r>
                    </a:p>
                  </a:txBody>
                  <a:tcPr anchor="ctr"/>
                </a:tc>
              </a:tr>
              <a:tr h="0">
                <a:tc>
                  <a:txBody>
                    <a:bodyPr/>
                    <a:lstStyle/>
                    <a:p>
                      <a:r>
                        <a:rPr lang="en-US"/>
                        <a:t>Mehak</a:t>
                      </a:r>
                    </a:p>
                  </a:txBody>
                  <a:tcPr anchor="ctr"/>
                </a:tc>
                <a:tc>
                  <a:txBody>
                    <a:bodyPr/>
                    <a:lstStyle/>
                    <a:p>
                      <a:r>
                        <a:rPr lang="en-US"/>
                        <a:t>L49</a:t>
                      </a:r>
                    </a:p>
                  </a:txBody>
                  <a:tcPr anchor="ctr"/>
                </a:tc>
              </a:tr>
              <a:tr h="0">
                <a:tc>
                  <a:txBody>
                    <a:bodyPr/>
                    <a:lstStyle/>
                    <a:p>
                      <a:r>
                        <a:rPr lang="en-US"/>
                        <a:t>Ria</a:t>
                      </a:r>
                    </a:p>
                  </a:txBody>
                  <a:tcPr anchor="ctr"/>
                </a:tc>
                <a:tc>
                  <a:txBody>
                    <a:bodyPr/>
                    <a:lstStyle/>
                    <a:p>
                      <a:r>
                        <a:rPr lang="en-US" dirty="0"/>
                        <a:t>L98</a:t>
                      </a:r>
                    </a:p>
                  </a:txBody>
                  <a:tcPr anchor="ctr"/>
                </a:tc>
              </a:tr>
            </a:tbl>
          </a:graphicData>
        </a:graphic>
      </p:graphicFrame>
      <p:sp>
        <p:nvSpPr>
          <p:cNvPr id="8" name="Rectangle 2"/>
          <p:cNvSpPr>
            <a:spLocks noChangeArrowheads="1"/>
          </p:cNvSpPr>
          <p:nvPr/>
        </p:nvSpPr>
        <p:spPr bwMode="auto">
          <a:xfrm>
            <a:off x="7271214" y="92438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Table Borrower</a:t>
            </a:r>
            <a:r>
              <a:rPr kumimoji="0" lang="en-US" sz="1800" b="0" i="0" u="none" strike="noStrike" cap="none" normalizeH="0" baseline="0" dirty="0" smtClean="0">
                <a:ln>
                  <a:noFill/>
                </a:ln>
                <a:solidFill>
                  <a:schemeClr val="tx1"/>
                </a:solidFill>
                <a:effectLst/>
                <a:latin typeface="Arial" panose="020B0604020202020204" pitchFamily="34" charset="0"/>
              </a:rPr>
              <a:t> </a:t>
            </a:r>
          </a:p>
        </p:txBody>
      </p:sp>
      <p:graphicFrame>
        <p:nvGraphicFramePr>
          <p:cNvPr id="10" name="Table 9"/>
          <p:cNvGraphicFramePr>
            <a:graphicFrameLocks noGrp="1"/>
          </p:cNvGraphicFramePr>
          <p:nvPr>
            <p:extLst>
              <p:ext uri="{D42A27DB-BD31-4B8C-83A1-F6EECF244321}">
                <p14:modId xmlns:p14="http://schemas.microsoft.com/office/powerpoint/2010/main" val="1174242890"/>
              </p:ext>
            </p:extLst>
          </p:nvPr>
        </p:nvGraphicFramePr>
        <p:xfrm>
          <a:off x="6933822" y="4103742"/>
          <a:ext cx="4024910" cy="1752600"/>
        </p:xfrm>
        <a:graphic>
          <a:graphicData uri="http://schemas.openxmlformats.org/drawingml/2006/table">
            <a:tbl>
              <a:tblPr firstRow="1" bandRow="1">
                <a:tableStyleId>{0505E3EF-67EA-436B-97B2-0124C06EBD24}</a:tableStyleId>
              </a:tblPr>
              <a:tblGrid>
                <a:gridCol w="1655143"/>
                <a:gridCol w="2369767"/>
              </a:tblGrid>
              <a:tr h="370840">
                <a:tc>
                  <a:txBody>
                    <a:bodyPr/>
                    <a:lstStyle/>
                    <a:p>
                      <a:r>
                        <a:rPr lang="en-US" dirty="0"/>
                        <a:t>Customer name</a:t>
                      </a:r>
                    </a:p>
                  </a:txBody>
                  <a:tcPr anchor="ctr"/>
                </a:tc>
                <a:tc>
                  <a:txBody>
                    <a:bodyPr/>
                    <a:lstStyle/>
                    <a:p>
                      <a:r>
                        <a:rPr lang="en-US"/>
                        <a:t>Account number</a:t>
                      </a:r>
                    </a:p>
                  </a:txBody>
                  <a:tcPr anchor="ctr"/>
                </a:tc>
              </a:tr>
              <a:tr h="370840">
                <a:tc>
                  <a:txBody>
                    <a:bodyPr/>
                    <a:lstStyle/>
                    <a:p>
                      <a:r>
                        <a:rPr lang="en-US"/>
                        <a:t>Saurabh</a:t>
                      </a:r>
                    </a:p>
                  </a:txBody>
                  <a:tcPr anchor="ctr"/>
                </a:tc>
                <a:tc>
                  <a:txBody>
                    <a:bodyPr/>
                    <a:lstStyle/>
                    <a:p>
                      <a:r>
                        <a:rPr lang="en-US"/>
                        <a:t>1111</a:t>
                      </a:r>
                    </a:p>
                  </a:txBody>
                  <a:tcPr anchor="ctr"/>
                </a:tc>
              </a:tr>
              <a:tr h="370840">
                <a:tc>
                  <a:txBody>
                    <a:bodyPr/>
                    <a:lstStyle/>
                    <a:p>
                      <a:r>
                        <a:rPr lang="en-US"/>
                        <a:t>Mehak</a:t>
                      </a:r>
                    </a:p>
                  </a:txBody>
                  <a:tcPr anchor="ctr"/>
                </a:tc>
                <a:tc>
                  <a:txBody>
                    <a:bodyPr/>
                    <a:lstStyle/>
                    <a:p>
                      <a:r>
                        <a:rPr lang="en-US"/>
                        <a:t>1113</a:t>
                      </a:r>
                    </a:p>
                  </a:txBody>
                  <a:tcPr anchor="ctr"/>
                </a:tc>
              </a:tr>
              <a:tr h="370840">
                <a:tc>
                  <a:txBody>
                    <a:bodyPr/>
                    <a:lstStyle/>
                    <a:p>
                      <a:r>
                        <a:rPr lang="en-US"/>
                        <a:t>Suniti</a:t>
                      </a:r>
                    </a:p>
                  </a:txBody>
                  <a:tcPr anchor="ctr"/>
                </a:tc>
                <a:tc>
                  <a:txBody>
                    <a:bodyPr/>
                    <a:lstStyle/>
                    <a:p>
                      <a:r>
                        <a:rPr lang="en-US" dirty="0"/>
                        <a:t>1114</a:t>
                      </a:r>
                    </a:p>
                  </a:txBody>
                  <a:tcPr anchor="ctr"/>
                </a:tc>
              </a:tr>
            </a:tbl>
          </a:graphicData>
        </a:graphic>
      </p:graphicFrame>
      <p:sp>
        <p:nvSpPr>
          <p:cNvPr id="11" name="Rectangle 10"/>
          <p:cNvSpPr/>
          <p:nvPr/>
        </p:nvSpPr>
        <p:spPr>
          <a:xfrm>
            <a:off x="7271214" y="3356875"/>
            <a:ext cx="1973617" cy="369332"/>
          </a:xfrm>
          <a:prstGeom prst="rect">
            <a:avLst/>
          </a:prstGeom>
        </p:spPr>
        <p:txBody>
          <a:bodyPr wrap="none">
            <a:spAutoFit/>
          </a:bodyPr>
          <a:lstStyle/>
          <a:p>
            <a:r>
              <a:rPr lang="en-US" b="1" dirty="0" smtClean="0"/>
              <a:t>Table Depositor </a:t>
            </a:r>
            <a:endParaRPr lang="en-US" b="1" dirty="0" smtClean="0"/>
          </a:p>
        </p:txBody>
      </p:sp>
    </p:spTree>
    <p:extLst>
      <p:ext uri="{BB962C8B-B14F-4D97-AF65-F5344CB8AC3E}">
        <p14:creationId xmlns:p14="http://schemas.microsoft.com/office/powerpoint/2010/main" val="672175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b="1" dirty="0"/>
              <a:t>Example 1:</a:t>
            </a:r>
            <a:r>
              <a:rPr lang="en-US" dirty="0"/>
              <a:t> Find the loan number, branch, and amount of loans greater than or equal to 10000 amount</a:t>
            </a:r>
            <a:r>
              <a:rPr lang="en-US" dirty="0" smtClean="0"/>
              <a:t>.</a:t>
            </a:r>
          </a:p>
          <a:p>
            <a:r>
              <a:rPr lang="en-US" dirty="0"/>
              <a:t>{t| t ∈ loan  ∧ t[amount]&gt;=10000</a:t>
            </a:r>
            <a:r>
              <a:rPr lang="en-US" dirty="0" smtClean="0"/>
              <a:t>}</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867568194"/>
              </p:ext>
            </p:extLst>
          </p:nvPr>
        </p:nvGraphicFramePr>
        <p:xfrm>
          <a:off x="1103312" y="3802030"/>
          <a:ext cx="7467481" cy="1463040"/>
        </p:xfrm>
        <a:graphic>
          <a:graphicData uri="http://schemas.openxmlformats.org/drawingml/2006/table">
            <a:tbl>
              <a:tblPr>
                <a:tableStyleId>{69C7853C-536D-4A76-A0AE-DD22124D55A5}</a:tableStyleId>
              </a:tblPr>
              <a:tblGrid>
                <a:gridCol w="2049320"/>
                <a:gridCol w="2674961"/>
                <a:gridCol w="2743200"/>
              </a:tblGrid>
              <a:tr h="0">
                <a:tc>
                  <a:txBody>
                    <a:bodyPr/>
                    <a:lstStyle/>
                    <a:p>
                      <a:r>
                        <a:rPr lang="en-US" dirty="0"/>
                        <a:t>Loan number</a:t>
                      </a:r>
                    </a:p>
                  </a:txBody>
                  <a:tcPr anchor="ctr"/>
                </a:tc>
                <a:tc>
                  <a:txBody>
                    <a:bodyPr/>
                    <a:lstStyle/>
                    <a:p>
                      <a:r>
                        <a:rPr lang="en-US"/>
                        <a:t>Branch name</a:t>
                      </a:r>
                    </a:p>
                  </a:txBody>
                  <a:tcPr anchor="ctr"/>
                </a:tc>
                <a:tc>
                  <a:txBody>
                    <a:bodyPr/>
                    <a:lstStyle/>
                    <a:p>
                      <a:r>
                        <a:rPr lang="en-US"/>
                        <a:t>Amount</a:t>
                      </a:r>
                    </a:p>
                  </a:txBody>
                  <a:tcPr anchor="ctr"/>
                </a:tc>
              </a:tr>
              <a:tr h="0">
                <a:tc>
                  <a:txBody>
                    <a:bodyPr/>
                    <a:lstStyle/>
                    <a:p>
                      <a:r>
                        <a:rPr lang="en-US"/>
                        <a:t>L33</a:t>
                      </a:r>
                    </a:p>
                  </a:txBody>
                  <a:tcPr anchor="ctr"/>
                </a:tc>
                <a:tc>
                  <a:txBody>
                    <a:bodyPr/>
                    <a:lstStyle/>
                    <a:p>
                      <a:r>
                        <a:rPr lang="en-US"/>
                        <a:t>ABC</a:t>
                      </a:r>
                    </a:p>
                  </a:txBody>
                  <a:tcPr anchor="ctr"/>
                </a:tc>
                <a:tc>
                  <a:txBody>
                    <a:bodyPr/>
                    <a:lstStyle/>
                    <a:p>
                      <a:r>
                        <a:rPr lang="en-US"/>
                        <a:t>10000</a:t>
                      </a:r>
                    </a:p>
                  </a:txBody>
                  <a:tcPr anchor="ctr"/>
                </a:tc>
              </a:tr>
              <a:tr h="0">
                <a:tc>
                  <a:txBody>
                    <a:bodyPr/>
                    <a:lstStyle/>
                    <a:p>
                      <a:r>
                        <a:rPr lang="en-US" dirty="0"/>
                        <a:t>L35</a:t>
                      </a:r>
                    </a:p>
                  </a:txBody>
                  <a:tcPr anchor="ctr"/>
                </a:tc>
                <a:tc>
                  <a:txBody>
                    <a:bodyPr/>
                    <a:lstStyle/>
                    <a:p>
                      <a:r>
                        <a:rPr lang="en-US"/>
                        <a:t>DEF</a:t>
                      </a:r>
                    </a:p>
                  </a:txBody>
                  <a:tcPr anchor="ctr"/>
                </a:tc>
                <a:tc>
                  <a:txBody>
                    <a:bodyPr/>
                    <a:lstStyle/>
                    <a:p>
                      <a:r>
                        <a:rPr lang="en-US"/>
                        <a:t>15000</a:t>
                      </a:r>
                    </a:p>
                  </a:txBody>
                  <a:tcPr anchor="ctr"/>
                </a:tc>
              </a:tr>
              <a:tr h="0">
                <a:tc>
                  <a:txBody>
                    <a:bodyPr/>
                    <a:lstStyle/>
                    <a:p>
                      <a:r>
                        <a:rPr lang="en-US"/>
                        <a:t>L98</a:t>
                      </a:r>
                    </a:p>
                  </a:txBody>
                  <a:tcPr anchor="ctr"/>
                </a:tc>
                <a:tc>
                  <a:txBody>
                    <a:bodyPr/>
                    <a:lstStyle/>
                    <a:p>
                      <a:r>
                        <a:rPr lang="en-US"/>
                        <a:t>DEF</a:t>
                      </a:r>
                    </a:p>
                  </a:txBody>
                  <a:tcPr anchor="ctr"/>
                </a:tc>
                <a:tc>
                  <a:txBody>
                    <a:bodyPr/>
                    <a:lstStyle/>
                    <a:p>
                      <a:r>
                        <a:rPr lang="en-US" dirty="0"/>
                        <a:t>65000</a:t>
                      </a:r>
                    </a:p>
                  </a:txBody>
                  <a:tcPr anchor="ctr"/>
                </a:tc>
              </a:tr>
            </a:tbl>
          </a:graphicData>
        </a:graphic>
      </p:graphicFrame>
      <p:sp>
        <p:nvSpPr>
          <p:cNvPr id="6" name="Rectangle 2"/>
          <p:cNvSpPr>
            <a:spLocks noChangeArrowheads="1"/>
          </p:cNvSpPr>
          <p:nvPr/>
        </p:nvSpPr>
        <p:spPr bwMode="auto">
          <a:xfrm>
            <a:off x="1103312" y="32693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Resulting relation: </a:t>
            </a:r>
          </a:p>
        </p:txBody>
      </p:sp>
    </p:spTree>
    <p:extLst>
      <p:ext uri="{BB962C8B-B14F-4D97-AF65-F5344CB8AC3E}">
        <p14:creationId xmlns:p14="http://schemas.microsoft.com/office/powerpoint/2010/main" val="13170941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120</TotalTime>
  <Words>1272</Words>
  <Application>Microsoft Office PowerPoint</Application>
  <PresentationFormat>Widescreen</PresentationFormat>
  <Paragraphs>244</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Century Gothic</vt:lpstr>
      <vt:lpstr>Wingdings 3</vt:lpstr>
      <vt:lpstr>Ion</vt:lpstr>
      <vt:lpstr>Relational Calculus </vt:lpstr>
      <vt:lpstr>What is Relational Calculus? </vt:lpstr>
      <vt:lpstr>Types of Relational Calculus in DBMS </vt:lpstr>
      <vt:lpstr>Tuple Relational Calculus (TRC)</vt:lpstr>
      <vt:lpstr>Tuple Relational Calculus (TRC) </vt:lpstr>
      <vt:lpstr>Cont..</vt:lpstr>
      <vt:lpstr>Let's take an example of a Customer Database and try to see how TRC expressions work.</vt:lpstr>
      <vt:lpstr>Cont..</vt:lpstr>
      <vt:lpstr>Example 2: Write a TRC query to get the customer id of all the Customers. </vt:lpstr>
      <vt:lpstr> example3:-  let’s say we have a table called “Employees”  with the following attributes:</vt:lpstr>
      <vt:lpstr>Domain Relational Calculus (DRC) </vt:lpstr>
      <vt:lpstr>Let's take the example of Customer Database and try to understand DRC queries with some examples.</vt:lpstr>
      <vt:lpstr>Result of the DRC query will be:</vt:lpstr>
      <vt:lpstr>For example: </vt:lpstr>
      <vt:lpstr>For example: </vt:lpstr>
      <vt:lpstr>Conclusion </vt:lpstr>
      <vt:lpstr>Tuple Relational Calculus Examples Table Customer  </vt:lpstr>
      <vt:lpstr>Cont…</vt:lpstr>
      <vt:lpstr>Cont..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Calculus </dc:title>
  <dc:creator>Windows User</dc:creator>
  <cp:lastModifiedBy>Windows User</cp:lastModifiedBy>
  <cp:revision>39</cp:revision>
  <dcterms:created xsi:type="dcterms:W3CDTF">2024-08-12T03:57:51Z</dcterms:created>
  <dcterms:modified xsi:type="dcterms:W3CDTF">2024-08-12T05:58:13Z</dcterms:modified>
</cp:coreProperties>
</file>
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2" r:id="rId4"/>
    <p:sldId id="274" r:id="rId5"/>
    <p:sldId id="283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  <p:sldId id="290" r:id="rId16"/>
    <p:sldId id="284" r:id="rId17"/>
    <p:sldId id="285" r:id="rId18"/>
    <p:sldId id="287" r:id="rId19"/>
    <p:sldId id="261" r:id="rId20"/>
    <p:sldId id="292" r:id="rId21"/>
    <p:sldId id="293" r:id="rId22"/>
    <p:sldId id="271" r:id="rId23"/>
    <p:sldId id="294" r:id="rId24"/>
    <p:sldId id="295" r:id="rId25"/>
    <p:sldId id="289" r:id="rId26"/>
    <p:sldId id="26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</a:rPr>
              <a:t>Numerical Python with Linear Algebra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Introduction to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/>
              <a:t>- </a:t>
            </a:r>
            <a:r>
              <a:rPr dirty="0">
                <a:solidFill>
                  <a:schemeClr val="tx2"/>
                </a:solidFill>
              </a:rPr>
              <a:t>NumPy is a library for numerical computations in Python</a:t>
            </a:r>
          </a:p>
          <a:p>
            <a:pPr marL="0" indent="0" algn="just">
              <a:buNone/>
            </a:pPr>
            <a:r>
              <a:rPr dirty="0">
                <a:solidFill>
                  <a:schemeClr val="tx2"/>
                </a:solidFill>
              </a:rPr>
              <a:t>- Provides multi-dimensional arrays, matrix operations, and linear algebra functions</a:t>
            </a:r>
          </a:p>
          <a:p>
            <a:pPr marL="0" indent="0" algn="just">
              <a:buNone/>
            </a:pPr>
            <a:r>
              <a:rPr dirty="0">
                <a:solidFill>
                  <a:schemeClr val="tx2"/>
                </a:solidFill>
              </a:rPr>
              <a:t>- Used in ML and Data Science for efficient computations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10CA-4F24-9446-A9F6-AF2C9208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A8CB1-B62C-24E6-48A2-AABE1D86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745023"/>
            <a:ext cx="8229600" cy="3753826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Creating and Manipulating Arrays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  <a:p>
            <a:pPr marL="400050" lvl="1" indent="0">
              <a:buNone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1. 1D Arrays (Vectors):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([1, 2, 3])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2. 2D Arrays (Matrices):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([[1, 2], [3, 4]])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3. Special Matrices: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np.zeros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(),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np.eye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() (Identity Matrix)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4.Stack arrays: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1800" i="1" dirty="0">
                <a:solidFill>
                  <a:schemeClr val="tx2"/>
                </a:solidFill>
                <a:latin typeface="Arial" panose="020B0604020202020204" pitchFamily="34" charset="0"/>
              </a:rPr>
              <a:t>Combining multiple features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1800" i="1" dirty="0">
                <a:solidFill>
                  <a:schemeClr val="tx2"/>
                </a:solidFill>
                <a:latin typeface="Arial" panose="020B0604020202020204" pitchFamily="34" charset="0"/>
              </a:rPr>
              <a:t>Merging datasets</a:t>
            </a: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1800" i="1" dirty="0">
                <a:solidFill>
                  <a:schemeClr val="tx2"/>
                </a:solidFill>
                <a:latin typeface="Arial" panose="020B0604020202020204" pitchFamily="34" charset="0"/>
              </a:rPr>
              <a:t>Creating feature matrices</a:t>
            </a:r>
            <a:endParaRPr lang="en-US" altLang="en-US" sz="1800" i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1714500" lvl="4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D8768-78C8-F089-8329-D3CBFCBC82FE}"/>
              </a:ext>
            </a:extLst>
          </p:cNvPr>
          <p:cNvSpPr txBox="1"/>
          <p:nvPr/>
        </p:nvSpPr>
        <p:spPr>
          <a:xfrm>
            <a:off x="685800" y="4388906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Vectorized Operations (Ex: Images, Euclidean)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Advanced </a:t>
            </a:r>
            <a:r>
              <a:rPr lang="en-US" sz="3200" dirty="0" err="1">
                <a:solidFill>
                  <a:srgbClr val="FF0000"/>
                </a:solidFill>
              </a:rPr>
              <a:t>Numpy</a:t>
            </a:r>
            <a:r>
              <a:rPr lang="en-US" sz="3200" dirty="0">
                <a:solidFill>
                  <a:srgbClr val="FF0000"/>
                </a:solidFill>
              </a:rPr>
              <a:t>: reshaping/flattening and selection</a:t>
            </a:r>
          </a:p>
        </p:txBody>
      </p:sp>
    </p:spTree>
    <p:extLst>
      <p:ext uri="{BB962C8B-B14F-4D97-AF65-F5344CB8AC3E}">
        <p14:creationId xmlns:p14="http://schemas.microsoft.com/office/powerpoint/2010/main" val="50832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EF67E-8BBE-F6F6-6CB6-5CD7DC48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599156"/>
            <a:ext cx="8778240" cy="536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2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52A9-CAA6-4E40-7108-E83EDBA6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8501B-C901-6255-8AA9-DFE2FC4D7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5982"/>
            <a:ext cx="8750808" cy="66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4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Solving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</a:t>
            </a:r>
          </a:p>
          <a:p>
            <a:pPr marL="1257300" lvl="3" indent="0">
              <a:buNone/>
            </a:pP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Solve: 2x + 3y = 8, x - 4y = -2</a:t>
            </a:r>
          </a:p>
          <a:p>
            <a:pPr marL="1257300" lvl="3" indent="0">
              <a:buNone/>
            </a:pP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Solution using NumPy:</a:t>
            </a:r>
          </a:p>
          <a:p>
            <a:pPr marL="1257300" lvl="3" indent="0">
              <a:buNone/>
            </a:pP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A = </a:t>
            </a:r>
            <a:r>
              <a:rPr sz="2800"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([[2, 3], [1, -4]])</a:t>
            </a:r>
          </a:p>
          <a:p>
            <a:pPr marL="1257300" lvl="3" indent="0">
              <a:buNone/>
            </a:pP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b = </a:t>
            </a:r>
            <a:r>
              <a:rPr sz="2800"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([8, -2])</a:t>
            </a:r>
          </a:p>
          <a:p>
            <a:pPr marL="1257300" lvl="3" indent="0">
              <a:buNone/>
            </a:pP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solution = </a:t>
            </a:r>
            <a:r>
              <a:rPr sz="2800" dirty="0" err="1">
                <a:solidFill>
                  <a:schemeClr val="tx2">
                    <a:lumMod val="75000"/>
                  </a:schemeClr>
                </a:solidFill>
              </a:rPr>
              <a:t>np.linalg.solve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</a:rPr>
              <a:t>(A, 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Pandas </a:t>
            </a:r>
            <a:r>
              <a:rPr dirty="0" err="1">
                <a:solidFill>
                  <a:srgbClr val="002060"/>
                </a:solidFill>
              </a:rPr>
              <a:t>DataFrames</a:t>
            </a:r>
            <a:r>
              <a:rPr dirty="0">
                <a:solidFill>
                  <a:srgbClr val="002060"/>
                </a:solidFill>
              </a:rPr>
              <a:t>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 Data Manipulation &amp; Analysis in ML using Pandas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What is Pandas?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sz="3300" dirty="0">
                <a:solidFill>
                  <a:schemeClr val="tx2">
                    <a:lumMod val="75000"/>
                  </a:schemeClr>
                </a:solidFill>
              </a:rPr>
              <a:t>Pandas is a Python library used for data manipulation and analysis. It provides DataFrames, a powerful tabular data structure similar to an Excel sheet or SQL table.</a:t>
            </a:r>
            <a:endParaRPr lang="en-IN" sz="3300" dirty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A </a:t>
            </a:r>
            <a:r>
              <a:rPr lang="en-US" sz="3300" b="1" dirty="0">
                <a:solidFill>
                  <a:schemeClr val="tx2">
                    <a:lumMod val="75000"/>
                  </a:schemeClr>
                </a:solidFill>
              </a:rPr>
              <a:t>DataFrame</a:t>
            </a: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 is a </a:t>
            </a:r>
            <a:r>
              <a:rPr lang="en-US" sz="3300" b="1" dirty="0">
                <a:solidFill>
                  <a:schemeClr val="tx2">
                    <a:lumMod val="75000"/>
                  </a:schemeClr>
                </a:solidFill>
              </a:rPr>
              <a:t>two-dimensional labeled data structure</a:t>
            </a: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 in Python provided by the </a:t>
            </a:r>
            <a:r>
              <a:rPr lang="en-US" sz="3300" b="1" dirty="0">
                <a:solidFill>
                  <a:schemeClr val="tx2">
                    <a:lumMod val="75000"/>
                  </a:schemeClr>
                </a:solidFill>
              </a:rPr>
              <a:t>Pandas library</a:t>
            </a: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. It is similar to a </a:t>
            </a:r>
            <a:r>
              <a:rPr lang="en-US" sz="3300" b="1" dirty="0">
                <a:solidFill>
                  <a:schemeClr val="tx2">
                    <a:lumMod val="75000"/>
                  </a:schemeClr>
                </a:solidFill>
              </a:rPr>
              <a:t>table in a database or an Excel spreadsheet</a:t>
            </a: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Pandas is crucial for data preprocessing in ML.</a:t>
            </a:r>
          </a:p>
          <a:p>
            <a:pPr algn="just">
              <a:lnSpc>
                <a:spcPct val="120000"/>
              </a:lnSpc>
            </a:pP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Helps in cleaning, transforming, and analyzing data.</a:t>
            </a:r>
          </a:p>
          <a:p>
            <a:pPr algn="just">
              <a:lnSpc>
                <a:spcPct val="120000"/>
              </a:lnSpc>
            </a:pPr>
            <a:r>
              <a:rPr lang="en-US" sz="3300" dirty="0">
                <a:solidFill>
                  <a:schemeClr val="tx2">
                    <a:lumMod val="75000"/>
                  </a:schemeClr>
                </a:solidFill>
              </a:rPr>
              <a:t>Essential for feature engineering and model preparation.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Creating a Pandas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Example:</a:t>
            </a:r>
          </a:p>
          <a:p>
            <a:endParaRPr dirty="0"/>
          </a:p>
          <a:p>
            <a:r>
              <a:rPr dirty="0"/>
              <a:t>import pandas as pd</a:t>
            </a:r>
          </a:p>
          <a:p>
            <a:endParaRPr dirty="0"/>
          </a:p>
          <a:p>
            <a:r>
              <a:rPr dirty="0"/>
              <a:t>data = {'Name': ['Alice', 'Bob', 'Cha</a:t>
            </a:r>
            <a:r>
              <a:rPr lang="en-IN" dirty="0" err="1"/>
              <a:t>nd</a:t>
            </a:r>
            <a:r>
              <a:rPr dirty="0"/>
              <a:t>'], 'Age': [25, 30, 35]}</a:t>
            </a:r>
          </a:p>
          <a:p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pd.DataFrame</a:t>
            </a:r>
            <a:r>
              <a:rPr dirty="0"/>
              <a:t>(data)</a:t>
            </a:r>
          </a:p>
          <a:p>
            <a:r>
              <a:rPr dirty="0"/>
              <a:t>print(</a:t>
            </a:r>
            <a:r>
              <a:rPr dirty="0" err="1"/>
              <a:t>df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Loading Data into a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supports multiple file formats:</a:t>
            </a:r>
          </a:p>
          <a:p>
            <a:endParaRPr dirty="0"/>
          </a:p>
          <a:p>
            <a:r>
              <a:rPr dirty="0"/>
              <a:t>- CSV: </a:t>
            </a: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('data.csv')</a:t>
            </a:r>
          </a:p>
          <a:p>
            <a:r>
              <a:rPr dirty="0"/>
              <a:t>- Excel: </a:t>
            </a: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pd.read_excel</a:t>
            </a:r>
            <a:r>
              <a:rPr dirty="0"/>
              <a:t>('data.xlsx')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df.head()  # First 5 rows</a:t>
            </a:r>
          </a:p>
          <a:p>
            <a:r>
              <a:t>- df.tail()  # Last 5 rows</a:t>
            </a:r>
          </a:p>
          <a:p>
            <a:r>
              <a:t>- df.info()  # Data types and non-null values</a:t>
            </a:r>
          </a:p>
          <a:p>
            <a:r>
              <a:t>- df.describe()  # Summary statistics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Selecting &amp; 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Selecting Columns:</a:t>
            </a:r>
          </a:p>
          <a:p>
            <a:r>
              <a:rPr dirty="0"/>
              <a:t> </a:t>
            </a:r>
            <a:r>
              <a:rPr dirty="0" err="1"/>
              <a:t>df</a:t>
            </a:r>
            <a:r>
              <a:rPr dirty="0"/>
              <a:t>['Age']</a:t>
            </a:r>
          </a:p>
          <a:p>
            <a:endParaRPr dirty="0"/>
          </a:p>
          <a:p>
            <a:r>
              <a:rPr dirty="0"/>
              <a:t>Filtering Rows:</a:t>
            </a:r>
          </a:p>
          <a:p>
            <a:r>
              <a:rPr dirty="0"/>
              <a:t> </a:t>
            </a: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['Salary'] &gt; 60000]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 Preprocessing for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Drop categorical columns: df.drop('Name', axis=1)</a:t>
            </a:r>
          </a:p>
          <a:p>
            <a:r>
              <a:t>- Normalize salary: </a:t>
            </a:r>
          </a:p>
          <a:p>
            <a:r>
              <a:t> from sklearn.preprocessing import MinMaxScaler</a:t>
            </a:r>
          </a:p>
          <a:p>
            <a:r>
              <a:t> scaler = MinMaxScaler()</a:t>
            </a:r>
          </a:p>
          <a:p>
            <a:r>
              <a:t> df['Salary'] = scaler.fit_transform(df[['Salary']])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Training a 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50808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from </a:t>
            </a:r>
            <a:r>
              <a:rPr dirty="0" err="1"/>
              <a:t>sklearn.linear_model</a:t>
            </a:r>
            <a:r>
              <a:rPr dirty="0"/>
              <a:t> import </a:t>
            </a:r>
            <a:r>
              <a:rPr dirty="0" err="1"/>
              <a:t>LinearRegression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model = </a:t>
            </a:r>
            <a:r>
              <a:rPr dirty="0" err="1"/>
              <a:t>LinearRegression</a:t>
            </a:r>
            <a:r>
              <a:rPr dirty="0"/>
              <a:t>()</a:t>
            </a:r>
          </a:p>
          <a:p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  <a:p>
            <a:r>
              <a:rPr dirty="0"/>
              <a:t>predictions = </a:t>
            </a:r>
            <a:r>
              <a:rPr dirty="0" err="1"/>
              <a:t>model.predict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9B88-A0B6-3CEB-E129-F05D36E8A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6616"/>
            <a:ext cx="8229600" cy="5678424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IN" sz="3300" b="1" dirty="0">
                <a:solidFill>
                  <a:srgbClr val="FF0000"/>
                </a:solidFill>
              </a:rPr>
              <a:t>Role of NumPy and Pandas in Dataset Preparation</a:t>
            </a:r>
          </a:p>
          <a:p>
            <a:pPr marL="0" indent="0" algn="ctr">
              <a:buNone/>
            </a:pPr>
            <a:endParaRPr lang="en-IN" sz="33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IN" sz="3300" b="1" dirty="0">
              <a:solidFill>
                <a:srgbClr val="FF0000"/>
              </a:solidFill>
            </a:endParaRPr>
          </a:p>
          <a:p>
            <a:pPr lvl="1"/>
            <a:r>
              <a:rPr lang="en-IN" b="1" dirty="0"/>
              <a:t>Using NumPy</a:t>
            </a:r>
          </a:p>
          <a:p>
            <a:pPr lvl="2"/>
            <a:r>
              <a:rPr lang="en-IN" i="1" dirty="0"/>
              <a:t>Convert data into arrays </a:t>
            </a:r>
          </a:p>
          <a:p>
            <a:pPr lvl="2"/>
            <a:r>
              <a:rPr lang="en-IN" i="1" dirty="0"/>
              <a:t>Perform mathematical operations </a:t>
            </a:r>
          </a:p>
          <a:p>
            <a:pPr lvl="2"/>
            <a:r>
              <a:rPr lang="en-IN" i="1" dirty="0"/>
              <a:t>Normalize/scale data </a:t>
            </a:r>
          </a:p>
          <a:p>
            <a:pPr lvl="2"/>
            <a:r>
              <a:rPr lang="en-IN" i="1" dirty="0"/>
              <a:t>Prepare matrices for ML models</a:t>
            </a:r>
          </a:p>
          <a:p>
            <a:pPr marL="457200" lvl="1" indent="0">
              <a:buNone/>
            </a:pPr>
            <a:endParaRPr lang="en-IN" b="1" dirty="0"/>
          </a:p>
          <a:p>
            <a:pPr lvl="1"/>
            <a:r>
              <a:rPr lang="en-IN" b="1" dirty="0"/>
              <a:t>Using Pandas</a:t>
            </a:r>
          </a:p>
          <a:p>
            <a:pPr lvl="2"/>
            <a:r>
              <a:rPr lang="en-IN" i="1" dirty="0"/>
              <a:t>Load datasets (CSV, Excel) </a:t>
            </a:r>
          </a:p>
          <a:p>
            <a:pPr lvl="2"/>
            <a:r>
              <a:rPr lang="en-IN" i="1" dirty="0"/>
              <a:t>Handle missing values </a:t>
            </a:r>
          </a:p>
          <a:p>
            <a:pPr lvl="2"/>
            <a:r>
              <a:rPr lang="en-IN" i="1" dirty="0"/>
              <a:t>Filter and group data </a:t>
            </a:r>
          </a:p>
          <a:p>
            <a:pPr lvl="2"/>
            <a:r>
              <a:rPr lang="en-IN" i="1" dirty="0"/>
              <a:t>Encode categorical variables </a:t>
            </a:r>
          </a:p>
          <a:p>
            <a:pPr lvl="2"/>
            <a:r>
              <a:rPr lang="en-IN" i="1" dirty="0"/>
              <a:t>Create features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123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2AE0-89EB-1977-301C-DADED0BB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4EE1D6-9F01-333D-C335-AD5A740C723D}"/>
              </a:ext>
            </a:extLst>
          </p:cNvPr>
          <p:cNvSpPr txBox="1"/>
          <p:nvPr/>
        </p:nvSpPr>
        <p:spPr>
          <a:xfrm>
            <a:off x="740664" y="474345"/>
            <a:ext cx="68762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import </a:t>
            </a:r>
            <a:r>
              <a:rPr lang="en-IN" dirty="0" err="1">
                <a:solidFill>
                  <a:schemeClr val="tx2"/>
                </a:solidFill>
              </a:rPr>
              <a:t>numpy</a:t>
            </a:r>
            <a:r>
              <a:rPr lang="en-IN" dirty="0">
                <a:solidFill>
                  <a:schemeClr val="tx2"/>
                </a:solidFill>
              </a:rPr>
              <a:t> as np</a:t>
            </a:r>
          </a:p>
          <a:p>
            <a:r>
              <a:rPr lang="en-IN" dirty="0">
                <a:solidFill>
                  <a:schemeClr val="tx2"/>
                </a:solidFill>
              </a:rPr>
              <a:t>from </a:t>
            </a:r>
            <a:r>
              <a:rPr lang="en-IN" dirty="0" err="1">
                <a:solidFill>
                  <a:schemeClr val="tx2"/>
                </a:solidFill>
              </a:rPr>
              <a:t>sklearn.linear_model</a:t>
            </a:r>
            <a:r>
              <a:rPr lang="en-IN" dirty="0">
                <a:solidFill>
                  <a:schemeClr val="tx2"/>
                </a:solidFill>
              </a:rPr>
              <a:t> import </a:t>
            </a:r>
            <a:r>
              <a:rPr lang="en-IN" dirty="0" err="1">
                <a:solidFill>
                  <a:schemeClr val="tx2"/>
                </a:solidFill>
              </a:rPr>
              <a:t>LinearRegression</a:t>
            </a:r>
            <a:endParaRPr lang="en-IN" dirty="0">
              <a:solidFill>
                <a:schemeClr val="tx2"/>
              </a:solidFill>
            </a:endParaRP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study = </a:t>
            </a:r>
            <a:r>
              <a:rPr lang="en-IN" dirty="0" err="1">
                <a:solidFill>
                  <a:schemeClr val="tx2"/>
                </a:solidFill>
              </a:rPr>
              <a:t>np.array</a:t>
            </a:r>
            <a:r>
              <a:rPr lang="en-IN" dirty="0">
                <a:solidFill>
                  <a:schemeClr val="tx2"/>
                </a:solidFill>
              </a:rPr>
              <a:t>([2,4,6,8])</a:t>
            </a:r>
          </a:p>
          <a:p>
            <a:r>
              <a:rPr lang="en-IN" dirty="0">
                <a:solidFill>
                  <a:schemeClr val="tx2"/>
                </a:solidFill>
              </a:rPr>
              <a:t>sleep = </a:t>
            </a:r>
            <a:r>
              <a:rPr lang="en-IN" dirty="0" err="1">
                <a:solidFill>
                  <a:schemeClr val="tx2"/>
                </a:solidFill>
              </a:rPr>
              <a:t>np.array</a:t>
            </a:r>
            <a:r>
              <a:rPr lang="en-IN" dirty="0">
                <a:solidFill>
                  <a:schemeClr val="tx2"/>
                </a:solidFill>
              </a:rPr>
              <a:t>([7,6,5,4])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X = </a:t>
            </a:r>
            <a:r>
              <a:rPr lang="en-IN" dirty="0" err="1">
                <a:solidFill>
                  <a:schemeClr val="tx2"/>
                </a:solidFill>
              </a:rPr>
              <a:t>np.column_stack</a:t>
            </a:r>
            <a:r>
              <a:rPr lang="en-IN" dirty="0">
                <a:solidFill>
                  <a:schemeClr val="tx2"/>
                </a:solidFill>
              </a:rPr>
              <a:t>((</a:t>
            </a:r>
            <a:r>
              <a:rPr lang="en-IN" dirty="0" err="1">
                <a:solidFill>
                  <a:schemeClr val="tx2"/>
                </a:solidFill>
              </a:rPr>
              <a:t>study,sleep</a:t>
            </a:r>
            <a:r>
              <a:rPr lang="en-IN" dirty="0">
                <a:solidFill>
                  <a:schemeClr val="tx2"/>
                </a:solidFill>
              </a:rPr>
              <a:t>))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y = </a:t>
            </a:r>
            <a:r>
              <a:rPr lang="en-IN" dirty="0" err="1">
                <a:solidFill>
                  <a:schemeClr val="tx2"/>
                </a:solidFill>
              </a:rPr>
              <a:t>np.array</a:t>
            </a:r>
            <a:r>
              <a:rPr lang="en-IN" dirty="0">
                <a:solidFill>
                  <a:schemeClr val="tx2"/>
                </a:solidFill>
              </a:rPr>
              <a:t>([50,60,70,80])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model = </a:t>
            </a:r>
            <a:r>
              <a:rPr lang="en-IN" dirty="0" err="1">
                <a:solidFill>
                  <a:schemeClr val="tx2"/>
                </a:solidFill>
              </a:rPr>
              <a:t>LinearRegression</a:t>
            </a:r>
            <a:r>
              <a:rPr lang="en-IN" dirty="0">
                <a:solidFill>
                  <a:schemeClr val="tx2"/>
                </a:solidFill>
              </a:rPr>
              <a:t>()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 err="1">
                <a:solidFill>
                  <a:schemeClr val="tx2"/>
                </a:solidFill>
              </a:rPr>
              <a:t>model.fit</a:t>
            </a:r>
            <a:r>
              <a:rPr lang="en-IN" dirty="0">
                <a:solidFill>
                  <a:schemeClr val="tx2"/>
                </a:solidFill>
              </a:rPr>
              <a:t>(</a:t>
            </a:r>
            <a:r>
              <a:rPr lang="en-IN" dirty="0" err="1">
                <a:solidFill>
                  <a:schemeClr val="tx2"/>
                </a:solidFill>
              </a:rPr>
              <a:t>X,y</a:t>
            </a:r>
            <a:r>
              <a:rPr lang="en-IN" dirty="0">
                <a:solidFill>
                  <a:schemeClr val="tx2"/>
                </a:solidFill>
              </a:rPr>
              <a:t>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prediction = </a:t>
            </a:r>
            <a:r>
              <a:rPr lang="en-IN" dirty="0" err="1">
                <a:solidFill>
                  <a:schemeClr val="tx2"/>
                </a:solidFill>
              </a:rPr>
              <a:t>model.predict</a:t>
            </a:r>
            <a:r>
              <a:rPr lang="en-IN" dirty="0">
                <a:solidFill>
                  <a:schemeClr val="tx2"/>
                </a:solidFill>
              </a:rPr>
              <a:t>([[5,6]])</a:t>
            </a:r>
          </a:p>
          <a:p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print("Predicted </a:t>
            </a:r>
            <a:r>
              <a:rPr lang="en-IN" dirty="0" err="1">
                <a:solidFill>
                  <a:schemeClr val="tx2"/>
                </a:solidFill>
              </a:rPr>
              <a:t>Score:",prediction</a:t>
            </a:r>
            <a:r>
              <a:rPr lang="en-IN" dirty="0">
                <a:solidFill>
                  <a:schemeClr val="tx2"/>
                </a:solidFill>
              </a:rPr>
              <a:t>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Predicted Score ≈ 65</a:t>
            </a:r>
          </a:p>
        </p:txBody>
      </p:sp>
    </p:spTree>
    <p:extLst>
      <p:ext uri="{BB962C8B-B14F-4D97-AF65-F5344CB8AC3E}">
        <p14:creationId xmlns:p14="http://schemas.microsoft.com/office/powerpoint/2010/main" val="716575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2E84-381D-EB40-EF43-58247BFB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468A7-F92B-D114-6D74-C9BC2D5E9AFF}"/>
              </a:ext>
            </a:extLst>
          </p:cNvPr>
          <p:cNvSpPr txBox="1"/>
          <p:nvPr/>
        </p:nvSpPr>
        <p:spPr>
          <a:xfrm>
            <a:off x="731520" y="41898"/>
            <a:ext cx="758037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Scikit-Learn (Machine Learning Library)</a:t>
            </a:r>
          </a:p>
          <a:p>
            <a:r>
              <a:rPr lang="en-IN" dirty="0"/>
              <a:t># Example: Linear Regression</a:t>
            </a:r>
          </a:p>
          <a:p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endParaRPr lang="en-IN" dirty="0"/>
          </a:p>
          <a:p>
            <a:r>
              <a:rPr lang="en-IN" dirty="0"/>
              <a:t># Input feature (Years of work experience)</a:t>
            </a:r>
          </a:p>
          <a:p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([1, 2, 3, 4, 5]).reshape(-1, 1)</a:t>
            </a:r>
          </a:p>
          <a:p>
            <a:endParaRPr lang="en-IN" dirty="0"/>
          </a:p>
          <a:p>
            <a:r>
              <a:rPr lang="en-IN" dirty="0"/>
              <a:t># Target output (Salary in Lakhs)</a:t>
            </a:r>
          </a:p>
          <a:p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([2, 4, 5, 8, 9])</a:t>
            </a:r>
          </a:p>
          <a:p>
            <a:endParaRPr lang="en-IN" dirty="0"/>
          </a:p>
          <a:p>
            <a:r>
              <a:rPr lang="en-IN" dirty="0"/>
              <a:t># Create Linear Regression model</a:t>
            </a:r>
          </a:p>
          <a:p>
            <a:r>
              <a:rPr lang="en-IN" dirty="0"/>
              <a:t>model = </a:t>
            </a:r>
            <a:r>
              <a:rPr lang="en-IN" dirty="0" err="1"/>
              <a:t>LinearRegression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Train the model</a:t>
            </a:r>
          </a:p>
          <a:p>
            <a:r>
              <a:rPr lang="en-IN" dirty="0" err="1"/>
              <a:t>model.fit</a:t>
            </a:r>
            <a:r>
              <a:rPr lang="en-IN" dirty="0"/>
              <a:t>(X, y)</a:t>
            </a:r>
          </a:p>
          <a:p>
            <a:endParaRPr lang="en-IN" dirty="0"/>
          </a:p>
          <a:p>
            <a:r>
              <a:rPr lang="en-IN" dirty="0"/>
              <a:t># Predict salary for 6 years of experience</a:t>
            </a:r>
          </a:p>
          <a:p>
            <a:r>
              <a:rPr lang="en-IN" dirty="0"/>
              <a:t>prediction = </a:t>
            </a:r>
            <a:r>
              <a:rPr lang="en-IN" dirty="0" err="1"/>
              <a:t>model.predict</a:t>
            </a:r>
            <a:r>
              <a:rPr lang="en-IN" dirty="0"/>
              <a:t>([[6]])</a:t>
            </a:r>
          </a:p>
          <a:p>
            <a:endParaRPr lang="en-IN" dirty="0"/>
          </a:p>
          <a:p>
            <a:r>
              <a:rPr lang="en-IN" dirty="0"/>
              <a:t>print("Predicted Salary:", prediction)</a:t>
            </a:r>
          </a:p>
          <a:p>
            <a:endParaRPr lang="en-IN" dirty="0"/>
          </a:p>
          <a:p>
            <a:r>
              <a:rPr lang="en-IN" dirty="0"/>
              <a:t>Predicted Salary: [10.6]</a:t>
            </a:r>
          </a:p>
        </p:txBody>
      </p:sp>
    </p:spTree>
    <p:extLst>
      <p:ext uri="{BB962C8B-B14F-4D97-AF65-F5344CB8AC3E}">
        <p14:creationId xmlns:p14="http://schemas.microsoft.com/office/powerpoint/2010/main" val="370791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8">
            <a:extLst>
              <a:ext uri="{FF2B5EF4-FFF2-40B4-BE49-F238E27FC236}">
                <a16:creationId xmlns:a16="http://schemas.microsoft.com/office/drawing/2014/main" id="{044B873E-900D-3760-E62E-7FA602B3E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/>
          <a:stretch>
            <a:fillRect/>
          </a:stretch>
        </p:blipFill>
        <p:spPr bwMode="auto">
          <a:xfrm>
            <a:off x="126206" y="1022115"/>
            <a:ext cx="8891588" cy="2642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884F45-CB10-4BED-4049-08AFA34DBCA1}"/>
              </a:ext>
            </a:extLst>
          </p:cNvPr>
          <p:cNvSpPr txBox="1"/>
          <p:nvPr/>
        </p:nvSpPr>
        <p:spPr>
          <a:xfrm>
            <a:off x="1655064" y="181094"/>
            <a:ext cx="5687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Data visualization and plotting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58A77B-E73A-8AC6-37C4-B907EA2EF29E}"/>
              </a:ext>
            </a:extLst>
          </p:cNvPr>
          <p:cNvSpPr/>
          <p:nvPr/>
        </p:nvSpPr>
        <p:spPr>
          <a:xfrm>
            <a:off x="136525" y="104775"/>
            <a:ext cx="8810625" cy="6556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Scatter Plot – Visualizing Relationship Between Features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scatter plot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used to show relationships between two numerical features.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Line Plot – Model Performance Over Epochs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line plot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useful for tracking model training progress over time.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Histogram – Understanding Data Distribution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shows the frequency distribution of a feature.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Box Plot – Detecting Outliers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box plot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box-and-whisker plot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helps in detecting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numerical data.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– Correlation Between Features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shows feature relationships using colors.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 – Evaluating Classification Models</a:t>
            </a:r>
          </a:p>
          <a:p>
            <a:pPr algn="just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helps analyze model performance in classification tasks.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D6005703-701F-1F0F-F6D2-202F740EE9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Mathematical and Machine Learning Packages in Python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126E4-1C62-F10D-38C9-E9C5CE4CF9C6}"/>
              </a:ext>
            </a:extLst>
          </p:cNvPr>
          <p:cNvSpPr/>
          <p:nvPr/>
        </p:nvSpPr>
        <p:spPr>
          <a:xfrm>
            <a:off x="115888" y="34925"/>
            <a:ext cx="8458200" cy="2678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Python provides many libraries for mathematical computations and machine learning.</a:t>
            </a:r>
          </a:p>
          <a:p>
            <a:pPr algn="just">
              <a:defRPr/>
            </a:pPr>
            <a:r>
              <a:rPr lang="en-US" sz="2400" b="1" dirty="0"/>
              <a:t>SciPy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 scientific computing library built on </a:t>
            </a:r>
            <a:r>
              <a:rPr lang="en-US" sz="2400" dirty="0" err="1"/>
              <a:t>NumPy</a:t>
            </a:r>
            <a:r>
              <a:rPr lang="en-US" sz="24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Used for numerical integration, optimization, signal processing, etc.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400" dirty="0"/>
          </a:p>
        </p:txBody>
      </p:sp>
      <p:pic>
        <p:nvPicPr>
          <p:cNvPr id="3075" name="Picture 5">
            <a:extLst>
              <a:ext uri="{FF2B5EF4-FFF2-40B4-BE49-F238E27FC236}">
                <a16:creationId xmlns:a16="http://schemas.microsoft.com/office/drawing/2014/main" id="{75EC4772-DB26-E7DF-5509-B532DDC0D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332038"/>
            <a:ext cx="5948363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56A30-05F6-BE73-7F4B-BC9740913568}"/>
              </a:ext>
            </a:extLst>
          </p:cNvPr>
          <p:cNvSpPr/>
          <p:nvPr/>
        </p:nvSpPr>
        <p:spPr>
          <a:xfrm>
            <a:off x="115888" y="34925"/>
            <a:ext cx="8458200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endParaRPr lang="en-US" sz="2400" b="1" dirty="0"/>
          </a:p>
          <a:p>
            <a:pPr algn="just">
              <a:defRPr/>
            </a:pPr>
            <a:r>
              <a:rPr lang="en-US" sz="2400" b="1" dirty="0"/>
              <a:t>PIL (Python Imaging Library)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Used for image processing tasks like opening, manipulating, and saving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Pillow is the modern version of PIL.</a:t>
            </a:r>
          </a:p>
          <a:p>
            <a:pPr algn="just">
              <a:defRPr/>
            </a:pPr>
            <a:endParaRPr lang="en-US" sz="2400" dirty="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EA49E00B-8C91-0A25-C0A1-81C8D7B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2084388"/>
            <a:ext cx="7042150" cy="402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76A632-D126-38C8-CD86-CD125746A4AC}"/>
              </a:ext>
            </a:extLst>
          </p:cNvPr>
          <p:cNvSpPr/>
          <p:nvPr/>
        </p:nvSpPr>
        <p:spPr>
          <a:xfrm>
            <a:off x="115888" y="34925"/>
            <a:ext cx="8458200" cy="1446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endParaRPr lang="en-US" sz="2400" dirty="0"/>
          </a:p>
          <a:p>
            <a:pPr algn="just">
              <a:defRPr/>
            </a:pPr>
            <a:r>
              <a:rPr lang="en-US" sz="2400" b="1" dirty="0"/>
              <a:t>Scikit-learn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 powerful ML library for classification, regression, clustering, and more.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Contains preprocessing tools, ML models, and evaluation metrics.</a:t>
            </a:r>
            <a:endParaRPr lang="en-US" sz="2400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26D1FE1F-0C2B-EA11-751C-11CECC35C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571625"/>
            <a:ext cx="7026275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8C6D08-C27D-86F8-4CF4-1453AE9D06D6}"/>
              </a:ext>
            </a:extLst>
          </p:cNvPr>
          <p:cNvSpPr/>
          <p:nvPr/>
        </p:nvSpPr>
        <p:spPr>
          <a:xfrm>
            <a:off x="115888" y="34925"/>
            <a:ext cx="84582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algn="just">
              <a:defRPr/>
            </a:pPr>
            <a:r>
              <a:rPr lang="en-US" sz="2400" b="1" dirty="0" err="1"/>
              <a:t>Librosa</a:t>
            </a:r>
            <a:endParaRPr lang="en-US" sz="2400" b="1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 library for audio analysis and music information retrieval.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Used in speech and sound processing applications.</a:t>
            </a:r>
          </a:p>
          <a:p>
            <a:pPr algn="just">
              <a:defRPr/>
            </a:pPr>
            <a:endParaRPr lang="en-US" sz="2400" b="1" dirty="0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063000AA-51CF-4CBD-D3CA-2E6D2B271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1955800"/>
            <a:ext cx="7107238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3E1C375-0FBF-39C3-639F-59A6BDD22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0"/>
            <a:ext cx="7975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Box 3">
            <a:extLst>
              <a:ext uri="{FF2B5EF4-FFF2-40B4-BE49-F238E27FC236}">
                <a16:creationId xmlns:a16="http://schemas.microsoft.com/office/drawing/2014/main" id="{3D4FE308-D1AA-4C2F-0271-324321D53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88"/>
            <a:ext cx="3092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4000">
                <a:solidFill>
                  <a:srgbClr val="FF0000"/>
                </a:solidFill>
              </a:rPr>
              <a:t>KNN Classifier</a:t>
            </a:r>
            <a:endParaRPr lang="en-IN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6B60EB2-109F-B8AA-0DB9-DE92B11CE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0"/>
            <a:ext cx="82438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Box 3">
            <a:extLst>
              <a:ext uri="{FF2B5EF4-FFF2-40B4-BE49-F238E27FC236}">
                <a16:creationId xmlns:a16="http://schemas.microsoft.com/office/drawing/2014/main" id="{63FB0849-EC50-FFA9-4649-93EB9B32A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7000"/>
            <a:ext cx="3019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FF0000"/>
                </a:solidFill>
              </a:rPr>
              <a:t>Random 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1023</Words>
  <Application>Microsoft Office PowerPoint</Application>
  <PresentationFormat>On-screen Show (4:3)</PresentationFormat>
  <Paragraphs>165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Numerical Python with Linear Algebra</vt:lpstr>
      <vt:lpstr>Introduction to NumPy</vt:lpstr>
      <vt:lpstr>PowerPoint Presentation</vt:lpstr>
      <vt:lpstr>PowerPoint Presentation</vt:lpstr>
      <vt:lpstr>PowerPoint Presentation</vt:lpstr>
      <vt:lpstr>Solving Linear Equations</vt:lpstr>
      <vt:lpstr>Pandas DataFrames in Machine Learning</vt:lpstr>
      <vt:lpstr>What is Pandas?</vt:lpstr>
      <vt:lpstr>Creating a Pandas DataFrame</vt:lpstr>
      <vt:lpstr>Loading Data into a DataFrame</vt:lpstr>
      <vt:lpstr>Exploring Data</vt:lpstr>
      <vt:lpstr>Selecting &amp; Filtering Data</vt:lpstr>
      <vt:lpstr>Data Preprocessing for ML</vt:lpstr>
      <vt:lpstr>Training a Machine Learning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and Machine Learning Packages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Charles Stud A</dc:creator>
  <cp:keywords/>
  <dc:description>generated using python-pptx</dc:description>
  <cp:lastModifiedBy>Charles Stud A</cp:lastModifiedBy>
  <cp:revision>20</cp:revision>
  <dcterms:created xsi:type="dcterms:W3CDTF">2013-01-27T09:14:16Z</dcterms:created>
  <dcterms:modified xsi:type="dcterms:W3CDTF">2026-04-02T11:51:45Z</dcterms:modified>
  <cp:category/>
</cp:coreProperties>
</file>
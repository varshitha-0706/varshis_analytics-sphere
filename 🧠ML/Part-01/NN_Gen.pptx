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256" r:id="rId2"/>
    <p:sldId id="257" r:id="rId3"/>
    <p:sldId id="270" r:id="rId4"/>
    <p:sldId id="271" r:id="rId5"/>
    <p:sldId id="265" r:id="rId6"/>
    <p:sldId id="258" r:id="rId7"/>
    <p:sldId id="266" r:id="rId8"/>
    <p:sldId id="259" r:id="rId9"/>
    <p:sldId id="263" r:id="rId10"/>
    <p:sldId id="260" r:id="rId11"/>
    <p:sldId id="261" r:id="rId12"/>
    <p:sldId id="262" r:id="rId13"/>
    <p:sldId id="321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268" r:id="rId22"/>
    <p:sldId id="272" r:id="rId23"/>
    <p:sldId id="276" r:id="rId24"/>
    <p:sldId id="298" r:id="rId25"/>
    <p:sldId id="274" r:id="rId26"/>
    <p:sldId id="275" r:id="rId27"/>
    <p:sldId id="301" r:id="rId28"/>
    <p:sldId id="300" r:id="rId29"/>
    <p:sldId id="303" r:id="rId30"/>
    <p:sldId id="302" r:id="rId31"/>
    <p:sldId id="273" r:id="rId32"/>
    <p:sldId id="277" r:id="rId33"/>
    <p:sldId id="278" r:id="rId34"/>
    <p:sldId id="299" r:id="rId35"/>
    <p:sldId id="279" r:id="rId36"/>
    <p:sldId id="280" r:id="rId37"/>
    <p:sldId id="281" r:id="rId38"/>
    <p:sldId id="282" r:id="rId39"/>
    <p:sldId id="283" r:id="rId40"/>
    <p:sldId id="284" r:id="rId41"/>
    <p:sldId id="304" r:id="rId42"/>
    <p:sldId id="319" r:id="rId43"/>
    <p:sldId id="305" r:id="rId44"/>
    <p:sldId id="306" r:id="rId45"/>
    <p:sldId id="307" r:id="rId46"/>
    <p:sldId id="309" r:id="rId47"/>
    <p:sldId id="310" r:id="rId48"/>
    <p:sldId id="312" r:id="rId49"/>
    <p:sldId id="313" r:id="rId50"/>
    <p:sldId id="315" r:id="rId51"/>
    <p:sldId id="316" r:id="rId52"/>
    <p:sldId id="318" r:id="rId53"/>
    <p:sldId id="317" r:id="rId54"/>
    <p:sldId id="320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9FF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C9A6A-0E99-48D6-B59F-4D3FF313A0A2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F2F1D-85D3-4F9B-B7DF-31B340EB66D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1F2F1D-85D3-4F9B-B7DF-31B340EB66D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F3BE905-3055-4326-86B4-7E5FD2F04F67}" type="datetimeFigureOut">
              <a:rPr lang="en-US" smtClean="0"/>
              <a:pPr/>
              <a:t>9/19/2024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83DA9350-B2D5-44B2-AE92-278E9745415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topics/chemical-engineering/unsupervised-learning" TargetMode="External"/><Relationship Id="rId2" Type="http://schemas.openxmlformats.org/officeDocument/2006/relationships/hyperlink" Target="https://www.sciencedirect.com/topics/earth-and-planetary-sciences/artificial-neural-network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gradient-descent-algorithm-and-its-variants/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Neural Network and Genetic Algorithms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UNIT-2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Introduction to Artificial Neural Networks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Neural networks, also known as artificial neural networks (ANNs) or simulated neural networks (SNNs), are a subset of </a:t>
            </a:r>
            <a:r>
              <a:rPr lang="en-US" dirty="0" smtClean="0">
                <a:solidFill>
                  <a:srgbClr val="FF0000"/>
                </a:solidFill>
              </a:rPr>
              <a:t>machine learning</a:t>
            </a:r>
            <a:r>
              <a:rPr lang="en-US" dirty="0" smtClean="0"/>
              <a:t> and are at the heart of </a:t>
            </a:r>
            <a:r>
              <a:rPr lang="en-US" dirty="0" smtClean="0">
                <a:solidFill>
                  <a:srgbClr val="FF0000"/>
                </a:solidFill>
              </a:rPr>
              <a:t>deep learning</a:t>
            </a:r>
            <a:r>
              <a:rPr lang="en-US" dirty="0" smtClean="0"/>
              <a:t> algorithms. </a:t>
            </a:r>
          </a:p>
          <a:p>
            <a:r>
              <a:rPr lang="en-US" dirty="0" smtClean="0"/>
              <a:t>Their name and structure are inspired by the </a:t>
            </a:r>
            <a:r>
              <a:rPr lang="en-US" dirty="0" smtClean="0">
                <a:solidFill>
                  <a:srgbClr val="FF0000"/>
                </a:solidFill>
              </a:rPr>
              <a:t>human brain</a:t>
            </a:r>
            <a:r>
              <a:rPr lang="en-US" dirty="0" smtClean="0"/>
              <a:t>, mimicking the way that </a:t>
            </a:r>
            <a:r>
              <a:rPr lang="en-US" dirty="0" smtClean="0">
                <a:solidFill>
                  <a:srgbClr val="FF0000"/>
                </a:solidFill>
              </a:rPr>
              <a:t>biological neurons signal to one another.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81000"/>
            <a:ext cx="8229600" cy="1066800"/>
          </a:xfrm>
        </p:spPr>
        <p:txBody>
          <a:bodyPr/>
          <a:lstStyle/>
          <a:p>
            <a:r>
              <a:rPr lang="en-US" dirty="0" smtClean="0"/>
              <a:t>What is Neuron?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26736"/>
          </a:xfrm>
        </p:spPr>
        <p:txBody>
          <a:bodyPr>
            <a:normAutofit/>
          </a:bodyPr>
          <a:lstStyle/>
          <a:p>
            <a:r>
              <a:rPr lang="en-US" dirty="0" smtClean="0"/>
              <a:t>Neurons in deep learning models are </a:t>
            </a:r>
            <a:r>
              <a:rPr lang="en-US" dirty="0" smtClean="0">
                <a:solidFill>
                  <a:srgbClr val="FF0000"/>
                </a:solidFill>
              </a:rPr>
              <a:t>nodes </a:t>
            </a:r>
            <a:r>
              <a:rPr lang="en-US" dirty="0" smtClean="0"/>
              <a:t>through which </a:t>
            </a:r>
            <a:r>
              <a:rPr lang="en-US" dirty="0" smtClean="0">
                <a:solidFill>
                  <a:srgbClr val="FF0000"/>
                </a:solidFill>
              </a:rPr>
              <a:t>data and computations flow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Neurons work like this:</a:t>
            </a:r>
          </a:p>
          <a:p>
            <a:pPr fontAlgn="base"/>
            <a:r>
              <a:rPr lang="en-US" dirty="0" smtClean="0"/>
              <a:t>They receive </a:t>
            </a:r>
            <a:r>
              <a:rPr lang="en-US" dirty="0" smtClean="0">
                <a:solidFill>
                  <a:srgbClr val="FF0000"/>
                </a:solidFill>
              </a:rPr>
              <a:t>one or more input signals</a:t>
            </a:r>
            <a:r>
              <a:rPr lang="en-US" dirty="0" smtClean="0"/>
              <a:t>. These input signals can come from either the raw data set or from neurons positioned at a previous layer of the neural net.</a:t>
            </a:r>
          </a:p>
          <a:p>
            <a:pPr fontAlgn="base"/>
            <a:r>
              <a:rPr lang="en-US" dirty="0" smtClean="0"/>
              <a:t>They perform some </a:t>
            </a:r>
            <a:r>
              <a:rPr lang="en-US" dirty="0" smtClean="0">
                <a:solidFill>
                  <a:srgbClr val="FF0000"/>
                </a:solidFill>
              </a:rPr>
              <a:t>calculations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They send some </a:t>
            </a:r>
            <a:r>
              <a:rPr lang="en-US" dirty="0" smtClean="0">
                <a:solidFill>
                  <a:srgbClr val="FF0000"/>
                </a:solidFill>
              </a:rPr>
              <a:t>output signals to neurons </a:t>
            </a:r>
            <a:r>
              <a:rPr lang="en-US" dirty="0" smtClean="0"/>
              <a:t>deeper in the neural net through a synapse.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Functionality of a neuron in a deep learning neural net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0279" t="32562" r="21270" b="23385"/>
          <a:stretch>
            <a:fillRect/>
          </a:stretch>
        </p:blipFill>
        <p:spPr bwMode="auto">
          <a:xfrm>
            <a:off x="847344" y="1905000"/>
            <a:ext cx="7732776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8229600" cy="1066800"/>
          </a:xfrm>
        </p:spPr>
        <p:txBody>
          <a:bodyPr/>
          <a:lstStyle/>
          <a:p>
            <a:r>
              <a:rPr lang="en-US" dirty="0" smtClean="0"/>
              <a:t>Inspiration of neural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02936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human brain</a:t>
            </a:r>
            <a:r>
              <a:rPr lang="en-US" dirty="0" smtClean="0"/>
              <a:t> is the inspiration behind neural network architecture. Human brain cells, called neurons, form </a:t>
            </a:r>
            <a:r>
              <a:rPr lang="en-US" dirty="0" smtClean="0">
                <a:solidFill>
                  <a:srgbClr val="FF0000"/>
                </a:solidFill>
              </a:rPr>
              <a:t>a complex, highly interconnected network</a:t>
            </a:r>
            <a:r>
              <a:rPr lang="en-US" dirty="0" smtClean="0"/>
              <a:t> and send electrical signals to each other to help humans </a:t>
            </a:r>
            <a:r>
              <a:rPr lang="en-US" dirty="0" smtClean="0">
                <a:solidFill>
                  <a:srgbClr val="FF0000"/>
                </a:solidFill>
              </a:rPr>
              <a:t>process information.</a:t>
            </a:r>
            <a:r>
              <a:rPr lang="en-US" dirty="0" smtClean="0"/>
              <a:t> </a:t>
            </a:r>
          </a:p>
          <a:p>
            <a:r>
              <a:rPr lang="en-US" dirty="0" smtClean="0"/>
              <a:t>Similarly, an artificial neural network is made of </a:t>
            </a:r>
            <a:r>
              <a:rPr lang="en-US" dirty="0" smtClean="0">
                <a:solidFill>
                  <a:srgbClr val="FF0000"/>
                </a:solidFill>
              </a:rPr>
              <a:t>artificial neurons </a:t>
            </a:r>
            <a:r>
              <a:rPr lang="en-US" dirty="0" smtClean="0"/>
              <a:t>that work together to </a:t>
            </a:r>
            <a:r>
              <a:rPr lang="en-US" dirty="0" smtClean="0">
                <a:solidFill>
                  <a:srgbClr val="FF0000"/>
                </a:solidFill>
              </a:rPr>
              <a:t>solve a problem</a:t>
            </a:r>
            <a:r>
              <a:rPr lang="en-US" dirty="0" smtClean="0"/>
              <a:t>. Artificial neurons are software modules, </a:t>
            </a:r>
            <a:r>
              <a:rPr lang="en-US" dirty="0" smtClean="0">
                <a:solidFill>
                  <a:srgbClr val="FF0000"/>
                </a:solidFill>
              </a:rPr>
              <a:t>called nodes</a:t>
            </a:r>
            <a:r>
              <a:rPr lang="en-US" dirty="0" smtClean="0"/>
              <a:t>, and artificial neural networks are software programs or algorithms that, at their core, use computing systems to solve mathematical calculations.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Typical diagram of biological neural network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8297" t="14941" r="36130" b="44530"/>
          <a:stretch>
            <a:fillRect/>
          </a:stretch>
        </p:blipFill>
        <p:spPr bwMode="auto">
          <a:xfrm>
            <a:off x="1143000" y="2628900"/>
            <a:ext cx="6781800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NN comparison with ANN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54954" t="23752" r="7400" b="19860"/>
          <a:stretch>
            <a:fillRect/>
          </a:stretch>
        </p:blipFill>
        <p:spPr bwMode="auto">
          <a:xfrm>
            <a:off x="838200" y="2362200"/>
            <a:ext cx="6850856" cy="3846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36336"/>
          </a:xfrm>
        </p:spPr>
        <p:txBody>
          <a:bodyPr/>
          <a:lstStyle/>
          <a:p>
            <a:r>
              <a:rPr lang="en-US" dirty="0" smtClean="0"/>
              <a:t>Dendrites from Biological Neural Network represent inputs in Artificial Neural Networks, cell nucleus represents Nodes, synapse represents Weights, and Axon represents Output.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20278" t="53708" r="33158" b="12812"/>
          <a:stretch>
            <a:fillRect/>
          </a:stretch>
        </p:blipFill>
        <p:spPr bwMode="auto">
          <a:xfrm>
            <a:off x="1086853" y="3276600"/>
            <a:ext cx="6950242" cy="2809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229600" cy="1066800"/>
          </a:xfrm>
        </p:spPr>
        <p:txBody>
          <a:bodyPr/>
          <a:lstStyle/>
          <a:p>
            <a:r>
              <a:rPr lang="en-US" dirty="0" smtClean="0"/>
              <a:t>Applications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26736"/>
          </a:xfrm>
        </p:spPr>
        <p:txBody>
          <a:bodyPr/>
          <a:lstStyle/>
          <a:p>
            <a:r>
              <a:rPr lang="en-US" dirty="0" smtClean="0"/>
              <a:t>Neural networks are widely used in a variety of applications, including </a:t>
            </a:r>
            <a:r>
              <a:rPr lang="en-US" u="sng" dirty="0" smtClean="0">
                <a:solidFill>
                  <a:srgbClr val="FF0000"/>
                </a:solidFill>
              </a:rPr>
              <a:t>image recognition,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predictive modeling and natural language processing 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u="sng" dirty="0" smtClean="0">
                <a:solidFill>
                  <a:srgbClr val="FF0000"/>
                </a:solidFill>
              </a:rPr>
              <a:t>NLP)</a:t>
            </a:r>
            <a:r>
              <a:rPr lang="en-US" dirty="0" smtClean="0">
                <a:solidFill>
                  <a:srgbClr val="FF0000"/>
                </a:solidFill>
              </a:rPr>
              <a:t>. </a:t>
            </a:r>
          </a:p>
          <a:p>
            <a:r>
              <a:rPr lang="en-US" dirty="0" smtClean="0"/>
              <a:t>Examples of significant commercial applications since 2000 include handwriting recognition for check processing, speech-to-text transcription, oil exploration data analysis, weather prediction and </a:t>
            </a:r>
            <a:r>
              <a:rPr lang="en-US" u="sng" dirty="0" smtClean="0">
                <a:solidFill>
                  <a:srgbClr val="FF0000"/>
                </a:solidFill>
              </a:rPr>
              <a:t>facial recognition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1066800"/>
          </a:xfrm>
        </p:spPr>
        <p:txBody>
          <a:bodyPr/>
          <a:lstStyle/>
          <a:p>
            <a:r>
              <a:rPr lang="en-US" dirty="0" smtClean="0"/>
              <a:t>Typical Artificial Neural Network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8297" t="25514" r="40093" b="41006"/>
          <a:stretch>
            <a:fillRect/>
          </a:stretch>
        </p:blipFill>
        <p:spPr bwMode="auto">
          <a:xfrm>
            <a:off x="617623" y="2057400"/>
            <a:ext cx="8248354" cy="3984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of Neural Network</a:t>
            </a:r>
            <a:endParaRPr 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7214" t="30800" r="27214" b="35720"/>
          <a:stretch>
            <a:fillRect/>
          </a:stretch>
        </p:blipFill>
        <p:spPr bwMode="auto">
          <a:xfrm>
            <a:off x="790073" y="2438400"/>
            <a:ext cx="7872663" cy="3251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illustration of neural network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9288" t="27276" r="21270" b="32195"/>
          <a:stretch>
            <a:fillRect/>
          </a:stretch>
        </p:blipFill>
        <p:spPr bwMode="auto">
          <a:xfrm>
            <a:off x="685800" y="2743200"/>
            <a:ext cx="7752521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Learning is the most important aspect of an </a:t>
            </a:r>
            <a:r>
              <a:rPr lang="en-US" dirty="0" smtClean="0">
                <a:hlinkClick r:id="rId2" tooltip="Learn more about ANN from ScienceDirect's AI-generated Topic Pages"/>
              </a:rPr>
              <a:t>ANN</a:t>
            </a:r>
            <a:r>
              <a:rPr lang="en-US" dirty="0" smtClean="0"/>
              <a:t> model. There are mainly two types of learning, viz., supervised and </a:t>
            </a:r>
            <a:r>
              <a:rPr lang="en-US" dirty="0" smtClean="0">
                <a:hlinkClick r:id="rId3" tooltip="Learn more about unsupervised learning from ScienceDirect's AI-generated Topic Pages"/>
              </a:rPr>
              <a:t>unsupervised learning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The desired output of the ANN model is known in the case of supervised learning, but on the other hand, the desired output is unknown in unsupervised learning.</a:t>
            </a:r>
          </a:p>
          <a:p>
            <a:r>
              <a:rPr lang="en-US" dirty="0" smtClean="0"/>
              <a:t>Learning rule is an algorithm that helps in </a:t>
            </a:r>
            <a:r>
              <a:rPr lang="en-US" dirty="0" smtClean="0">
                <a:solidFill>
                  <a:srgbClr val="FF0000"/>
                </a:solidFill>
              </a:rPr>
              <a:t>improving the network performance. </a:t>
            </a:r>
            <a:r>
              <a:rPr lang="en-US" dirty="0" smtClean="0"/>
              <a:t>Various learning rules have been developed to train or update the weights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learning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(a) </a:t>
            </a:r>
            <a:r>
              <a:rPr lang="en-US" dirty="0" err="1" smtClean="0"/>
              <a:t>Hebbian</a:t>
            </a:r>
            <a:r>
              <a:rPr lang="en-US" dirty="0" smtClean="0"/>
              <a:t> learning rule</a:t>
            </a:r>
          </a:p>
          <a:p>
            <a:r>
              <a:rPr lang="en-US" dirty="0" smtClean="0"/>
              <a:t>(b)</a:t>
            </a:r>
            <a:r>
              <a:rPr lang="en-US" dirty="0" err="1" smtClean="0"/>
              <a:t>Perceptron</a:t>
            </a:r>
            <a:r>
              <a:rPr lang="en-US" dirty="0" smtClean="0"/>
              <a:t> learning rule</a:t>
            </a:r>
          </a:p>
          <a:p>
            <a:r>
              <a:rPr lang="en-US" dirty="0" smtClean="0"/>
              <a:t>(c)Delta learning rule</a:t>
            </a:r>
          </a:p>
          <a:p>
            <a:r>
              <a:rPr lang="en-US" dirty="0" smtClean="0"/>
              <a:t>(d)</a:t>
            </a:r>
            <a:r>
              <a:rPr lang="en-US" dirty="0" err="1" smtClean="0"/>
              <a:t>Outstar</a:t>
            </a:r>
            <a:r>
              <a:rPr lang="en-US" dirty="0" smtClean="0"/>
              <a:t> learning rule</a:t>
            </a:r>
          </a:p>
          <a:p>
            <a:r>
              <a:rPr lang="en-US" dirty="0" smtClean="0"/>
              <a:t>(e)Correlation learning rule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Perceptron</a:t>
            </a:r>
            <a:r>
              <a:rPr lang="en-US" dirty="0" smtClean="0"/>
              <a:t>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Perceptron</a:t>
            </a:r>
            <a:r>
              <a:rPr lang="en-US" dirty="0" smtClean="0"/>
              <a:t> learning is introduced by Frank Rosenblatt in 1957</a:t>
            </a:r>
          </a:p>
          <a:p>
            <a:r>
              <a:rPr lang="en-US" dirty="0" err="1" smtClean="0"/>
              <a:t>Perceptron</a:t>
            </a:r>
            <a:r>
              <a:rPr lang="en-US" dirty="0" smtClean="0"/>
              <a:t> is a linear Machine Learning algorithm used for supervised learning for various binary classifiers.</a:t>
            </a:r>
          </a:p>
          <a:p>
            <a:r>
              <a:rPr lang="en-US" dirty="0" smtClean="0"/>
              <a:t>It is the simplest type of </a:t>
            </a:r>
            <a:r>
              <a:rPr lang="en-US" dirty="0" err="1" smtClean="0"/>
              <a:t>feedforward</a:t>
            </a:r>
            <a:r>
              <a:rPr lang="en-US" dirty="0" smtClean="0"/>
              <a:t> neural network, consisting of a single layer of input nodes that are fully connected to a layer of output nodes.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Architecture of </a:t>
            </a:r>
            <a:r>
              <a:rPr lang="en-US" dirty="0" err="1" smtClean="0"/>
              <a:t>Perceptron</a:t>
            </a:r>
            <a:r>
              <a:rPr lang="en-US" dirty="0" smtClean="0"/>
              <a:t> Learning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7647" t="19629" r="34314" b="38520"/>
          <a:stretch>
            <a:fillRect/>
          </a:stretch>
        </p:blipFill>
        <p:spPr bwMode="auto">
          <a:xfrm>
            <a:off x="574675" y="2183363"/>
            <a:ext cx="7959725" cy="3898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Types of </a:t>
            </a:r>
            <a:r>
              <a:rPr lang="en-US" b="1" dirty="0" err="1" smtClean="0"/>
              <a:t>Perceptron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b="1" dirty="0" smtClean="0">
                <a:solidFill>
                  <a:srgbClr val="FFFF00"/>
                </a:solidFill>
              </a:rPr>
              <a:t>Single-Layer </a:t>
            </a:r>
            <a:r>
              <a:rPr lang="en-US" b="1" dirty="0" err="1" smtClean="0">
                <a:solidFill>
                  <a:srgbClr val="FFFF00"/>
                </a:solidFill>
              </a:rPr>
              <a:t>Perceptron</a:t>
            </a:r>
            <a:r>
              <a:rPr lang="en-US" b="1" dirty="0" smtClean="0">
                <a:solidFill>
                  <a:srgbClr val="FFFF00"/>
                </a:solidFill>
              </a:rPr>
              <a:t>:</a:t>
            </a:r>
            <a:r>
              <a:rPr lang="en-US" dirty="0" smtClean="0">
                <a:solidFill>
                  <a:srgbClr val="FFFF00"/>
                </a:solidFill>
              </a:rPr>
              <a:t> </a:t>
            </a:r>
            <a:r>
              <a:rPr lang="en-US" dirty="0" smtClean="0"/>
              <a:t>This type of </a:t>
            </a:r>
            <a:r>
              <a:rPr lang="en-US" dirty="0" err="1" smtClean="0"/>
              <a:t>perceptron</a:t>
            </a:r>
            <a:r>
              <a:rPr lang="en-US" dirty="0" smtClean="0"/>
              <a:t> is limited to learning linearly separable patterns. effective for tasks where the data can be divided into distinct categories through a straight line.</a:t>
            </a:r>
          </a:p>
          <a:p>
            <a:pPr fontAlgn="base"/>
            <a:r>
              <a:rPr lang="en-US" b="1" dirty="0" smtClean="0">
                <a:solidFill>
                  <a:srgbClr val="FFFF00"/>
                </a:solidFill>
              </a:rPr>
              <a:t>Multilayer </a:t>
            </a:r>
            <a:r>
              <a:rPr lang="en-US" b="1" dirty="0" err="1" smtClean="0">
                <a:solidFill>
                  <a:srgbClr val="FFFF00"/>
                </a:solidFill>
              </a:rPr>
              <a:t>Perceptron</a:t>
            </a:r>
            <a:r>
              <a:rPr lang="en-US" dirty="0" smtClean="0">
                <a:solidFill>
                  <a:srgbClr val="FFFF00"/>
                </a:solidFill>
              </a:rPr>
              <a:t>: </a:t>
            </a:r>
            <a:r>
              <a:rPr lang="en-US" dirty="0" smtClean="0"/>
              <a:t>Multilayer </a:t>
            </a:r>
            <a:r>
              <a:rPr lang="en-US" dirty="0" err="1" smtClean="0"/>
              <a:t>perceptrons</a:t>
            </a:r>
            <a:r>
              <a:rPr lang="en-US" dirty="0" smtClean="0"/>
              <a:t> possess enhanced processing capabilities as they consist of two or more layers, adept at handling more complex patterns and relationships within the 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43000"/>
            <a:ext cx="7772400" cy="40233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Basic Components of </a:t>
            </a:r>
            <a:r>
              <a:rPr lang="en-US" b="1" dirty="0" err="1" smtClean="0"/>
              <a:t>Perceptron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76400"/>
            <a:ext cx="7772400" cy="4679160"/>
          </a:xfrm>
        </p:spPr>
        <p:txBody>
          <a:bodyPr>
            <a:normAutofit/>
          </a:bodyPr>
          <a:lstStyle/>
          <a:p>
            <a:r>
              <a:rPr lang="en-US" dirty="0" smtClean="0"/>
              <a:t>The architecture of </a:t>
            </a:r>
            <a:r>
              <a:rPr lang="en-US" dirty="0" err="1" smtClean="0"/>
              <a:t>perceptron</a:t>
            </a:r>
            <a:r>
              <a:rPr lang="en-US" dirty="0" smtClean="0"/>
              <a:t> learning consists of four parameters.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1. Inputs: </a:t>
            </a:r>
            <a:r>
              <a:rPr lang="en-US" dirty="0" smtClean="0"/>
              <a:t>these are values which are given to </a:t>
            </a:r>
            <a:r>
              <a:rPr lang="en-US" dirty="0" err="1" smtClean="0"/>
              <a:t>perceptron</a:t>
            </a:r>
            <a:r>
              <a:rPr lang="en-US" dirty="0" smtClean="0"/>
              <a:t> neurons. If we are having 4 inputs then we also have four nodes.</a:t>
            </a: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2. Weights and Bias: </a:t>
            </a:r>
            <a:r>
              <a:rPr lang="en-US" dirty="0" smtClean="0"/>
              <a:t>Values between inputs and net inputs (output function). It takes the values of 0 and 1 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38200"/>
            <a:ext cx="7772400" cy="5517360"/>
          </a:xfrm>
        </p:spPr>
        <p:txBody>
          <a:bodyPr/>
          <a:lstStyle/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3. Net input function</a:t>
            </a:r>
            <a:r>
              <a:rPr lang="en-US" dirty="0" smtClean="0"/>
              <a:t>: This will be calculated by multiplying inputs and weights with bias.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           Yin= x1w1+x2w2+…+</a:t>
            </a:r>
            <a:r>
              <a:rPr lang="en-US" dirty="0" err="1" smtClean="0">
                <a:solidFill>
                  <a:srgbClr val="FF0000"/>
                </a:solidFill>
              </a:rPr>
              <a:t>xnwn+b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FF00"/>
                </a:solidFill>
              </a:rPr>
              <a:t>4. Activation function</a:t>
            </a:r>
            <a:r>
              <a:rPr lang="en-US" dirty="0" smtClean="0"/>
              <a:t>: Activation function will tell whether neuron will fire (or) not fire. In this learning we are using Step activation function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Perceptron</a:t>
            </a:r>
            <a:r>
              <a:rPr lang="en-US" dirty="0" smtClean="0"/>
              <a:t> Learning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7647" t="21373" r="30392" b="38520"/>
          <a:stretch>
            <a:fillRect/>
          </a:stretch>
        </p:blipFill>
        <p:spPr bwMode="auto">
          <a:xfrm>
            <a:off x="758687" y="1981200"/>
            <a:ext cx="8385313" cy="3638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Feed forward neural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Feed forward neural network 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Perceptron</a:t>
            </a:r>
            <a:r>
              <a:rPr lang="en-US" dirty="0" smtClean="0"/>
              <a:t> learning method</a:t>
            </a:r>
          </a:p>
          <a:p>
            <a:pPr>
              <a:buNone/>
            </a:pPr>
            <a:r>
              <a:rPr lang="en-US" dirty="0" smtClean="0"/>
              <a:t>Weights and activation functions</a:t>
            </a:r>
          </a:p>
          <a:p>
            <a:pPr>
              <a:buNone/>
            </a:pPr>
            <a:r>
              <a:rPr lang="en-US" dirty="0" smtClean="0"/>
              <a:t>Problem on feed forward(MP)</a:t>
            </a:r>
          </a:p>
          <a:p>
            <a:pPr>
              <a:buNone/>
            </a:pPr>
            <a:r>
              <a:rPr lang="en-US" dirty="0" smtClean="0"/>
              <a:t>Test and training data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dirty="0" smtClean="0"/>
              <a:t>Classification of data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6223" t="9655" r="15325" b="14574"/>
          <a:stretch>
            <a:fillRect/>
          </a:stretch>
        </p:blipFill>
        <p:spPr bwMode="auto">
          <a:xfrm>
            <a:off x="1219200" y="1524000"/>
            <a:ext cx="7246088" cy="4947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066800"/>
          </a:xfrm>
        </p:spPr>
        <p:txBody>
          <a:bodyPr/>
          <a:lstStyle/>
          <a:p>
            <a:r>
              <a:rPr lang="en-US" dirty="0" smtClean="0"/>
              <a:t>Back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5126736"/>
          </a:xfrm>
        </p:spPr>
        <p:txBody>
          <a:bodyPr>
            <a:normAutofit/>
          </a:bodyPr>
          <a:lstStyle/>
          <a:p>
            <a:r>
              <a:rPr lang="en-US" dirty="0" smtClean="0"/>
              <a:t>Back propagation is a widely used </a:t>
            </a:r>
            <a:r>
              <a:rPr lang="en-US" dirty="0" smtClean="0">
                <a:solidFill>
                  <a:srgbClr val="FF0000"/>
                </a:solidFill>
              </a:rPr>
              <a:t>algorithm</a:t>
            </a:r>
            <a:r>
              <a:rPr lang="en-US" dirty="0" smtClean="0"/>
              <a:t> for </a:t>
            </a:r>
            <a:r>
              <a:rPr lang="en-US" dirty="0" smtClean="0">
                <a:solidFill>
                  <a:srgbClr val="FF0000"/>
                </a:solidFill>
              </a:rPr>
              <a:t>training feed forward neural networks</a:t>
            </a:r>
            <a:r>
              <a:rPr lang="en-US" dirty="0" smtClean="0"/>
              <a:t>. It computes the </a:t>
            </a:r>
            <a:r>
              <a:rPr lang="en-US" dirty="0" smtClean="0">
                <a:solidFill>
                  <a:srgbClr val="00B0F0"/>
                </a:solidFill>
              </a:rPr>
              <a:t>gradient of the loss function</a:t>
            </a:r>
            <a:r>
              <a:rPr lang="en-US" dirty="0" smtClean="0"/>
              <a:t> with respect to the network weights. </a:t>
            </a:r>
          </a:p>
          <a:p>
            <a:r>
              <a:rPr lang="en-US" dirty="0" smtClean="0"/>
              <a:t>It is very efficient, directly computing the </a:t>
            </a:r>
            <a:r>
              <a:rPr lang="en-US" dirty="0" smtClean="0">
                <a:solidFill>
                  <a:srgbClr val="FF3300"/>
                </a:solidFill>
              </a:rPr>
              <a:t>gradient concerning each weight</a:t>
            </a:r>
            <a:r>
              <a:rPr lang="en-US" dirty="0" smtClean="0"/>
              <a:t>. </a:t>
            </a:r>
          </a:p>
          <a:p>
            <a:r>
              <a:rPr lang="en-US" dirty="0" smtClean="0"/>
              <a:t>This efficiency makes it possible to use gradient methods to train multi-layer networks and update weights to minimize loss; variants such as gradient descent or stochastic gradient descent are often used.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Loss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 A loss function is a mathematical function that quantifies the difference between predicted and actual values in a machine learning model.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 propagation">
            <a:extLst>
              <a:ext uri="{FF2B5EF4-FFF2-40B4-BE49-F238E27FC236}">
                <a16:creationId xmlns:a16="http://schemas.microsoft.com/office/drawing/2014/main" xmlns="" id="{45162E1A-DD65-4E3F-B204-1F1F930170F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04801" y="1066800"/>
            <a:ext cx="8458200" cy="5355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457200"/>
            <a:ext cx="4343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Back Propagation Flow chart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xmlns="" val="274590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al_network-9">
            <a:extLst>
              <a:ext uri="{FF2B5EF4-FFF2-40B4-BE49-F238E27FC236}">
                <a16:creationId xmlns:a16="http://schemas.microsoft.com/office/drawing/2014/main" xmlns="" id="{E9F589C6-3F06-4DC7-9EDA-CDD2628A0D4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49004" y="1371600"/>
            <a:ext cx="6044803" cy="4648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6096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 of back propagation with weights and activation function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3502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al network tutorial 1 - The back-propagation algorithm (Part 1).mp4_20180918_075130.156">
            <a:extLst>
              <a:ext uri="{FF2B5EF4-FFF2-40B4-BE49-F238E27FC236}">
                <a16:creationId xmlns:a16="http://schemas.microsoft.com/office/drawing/2014/main" xmlns="" id="{C4200D76-7619-4CD8-9937-1C1AF0F899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4286"/>
          <a:stretch>
            <a:fillRect/>
          </a:stretch>
        </p:blipFill>
        <p:spPr>
          <a:xfrm>
            <a:off x="1143000" y="685800"/>
            <a:ext cx="68580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894569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al network tutorial 1 - The back-propagation algorithm (Part 1).mp4_20180918_075309.061">
            <a:extLst>
              <a:ext uri="{FF2B5EF4-FFF2-40B4-BE49-F238E27FC236}">
                <a16:creationId xmlns:a16="http://schemas.microsoft.com/office/drawing/2014/main" xmlns="" id="{5FBB0579-7A50-4CF0-BE4E-0261E34406E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4110"/>
          <a:stretch>
            <a:fillRect/>
          </a:stretch>
        </p:blipFill>
        <p:spPr>
          <a:xfrm>
            <a:off x="1143000" y="685800"/>
            <a:ext cx="685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9697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al network tutorial 1 - The back-propagation algorithm (Part 1).mp4_20180918_080156.119">
            <a:extLst>
              <a:ext uri="{FF2B5EF4-FFF2-40B4-BE49-F238E27FC236}">
                <a16:creationId xmlns:a16="http://schemas.microsoft.com/office/drawing/2014/main" xmlns="" id="{18E78B70-C036-4A1E-A5CC-786F0E6F74E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6061"/>
          <a:stretch>
            <a:fillRect/>
          </a:stretch>
        </p:blipFill>
        <p:spPr>
          <a:xfrm>
            <a:off x="1143000" y="1219200"/>
            <a:ext cx="6858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66420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al network tutorial 1 - The back-propagation algorithm (Part 1).mp4_20180918_080701.013">
            <a:extLst>
              <a:ext uri="{FF2B5EF4-FFF2-40B4-BE49-F238E27FC236}">
                <a16:creationId xmlns:a16="http://schemas.microsoft.com/office/drawing/2014/main" xmlns="" id="{D15451BA-E94B-4522-A4C1-A4966F8D3B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6061"/>
          <a:stretch>
            <a:fillRect/>
          </a:stretch>
        </p:blipFill>
        <p:spPr>
          <a:xfrm>
            <a:off x="1143000" y="1143000"/>
            <a:ext cx="6858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13017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066800"/>
          </a:xfrm>
        </p:spPr>
        <p:txBody>
          <a:bodyPr>
            <a:normAutofit/>
          </a:bodyPr>
          <a:lstStyle/>
          <a:p>
            <a:r>
              <a:rPr lang="en-US" b="1" dirty="0" smtClean="0"/>
              <a:t>Features of Back Propagation: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4336"/>
          </a:xfrm>
        </p:spPr>
        <p:txBody>
          <a:bodyPr/>
          <a:lstStyle/>
          <a:p>
            <a:r>
              <a:rPr lang="en-US" dirty="0" smtClean="0"/>
              <a:t>It is the </a:t>
            </a:r>
            <a:r>
              <a:rPr lang="en-US" u="sng" dirty="0" smtClean="0">
                <a:hlinkClick r:id="rId2"/>
              </a:rPr>
              <a:t>gradient descent</a:t>
            </a:r>
            <a:r>
              <a:rPr lang="en-US" dirty="0" smtClean="0"/>
              <a:t> method as used in the case of simple </a:t>
            </a:r>
            <a:r>
              <a:rPr lang="en-US" dirty="0" err="1" smtClean="0"/>
              <a:t>perceptron</a:t>
            </a:r>
            <a:r>
              <a:rPr lang="en-US" dirty="0" smtClean="0"/>
              <a:t> network with the differentiable unit.</a:t>
            </a:r>
          </a:p>
          <a:p>
            <a:r>
              <a:rPr lang="en-US" dirty="0" smtClean="0"/>
              <a:t>It is different from other networks in respect to the process by which the weights are calculated during the learning period of the network.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Back propagation Algorithm: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Step 1:</a:t>
            </a:r>
            <a:r>
              <a:rPr lang="en-US" dirty="0" smtClean="0"/>
              <a:t> Inputs X, arrive through the pre connected path.</a:t>
            </a:r>
          </a:p>
          <a:p>
            <a:r>
              <a:rPr lang="en-US" b="1" dirty="0" smtClean="0"/>
              <a:t>Step 2:</a:t>
            </a:r>
            <a:r>
              <a:rPr lang="en-US" dirty="0" smtClean="0"/>
              <a:t> The input is modeled using true weights W. Weights are usually chosen randomly.</a:t>
            </a:r>
          </a:p>
          <a:p>
            <a:r>
              <a:rPr lang="en-US" b="1" dirty="0" smtClean="0"/>
              <a:t>Step 3: </a:t>
            </a:r>
            <a:r>
              <a:rPr lang="en-US" dirty="0" smtClean="0"/>
              <a:t>Calculate the output of each neuron from the input layer to the hidden layer to the output layer.</a:t>
            </a:r>
          </a:p>
          <a:p>
            <a:r>
              <a:rPr lang="en-US" b="1" dirty="0" smtClean="0"/>
              <a:t>Step 4:</a:t>
            </a:r>
            <a:r>
              <a:rPr lang="en-US" dirty="0" smtClean="0"/>
              <a:t> Calculate the error in the outputs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26736"/>
          </a:xfrm>
        </p:spPr>
        <p:txBody>
          <a:bodyPr/>
          <a:lstStyle/>
          <a:p>
            <a:r>
              <a:rPr lang="en-US" dirty="0" smtClean="0">
                <a:solidFill>
                  <a:srgbClr val="FF3300"/>
                </a:solidFill>
              </a:rPr>
              <a:t>Back propagation Error = Actual Output – Desired Output</a:t>
            </a:r>
          </a:p>
          <a:p>
            <a:pPr>
              <a:buNone/>
            </a:pPr>
            <a:endParaRPr lang="en-US" b="1" dirty="0" smtClean="0"/>
          </a:p>
          <a:p>
            <a:r>
              <a:rPr lang="en-US" b="1" dirty="0" smtClean="0"/>
              <a:t>Step 5:</a:t>
            </a:r>
            <a:r>
              <a:rPr lang="en-US" dirty="0" smtClean="0"/>
              <a:t> From the output layer, go back to the hidden layer to adjust the weights to reduce the error.</a:t>
            </a:r>
          </a:p>
          <a:p>
            <a:r>
              <a:rPr lang="en-US" b="1" dirty="0" smtClean="0"/>
              <a:t>Step 6:</a:t>
            </a:r>
            <a:r>
              <a:rPr lang="en-US" dirty="0" smtClean="0"/>
              <a:t> Repeat the process until the desired output is achieved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al network tutorial 2 - The back-propagation algorithm (Part 2).mp4_20180918_080751.836">
            <a:extLst>
              <a:ext uri="{FF2B5EF4-FFF2-40B4-BE49-F238E27FC236}">
                <a16:creationId xmlns:a16="http://schemas.microsoft.com/office/drawing/2014/main" xmlns="" id="{46EFFD03-CBB9-4E8F-9345-35045FA73410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3614"/>
          <a:stretch>
            <a:fillRect/>
          </a:stretch>
        </p:blipFill>
        <p:spPr>
          <a:xfrm>
            <a:off x="1143000" y="533400"/>
            <a:ext cx="6858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71947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Back propagation with activation function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27214" t="30800" r="31176" b="21623"/>
          <a:stretch>
            <a:fillRect/>
          </a:stretch>
        </p:blipFill>
        <p:spPr bwMode="auto">
          <a:xfrm>
            <a:off x="1219200" y="2019300"/>
            <a:ext cx="6697133" cy="4305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Parameters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x = inputs training vector x=(x</a:t>
            </a:r>
            <a:r>
              <a:rPr lang="en-US" baseline="-25000" dirty="0" smtClean="0"/>
              <a:t>1</a:t>
            </a:r>
            <a:r>
              <a:rPr lang="en-US" dirty="0" smtClean="0"/>
              <a:t>,x</a:t>
            </a:r>
            <a:r>
              <a:rPr lang="en-US" baseline="-25000" dirty="0" smtClean="0"/>
              <a:t>2</a:t>
            </a:r>
            <a:r>
              <a:rPr lang="en-US" dirty="0" smtClean="0"/>
              <a:t>,…………</a:t>
            </a:r>
            <a:r>
              <a:rPr lang="en-US" dirty="0" err="1" smtClean="0"/>
              <a:t>x</a:t>
            </a:r>
            <a:r>
              <a:rPr lang="en-US" baseline="-25000" dirty="0" err="1" smtClean="0"/>
              <a:t>n</a:t>
            </a:r>
            <a:r>
              <a:rPr lang="en-US" dirty="0" smtClean="0"/>
              <a:t>).</a:t>
            </a:r>
          </a:p>
          <a:p>
            <a:pPr fontAlgn="base"/>
            <a:r>
              <a:rPr lang="en-US" dirty="0" smtClean="0"/>
              <a:t>t = target vector t=(t</a:t>
            </a:r>
            <a:r>
              <a:rPr lang="en-US" baseline="-25000" dirty="0" smtClean="0"/>
              <a:t>1</a:t>
            </a:r>
            <a:r>
              <a:rPr lang="en-US" dirty="0" smtClean="0"/>
              <a:t>,t</a:t>
            </a:r>
            <a:r>
              <a:rPr lang="en-US" baseline="-25000" dirty="0" smtClean="0"/>
              <a:t>2……………</a:t>
            </a:r>
            <a:r>
              <a:rPr lang="en-US" dirty="0" err="1" smtClean="0"/>
              <a:t>t</a:t>
            </a:r>
            <a:r>
              <a:rPr lang="en-US" baseline="-25000" dirty="0" err="1" smtClean="0"/>
              <a:t>n</a:t>
            </a:r>
            <a:r>
              <a:rPr lang="en-US" baseline="-25000" dirty="0" smtClean="0"/>
              <a:t>).</a:t>
            </a:r>
            <a:endParaRPr lang="en-US" dirty="0" smtClean="0"/>
          </a:p>
          <a:p>
            <a:pPr fontAlgn="base"/>
            <a:r>
              <a:rPr lang="el-GR" dirty="0" smtClean="0"/>
              <a:t>δ</a:t>
            </a:r>
            <a:r>
              <a:rPr lang="en-US" baseline="-25000" dirty="0" smtClean="0"/>
              <a:t>k </a:t>
            </a:r>
            <a:r>
              <a:rPr lang="en-US" dirty="0" smtClean="0"/>
              <a:t>= error at output unit.</a:t>
            </a:r>
          </a:p>
          <a:p>
            <a:pPr fontAlgn="base"/>
            <a:r>
              <a:rPr lang="el-GR" dirty="0" smtClean="0"/>
              <a:t>δ</a:t>
            </a:r>
            <a:r>
              <a:rPr lang="en-US" baseline="-25000" dirty="0" smtClean="0"/>
              <a:t>j  </a:t>
            </a:r>
            <a:r>
              <a:rPr lang="en-US" dirty="0" smtClean="0"/>
              <a:t>= error at hidden layer.</a:t>
            </a:r>
          </a:p>
          <a:p>
            <a:pPr fontAlgn="base"/>
            <a:r>
              <a:rPr lang="el-GR" dirty="0" smtClean="0"/>
              <a:t>α = </a:t>
            </a:r>
            <a:r>
              <a:rPr lang="en-US" dirty="0" smtClean="0"/>
              <a:t>learning rate.</a:t>
            </a:r>
          </a:p>
          <a:p>
            <a:pPr fontAlgn="base"/>
            <a:r>
              <a:rPr lang="en-US" dirty="0" smtClean="0"/>
              <a:t>V</a:t>
            </a:r>
            <a:r>
              <a:rPr lang="en-US" baseline="-25000" dirty="0" smtClean="0"/>
              <a:t>0j </a:t>
            </a:r>
            <a:r>
              <a:rPr lang="en-US" dirty="0" smtClean="0"/>
              <a:t>= bias of hidden unit j.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b="1" dirty="0" smtClean="0"/>
              <a:t>Training Algorithm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26736"/>
          </a:xfrm>
        </p:spPr>
        <p:txBody>
          <a:bodyPr/>
          <a:lstStyle/>
          <a:p>
            <a:pPr fontAlgn="base"/>
            <a:r>
              <a:rPr lang="en-US" b="1" dirty="0" smtClean="0"/>
              <a:t>Step 1: </a:t>
            </a:r>
            <a:r>
              <a:rPr lang="en-US" dirty="0" smtClean="0"/>
              <a:t>Initialize weight to small random values.</a:t>
            </a:r>
          </a:p>
          <a:p>
            <a:pPr fontAlgn="base"/>
            <a:r>
              <a:rPr lang="en-US" b="1" dirty="0" smtClean="0"/>
              <a:t>Step 2: </a:t>
            </a:r>
            <a:r>
              <a:rPr lang="en-US" dirty="0" smtClean="0"/>
              <a:t>While the steps stopping condition is to be false do step 3 and perform back propagation</a:t>
            </a:r>
          </a:p>
          <a:p>
            <a:pPr fontAlgn="base"/>
            <a:r>
              <a:rPr lang="en-US" b="1" dirty="0" smtClean="0"/>
              <a:t>Step 3: </a:t>
            </a:r>
            <a:r>
              <a:rPr lang="en-US" dirty="0" smtClean="0"/>
              <a:t>For each training pair do step  (Feed-Forward).</a:t>
            </a:r>
          </a:p>
          <a:p>
            <a:pPr fontAlgn="base"/>
            <a:r>
              <a:rPr lang="en-US" b="1" dirty="0" smtClean="0"/>
              <a:t>Step 4: </a:t>
            </a:r>
            <a:r>
              <a:rPr lang="en-US" dirty="0" smtClean="0"/>
              <a:t>Each input unit receives the signal unit and transmits the signal x</a:t>
            </a:r>
            <a:r>
              <a:rPr lang="en-US" baseline="-25000" dirty="0" smtClean="0"/>
              <a:t>i</a:t>
            </a:r>
            <a:r>
              <a:rPr lang="en-US" dirty="0" smtClean="0"/>
              <a:t> signal to all the units.</a:t>
            </a:r>
          </a:p>
          <a:p>
            <a:r>
              <a:rPr lang="en-US" b="1" dirty="0" smtClean="0"/>
              <a:t>Step 5 : </a:t>
            </a:r>
            <a:r>
              <a:rPr lang="en-US" dirty="0" smtClean="0"/>
              <a:t>Each hidden unit </a:t>
            </a:r>
            <a:r>
              <a:rPr lang="en-US" dirty="0" err="1" smtClean="0"/>
              <a:t>Zj</a:t>
            </a:r>
            <a:r>
              <a:rPr lang="en-US" dirty="0" smtClean="0"/>
              <a:t> (z=1 to a) sums its weighted input signal to calculate its net input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propagation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Assume x1=0.05 and x2=0.10 with b1=0.35 and b2=0.6 and the target values t1=0.01, t2=0.99 with activation function as sigmoid function.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It is simple, fast, and easy to program.</a:t>
            </a:r>
          </a:p>
          <a:p>
            <a:pPr fontAlgn="base"/>
            <a:r>
              <a:rPr lang="en-US" dirty="0" smtClean="0"/>
              <a:t>Only numbers of the input are tuned, not any other parameter.</a:t>
            </a:r>
          </a:p>
          <a:p>
            <a:pPr fontAlgn="base"/>
            <a:r>
              <a:rPr lang="en-US" dirty="0" smtClean="0"/>
              <a:t>It is Flexible and efficient.</a:t>
            </a:r>
          </a:p>
          <a:p>
            <a:pPr fontAlgn="base"/>
            <a:r>
              <a:rPr lang="en-US" dirty="0" smtClean="0"/>
              <a:t>No need for users to learn any special functions.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It is sensitive to noisy data and irregularities. Noisy data can lead to inaccurate results.</a:t>
            </a:r>
          </a:p>
          <a:p>
            <a:pPr fontAlgn="base"/>
            <a:r>
              <a:rPr lang="en-US" dirty="0" smtClean="0"/>
              <a:t>Performance is highly dependent on input data.</a:t>
            </a:r>
          </a:p>
          <a:p>
            <a:pPr fontAlgn="base"/>
            <a:r>
              <a:rPr lang="en-US" dirty="0" smtClean="0"/>
              <a:t>Spending too much time training.</a:t>
            </a:r>
          </a:p>
          <a:p>
            <a:pPr fontAlgn="base"/>
            <a:r>
              <a:rPr lang="en-US" dirty="0" smtClean="0"/>
              <a:t>The matrix-based approach is preferred over a mini-batch.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066800"/>
          </a:xfrm>
        </p:spPr>
        <p:txBody>
          <a:bodyPr/>
          <a:lstStyle/>
          <a:p>
            <a:r>
              <a:rPr lang="en-US" dirty="0" smtClean="0"/>
              <a:t>Genetic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4336"/>
          </a:xfrm>
        </p:spPr>
        <p:txBody>
          <a:bodyPr>
            <a:normAutofit/>
          </a:bodyPr>
          <a:lstStyle/>
          <a:p>
            <a:r>
              <a:rPr lang="en-US" dirty="0" smtClean="0"/>
              <a:t>Genetic algorithm is a </a:t>
            </a:r>
            <a:r>
              <a:rPr lang="en-US" dirty="0" smtClean="0">
                <a:solidFill>
                  <a:srgbClr val="FF0000"/>
                </a:solidFill>
              </a:rPr>
              <a:t>heuristic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search algorithm </a:t>
            </a:r>
            <a:r>
              <a:rPr lang="en-US" dirty="0" smtClean="0"/>
              <a:t>that inspired by </a:t>
            </a:r>
            <a:r>
              <a:rPr lang="en-US" dirty="0" smtClean="0">
                <a:solidFill>
                  <a:srgbClr val="FF0000"/>
                </a:solidFill>
              </a:rPr>
              <a:t>Charles Darwin’s </a:t>
            </a:r>
            <a:r>
              <a:rPr lang="en-US" dirty="0" smtClean="0"/>
              <a:t>theory of natural evolution.</a:t>
            </a:r>
          </a:p>
          <a:p>
            <a:r>
              <a:rPr lang="en-US" dirty="0" smtClean="0"/>
              <a:t>This algorithm reflects the process of natural selection where the </a:t>
            </a:r>
            <a:r>
              <a:rPr lang="en-US" dirty="0" smtClean="0">
                <a:solidFill>
                  <a:srgbClr val="FF0000"/>
                </a:solidFill>
              </a:rPr>
              <a:t>fittest individuals </a:t>
            </a:r>
            <a:r>
              <a:rPr lang="en-US" dirty="0" smtClean="0"/>
              <a:t>are selected for </a:t>
            </a:r>
            <a:r>
              <a:rPr lang="en-US" dirty="0" smtClean="0">
                <a:solidFill>
                  <a:srgbClr val="FF0000"/>
                </a:solidFill>
              </a:rPr>
              <a:t>reproduction</a:t>
            </a:r>
            <a:r>
              <a:rPr lang="en-US" dirty="0" smtClean="0"/>
              <a:t> in order to produce </a:t>
            </a:r>
            <a:r>
              <a:rPr lang="en-US" dirty="0" smtClean="0">
                <a:solidFill>
                  <a:srgbClr val="FF0000"/>
                </a:solidFill>
              </a:rPr>
              <a:t>offspring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FF0000"/>
                </a:solidFill>
              </a:rPr>
              <a:t>next generation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Genetic algorithm are being widely used in different </a:t>
            </a:r>
            <a:r>
              <a:rPr lang="en-US" dirty="0" smtClean="0">
                <a:solidFill>
                  <a:srgbClr val="FF0000"/>
                </a:solidFill>
              </a:rPr>
              <a:t>real-world applications</a:t>
            </a:r>
            <a:r>
              <a:rPr lang="en-US" dirty="0" smtClean="0"/>
              <a:t>, for example, Image processing, Designing electronic circuits, code-breaking and artificial creativity.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Genetic algorithm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35139" t="34325" r="36130" b="30433"/>
          <a:stretch>
            <a:fillRect/>
          </a:stretch>
        </p:blipFill>
        <p:spPr bwMode="auto">
          <a:xfrm>
            <a:off x="1676400" y="2362200"/>
            <a:ext cx="5334000" cy="3678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02936"/>
          </a:xfrm>
        </p:spPr>
        <p:txBody>
          <a:bodyPr/>
          <a:lstStyle/>
          <a:p>
            <a:r>
              <a:rPr lang="en-US" dirty="0" smtClean="0"/>
              <a:t>There are five phases in Genetic algorithm</a:t>
            </a:r>
          </a:p>
          <a:p>
            <a:pPr marL="624078" indent="-514350">
              <a:buAutoNum type="arabicPeriod"/>
            </a:pPr>
            <a:r>
              <a:rPr lang="en-US" dirty="0" smtClean="0"/>
              <a:t>Initialization</a:t>
            </a:r>
          </a:p>
          <a:p>
            <a:pPr marL="624078" indent="-514350">
              <a:buAutoNum type="arabicPeriod"/>
            </a:pPr>
            <a:r>
              <a:rPr lang="en-US" dirty="0" smtClean="0"/>
              <a:t> Fitness Assignment</a:t>
            </a:r>
          </a:p>
          <a:p>
            <a:pPr marL="624078" indent="-514350">
              <a:buAutoNum type="arabicPeriod"/>
            </a:pPr>
            <a:r>
              <a:rPr lang="en-US" dirty="0" smtClean="0"/>
              <a:t>Selection </a:t>
            </a:r>
          </a:p>
          <a:p>
            <a:pPr marL="624078" indent="-514350">
              <a:buAutoNum type="arabicPeriod"/>
            </a:pPr>
            <a:r>
              <a:rPr lang="en-US" dirty="0" smtClean="0"/>
              <a:t> Crossover (Reproduction)</a:t>
            </a:r>
          </a:p>
          <a:p>
            <a:pPr marL="624078" indent="-514350">
              <a:buAutoNum type="arabicPeriod"/>
            </a:pPr>
            <a:r>
              <a:rPr lang="en-US" dirty="0" smtClean="0"/>
              <a:t> Termination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685800"/>
            <a:ext cx="8229600" cy="1066800"/>
          </a:xfrm>
        </p:spPr>
        <p:txBody>
          <a:bodyPr/>
          <a:lstStyle/>
          <a:p>
            <a:r>
              <a:rPr lang="en-US" dirty="0" smtClean="0"/>
              <a:t>Initial population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898136"/>
          </a:xfrm>
        </p:spPr>
        <p:txBody>
          <a:bodyPr/>
          <a:lstStyle/>
          <a:p>
            <a:r>
              <a:rPr lang="en-US" dirty="0" smtClean="0"/>
              <a:t>The process begins with a set of individuals which is called a population.</a:t>
            </a:r>
          </a:p>
          <a:p>
            <a:r>
              <a:rPr lang="en-US" dirty="0" smtClean="0"/>
              <a:t>Each individual is a solution to the problem you want to solve known as chromosome.</a:t>
            </a:r>
          </a:p>
          <a:p>
            <a:r>
              <a:rPr lang="en-US" dirty="0" smtClean="0"/>
              <a:t>An individual is characterized by a set of parameters(variables) known as Genes.</a:t>
            </a:r>
          </a:p>
          <a:p>
            <a:r>
              <a:rPr lang="en-US" dirty="0" smtClean="0"/>
              <a:t>Genes are joined into a string to form a chromosome(solution).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Fitness function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fitness function determines how fit an individual is? (the ability of an individual to compete with other individuals)</a:t>
            </a:r>
          </a:p>
          <a:p>
            <a:r>
              <a:rPr lang="en-US" dirty="0" smtClean="0"/>
              <a:t>It gives a fitness score to each individual.</a:t>
            </a:r>
          </a:p>
          <a:p>
            <a:r>
              <a:rPr lang="en-US" dirty="0" smtClean="0"/>
              <a:t>The probability that an individual will be selected for reproduction is based on its fitness score.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idea of selection phase is to select the fittest individual and let them pass their genes to the next generation.</a:t>
            </a:r>
          </a:p>
          <a:p>
            <a:r>
              <a:rPr lang="en-US" dirty="0" smtClean="0"/>
              <a:t>Two pairs of individuals (parents) are selected based on their fitness scores.</a:t>
            </a:r>
          </a:p>
          <a:p>
            <a:r>
              <a:rPr lang="en-US" dirty="0" smtClean="0"/>
              <a:t>Individuals with high fitness have more chance to be selected for reproduction.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31536"/>
          </a:xfrm>
        </p:spPr>
        <p:txBody>
          <a:bodyPr/>
          <a:lstStyle/>
          <a:p>
            <a:r>
              <a:rPr lang="en-US" dirty="0" smtClean="0"/>
              <a:t>There are 3 types of selection methods available , which are :</a:t>
            </a:r>
          </a:p>
          <a:p>
            <a:pPr>
              <a:buNone/>
            </a:pPr>
            <a:r>
              <a:rPr lang="en-US" dirty="0" smtClean="0"/>
              <a:t>1. Roulette wheel selection</a:t>
            </a:r>
          </a:p>
          <a:p>
            <a:pPr>
              <a:buNone/>
            </a:pPr>
            <a:r>
              <a:rPr lang="en-US" dirty="0" smtClean="0"/>
              <a:t>2. Tournament selection</a:t>
            </a:r>
          </a:p>
          <a:p>
            <a:pPr>
              <a:buNone/>
            </a:pPr>
            <a:r>
              <a:rPr lang="en-US" dirty="0" smtClean="0"/>
              <a:t>3. Rank – based selection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35139" t="34325" r="36130" b="30433"/>
          <a:stretch>
            <a:fillRect/>
          </a:stretch>
        </p:blipFill>
        <p:spPr bwMode="auto">
          <a:xfrm>
            <a:off x="4724400" y="3276600"/>
            <a:ext cx="3939540" cy="3084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066800"/>
          </a:xfrm>
        </p:spPr>
        <p:txBody>
          <a:bodyPr/>
          <a:lstStyle/>
          <a:p>
            <a:r>
              <a:rPr lang="en-US" dirty="0" smtClean="0"/>
              <a:t>Crossover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07736"/>
          </a:xfrm>
        </p:spPr>
        <p:txBody>
          <a:bodyPr/>
          <a:lstStyle/>
          <a:p>
            <a:r>
              <a:rPr lang="en-US" dirty="0" smtClean="0"/>
              <a:t>Crossover is the most significant phase in a genetic algorithm.</a:t>
            </a:r>
          </a:p>
          <a:p>
            <a:r>
              <a:rPr lang="en-US" dirty="0" smtClean="0"/>
              <a:t>For each pair of parents to be mated, a crossover point is chosen at random from within the genes.</a:t>
            </a:r>
          </a:p>
          <a:p>
            <a:r>
              <a:rPr lang="en-US" dirty="0" smtClean="0"/>
              <a:t>For example, consider the crossover point to be 3 as shown.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39102" t="32562" r="37121" b="26909"/>
          <a:stretch>
            <a:fillRect/>
          </a:stretch>
        </p:blipFill>
        <p:spPr bwMode="auto">
          <a:xfrm>
            <a:off x="5105400" y="3505200"/>
            <a:ext cx="3048000" cy="292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6041136"/>
          </a:xfrm>
        </p:spPr>
        <p:txBody>
          <a:bodyPr/>
          <a:lstStyle/>
          <a:p>
            <a:r>
              <a:rPr lang="en-US" dirty="0" smtClean="0"/>
              <a:t>Offspring:</a:t>
            </a:r>
          </a:p>
          <a:p>
            <a:r>
              <a:rPr lang="en-US" dirty="0" smtClean="0"/>
              <a:t>Offspring are created by exchanging the  genes of parents among themselves until the crossover point is reached.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The new offspring is added to the population.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 l="39628" t="29956" r="36595" b="43612"/>
          <a:stretch>
            <a:fillRect/>
          </a:stretch>
        </p:blipFill>
        <p:spPr bwMode="auto">
          <a:xfrm>
            <a:off x="2286000" y="2438400"/>
            <a:ext cx="4759569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 l="37121" t="55470" r="39102" b="23385"/>
          <a:stretch>
            <a:fillRect/>
          </a:stretch>
        </p:blipFill>
        <p:spPr bwMode="auto">
          <a:xfrm>
            <a:off x="3657600" y="4876800"/>
            <a:ext cx="27432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26736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Mutation: </a:t>
            </a:r>
            <a:r>
              <a:rPr lang="en-US" dirty="0" smtClean="0"/>
              <a:t>In certain new offspring formed, some of their genes can be subjected to a mutation with a low random probability.</a:t>
            </a:r>
          </a:p>
          <a:p>
            <a:r>
              <a:rPr lang="en-US" dirty="0" smtClean="0"/>
              <a:t>This implies that some of the bits in the bit string can be flipped.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 l="39824" t="38542" r="34993" b="35417"/>
          <a:stretch>
            <a:fillRect/>
          </a:stretch>
        </p:blipFill>
        <p:spPr bwMode="auto">
          <a:xfrm>
            <a:off x="1905000" y="3880883"/>
            <a:ext cx="4114800" cy="239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74336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Types of mutation:</a:t>
            </a:r>
          </a:p>
          <a:p>
            <a:pPr marL="624078" indent="-514350">
              <a:buAutoNum type="arabicPeriod"/>
            </a:pPr>
            <a:r>
              <a:rPr lang="en-US" dirty="0" smtClean="0"/>
              <a:t>Flip bit mutation</a:t>
            </a:r>
          </a:p>
          <a:p>
            <a:pPr marL="624078" indent="-514350">
              <a:buAutoNum type="arabicPeriod"/>
            </a:pPr>
            <a:r>
              <a:rPr lang="en-US" dirty="0" smtClean="0"/>
              <a:t> Gaussian mutation</a:t>
            </a:r>
          </a:p>
          <a:p>
            <a:pPr marL="624078" indent="-514350">
              <a:buAutoNum type="arabicPeriod"/>
            </a:pPr>
            <a:r>
              <a:rPr lang="en-US" dirty="0" smtClean="0"/>
              <a:t>Exchange/Swap mutation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algorithm terminates if the population </a:t>
            </a:r>
            <a:r>
              <a:rPr lang="en-US" smtClean="0"/>
              <a:t>has converged (does </a:t>
            </a:r>
            <a:r>
              <a:rPr lang="en-US" dirty="0" smtClean="0"/>
              <a:t>not produce offspring which are significantly  different from the </a:t>
            </a:r>
            <a:r>
              <a:rPr lang="en-US" smtClean="0"/>
              <a:t>previous generation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Then it is said that the genetic algorithm has provided a set of solutions to our problem.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8229600" cy="1066800"/>
          </a:xfrm>
        </p:spPr>
        <p:txBody>
          <a:bodyPr/>
          <a:lstStyle/>
          <a:p>
            <a:r>
              <a:rPr lang="en-US" dirty="0" smtClean="0"/>
              <a:t>Flow chart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 l="18155" t="29167" r="44949" b="22917"/>
          <a:stretch>
            <a:fillRect/>
          </a:stretch>
        </p:blipFill>
        <p:spPr bwMode="auto">
          <a:xfrm>
            <a:off x="2171702" y="1752600"/>
            <a:ext cx="6042103" cy="472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Maximize the function f(x)=x^2  with x as interval [0,31]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1464</TotalTime>
  <Words>1231</Words>
  <Application>Microsoft Office PowerPoint</Application>
  <PresentationFormat>On-screen Show (4:3)</PresentationFormat>
  <Paragraphs>156</Paragraphs>
  <Slides>54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Urban</vt:lpstr>
      <vt:lpstr>Neural Network and Genetic Algorithms</vt:lpstr>
      <vt:lpstr>Introduction to Artificial Neural Networks </vt:lpstr>
      <vt:lpstr>What is Neuron?</vt:lpstr>
      <vt:lpstr>Functionality of a neuron in a deep learning neural net</vt:lpstr>
      <vt:lpstr>Inspiration of neural networks</vt:lpstr>
      <vt:lpstr>Typical diagram of biological neural network</vt:lpstr>
      <vt:lpstr>NN comparison with ANN</vt:lpstr>
      <vt:lpstr>Slide 8</vt:lpstr>
      <vt:lpstr>Applications </vt:lpstr>
      <vt:lpstr>Typical Artificial Neural Network</vt:lpstr>
      <vt:lpstr>Architecture of Neural Network</vt:lpstr>
      <vt:lpstr>An illustration of neural network</vt:lpstr>
      <vt:lpstr>Learning rule</vt:lpstr>
      <vt:lpstr>Types of learning rules</vt:lpstr>
      <vt:lpstr>Perceptron learning</vt:lpstr>
      <vt:lpstr>Architecture of Perceptron Learning</vt:lpstr>
      <vt:lpstr>Types of Perceptron </vt:lpstr>
      <vt:lpstr>Basic Components of Perceptron </vt:lpstr>
      <vt:lpstr>Slide 19</vt:lpstr>
      <vt:lpstr>Perceptron Learning</vt:lpstr>
      <vt:lpstr>Feed forward neural network</vt:lpstr>
      <vt:lpstr>Classification of data</vt:lpstr>
      <vt:lpstr>Back propagation</vt:lpstr>
      <vt:lpstr>Loss function</vt:lpstr>
      <vt:lpstr>Slide 25</vt:lpstr>
      <vt:lpstr>Slide 26</vt:lpstr>
      <vt:lpstr>Slide 27</vt:lpstr>
      <vt:lpstr>Slide 28</vt:lpstr>
      <vt:lpstr>Slide 29</vt:lpstr>
      <vt:lpstr>Slide 30</vt:lpstr>
      <vt:lpstr>Features of Back Propagation:</vt:lpstr>
      <vt:lpstr>Back propagation Algorithm: </vt:lpstr>
      <vt:lpstr>Slide 33</vt:lpstr>
      <vt:lpstr>Slide 34</vt:lpstr>
      <vt:lpstr>Back propagation with activation function</vt:lpstr>
      <vt:lpstr>Parameters :</vt:lpstr>
      <vt:lpstr>Training Algorithm :</vt:lpstr>
      <vt:lpstr>Back propagation problem</vt:lpstr>
      <vt:lpstr>Pros </vt:lpstr>
      <vt:lpstr>Cons</vt:lpstr>
      <vt:lpstr>Genetic algorithm</vt:lpstr>
      <vt:lpstr>Genetic algorithm</vt:lpstr>
      <vt:lpstr>Slide 43</vt:lpstr>
      <vt:lpstr>Initial population </vt:lpstr>
      <vt:lpstr>Fitness function </vt:lpstr>
      <vt:lpstr>Selection</vt:lpstr>
      <vt:lpstr>Slide 47</vt:lpstr>
      <vt:lpstr>Crossover </vt:lpstr>
      <vt:lpstr>Slide 49</vt:lpstr>
      <vt:lpstr>Slide 50</vt:lpstr>
      <vt:lpstr>Slide 51</vt:lpstr>
      <vt:lpstr>Termination </vt:lpstr>
      <vt:lpstr>Flow chart</vt:lpstr>
      <vt:lpstr>Problem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ANN</dc:title>
  <dc:creator>Windows User</dc:creator>
  <cp:lastModifiedBy>Windows User</cp:lastModifiedBy>
  <cp:revision>98</cp:revision>
  <dcterms:created xsi:type="dcterms:W3CDTF">2023-10-11T05:15:57Z</dcterms:created>
  <dcterms:modified xsi:type="dcterms:W3CDTF">2024-09-19T11:08:59Z</dcterms:modified>
</cp:coreProperties>
</file>
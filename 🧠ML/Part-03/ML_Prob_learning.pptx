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92" r:id="rId3"/>
    <p:sldId id="257" r:id="rId4"/>
    <p:sldId id="293" r:id="rId5"/>
    <p:sldId id="294" r:id="rId6"/>
    <p:sldId id="259" r:id="rId7"/>
    <p:sldId id="260" r:id="rId8"/>
    <p:sldId id="261" r:id="rId9"/>
    <p:sldId id="262" r:id="rId10"/>
    <p:sldId id="263" r:id="rId11"/>
    <p:sldId id="265" r:id="rId12"/>
    <p:sldId id="264" r:id="rId13"/>
    <p:sldId id="266" r:id="rId14"/>
    <p:sldId id="267" r:id="rId15"/>
    <p:sldId id="268" r:id="rId16"/>
    <p:sldId id="269" r:id="rId17"/>
    <p:sldId id="270" r:id="rId18"/>
    <p:sldId id="271" r:id="rId19"/>
    <p:sldId id="295" r:id="rId20"/>
    <p:sldId id="272" r:id="rId21"/>
    <p:sldId id="273" r:id="rId22"/>
    <p:sldId id="274" r:id="rId23"/>
    <p:sldId id="276" r:id="rId24"/>
    <p:sldId id="275" r:id="rId25"/>
    <p:sldId id="277" r:id="rId26"/>
    <p:sldId id="278" r:id="rId27"/>
    <p:sldId id="279" r:id="rId28"/>
    <p:sldId id="280" r:id="rId29"/>
    <p:sldId id="281" r:id="rId30"/>
    <p:sldId id="296" r:id="rId31"/>
    <p:sldId id="282" r:id="rId32"/>
    <p:sldId id="297" r:id="rId33"/>
    <p:sldId id="289" r:id="rId34"/>
    <p:sldId id="290" r:id="rId35"/>
    <p:sldId id="283" r:id="rId36"/>
    <p:sldId id="284" r:id="rId37"/>
    <p:sldId id="285" r:id="rId38"/>
    <p:sldId id="286" r:id="rId39"/>
    <p:sldId id="287" r:id="rId40"/>
    <p:sldId id="288" r:id="rId41"/>
    <p:sldId id="291" r:id="rId42"/>
    <p:sldId id="298" r:id="rId43"/>
    <p:sldId id="299" r:id="rId44"/>
    <p:sldId id="300" r:id="rId45"/>
    <p:sldId id="301"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smtClean="0"/>
              <a:t>Click to edit Master title style</a:t>
            </a:r>
            <a:endParaRPr kumimoji="0"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smtClean="0"/>
              <a:t>Click to edit Master subtitle style</a:t>
            </a:r>
            <a:endParaRPr kumimoji="0" lang="en-US"/>
          </a:p>
        </p:txBody>
      </p:sp>
      <p:sp>
        <p:nvSpPr>
          <p:cNvPr id="4" name="Date Placeholder 3"/>
          <p:cNvSpPr>
            <a:spLocks noGrp="1"/>
          </p:cNvSpPr>
          <p:nvPr>
            <p:ph type="dt" sz="half" idx="10"/>
          </p:nvPr>
        </p:nvSpPr>
        <p:spPr/>
        <p:txBody>
          <a:bodyPr/>
          <a:lstStyle/>
          <a:p>
            <a:fld id="{AF606C6A-D87E-460F-9B10-2BC2B389723E}" type="datetimeFigureOut">
              <a:rPr lang="en-US" smtClean="0"/>
              <a:pPr/>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990B79-8DA7-4809-8CBB-A8D6E5B9368B}"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F606C6A-D87E-460F-9B10-2BC2B389723E}" type="datetimeFigureOut">
              <a:rPr lang="en-US" smtClean="0"/>
              <a:pPr/>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990B79-8DA7-4809-8CBB-A8D6E5B9368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F606C6A-D87E-460F-9B10-2BC2B389723E}" type="datetimeFigureOut">
              <a:rPr lang="en-US" smtClean="0"/>
              <a:pPr/>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990B79-8DA7-4809-8CBB-A8D6E5B9368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F606C6A-D87E-460F-9B10-2BC2B389723E}" type="datetimeFigureOut">
              <a:rPr lang="en-US" smtClean="0"/>
              <a:pPr/>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990B79-8DA7-4809-8CBB-A8D6E5B9368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606C6A-D87E-460F-9B10-2BC2B389723E}" type="datetimeFigureOut">
              <a:rPr lang="en-US" smtClean="0"/>
              <a:pPr/>
              <a:t>9/17/2025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990B79-8DA7-4809-8CBB-A8D6E5B9368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F606C6A-D87E-460F-9B10-2BC2B389723E}" type="datetimeFigureOut">
              <a:rPr lang="en-US" smtClean="0"/>
              <a:pPr/>
              <a:t>9/17/2025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990B79-8DA7-4809-8CBB-A8D6E5B9368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606C6A-D87E-460F-9B10-2BC2B389723E}" type="datetimeFigureOut">
              <a:rPr lang="en-US" smtClean="0"/>
              <a:pPr/>
              <a:t>9/17/2025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990B79-8DA7-4809-8CBB-A8D6E5B9368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smtClean="0"/>
              <a:t>Click to edit Master title style</a:t>
            </a:r>
            <a:endParaRPr kumimoji="0"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F606C6A-D87E-460F-9B10-2BC2B389723E}" type="datetimeFigureOut">
              <a:rPr lang="en-US" smtClean="0"/>
              <a:pPr/>
              <a:t>9/17/2025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990B79-8DA7-4809-8CBB-A8D6E5B9368B}"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AF606C6A-D87E-460F-9B10-2BC2B389723E}" type="datetimeFigureOut">
              <a:rPr lang="en-US" smtClean="0"/>
              <a:pPr/>
              <a:t>9/17/2025</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7A990B79-8DA7-4809-8CBB-A8D6E5B9368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F606C6A-D87E-460F-9B10-2BC2B389723E}" type="datetimeFigureOut">
              <a:rPr lang="en-US" smtClean="0"/>
              <a:pPr/>
              <a:t>9/17/2025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990B79-8DA7-4809-8CBB-A8D6E5B9368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04800"/>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F606C6A-D87E-460F-9B10-2BC2B389723E}" type="datetimeFigureOut">
              <a:rPr lang="en-US" smtClean="0"/>
              <a:pPr/>
              <a:t>9/17/2025</a:t>
            </a:fld>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7A990B79-8DA7-4809-8CBB-A8D6E5B9368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AF606C6A-D87E-460F-9B10-2BC2B389723E}" type="datetimeFigureOut">
              <a:rPr lang="en-US" smtClean="0"/>
              <a:pPr/>
              <a:t>9/17/2025</a:t>
            </a:fld>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7A990B79-8DA7-4809-8CBB-A8D6E5B9368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scribbr.com/methodology/population-vs-sampl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Computational Learning</a:t>
            </a:r>
            <a:endParaRPr lang="en-US" dirty="0"/>
          </a:p>
        </p:txBody>
      </p:sp>
      <p:sp>
        <p:nvSpPr>
          <p:cNvPr id="3" name="Subtitle 2"/>
          <p:cNvSpPr>
            <a:spLocks noGrp="1"/>
          </p:cNvSpPr>
          <p:nvPr>
            <p:ph type="subTitle" idx="1"/>
          </p:nvPr>
        </p:nvSpPr>
        <p:spPr/>
        <p:txBody>
          <a:bodyPr/>
          <a:lstStyle/>
          <a:p>
            <a:r>
              <a:rPr lang="en-US" dirty="0" smtClean="0"/>
              <a:t>UNIT- IV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a:t>
            </a:r>
            <a:endParaRPr lang="en-IN" dirty="0"/>
          </a:p>
        </p:txBody>
      </p:sp>
      <p:sp>
        <p:nvSpPr>
          <p:cNvPr id="3" name="Content Placeholder 2"/>
          <p:cNvSpPr>
            <a:spLocks noGrp="1"/>
          </p:cNvSpPr>
          <p:nvPr>
            <p:ph idx="1"/>
          </p:nvPr>
        </p:nvSpPr>
        <p:spPr/>
        <p:txBody>
          <a:bodyPr/>
          <a:lstStyle/>
          <a:p>
            <a:r>
              <a:rPr lang="en-IN" dirty="0" smtClean="0"/>
              <a:t>Probability learning is the process of using </a:t>
            </a:r>
            <a:r>
              <a:rPr lang="en-IN" dirty="0" smtClean="0">
                <a:solidFill>
                  <a:srgbClr val="FF0000"/>
                </a:solidFill>
              </a:rPr>
              <a:t>past experiences to predict the likelihood </a:t>
            </a:r>
            <a:r>
              <a:rPr lang="en-IN" dirty="0" smtClean="0"/>
              <a:t>of future events, enabling organisms to extract statistical regularities from their environment and guide their behaviour.</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Probability Learning</a:t>
            </a:r>
            <a:endParaRPr lang="en-US" dirty="0"/>
          </a:p>
        </p:txBody>
      </p:sp>
      <p:sp>
        <p:nvSpPr>
          <p:cNvPr id="3" name="Content Placeholder 2"/>
          <p:cNvSpPr>
            <a:spLocks noGrp="1"/>
          </p:cNvSpPr>
          <p:nvPr>
            <p:ph idx="1"/>
          </p:nvPr>
        </p:nvSpPr>
        <p:spPr/>
        <p:txBody>
          <a:bodyPr/>
          <a:lstStyle/>
          <a:p>
            <a:r>
              <a:rPr lang="en-US" dirty="0" smtClean="0"/>
              <a:t>Probability learning is a machine learning technique that uses probability theory to </a:t>
            </a:r>
            <a:r>
              <a:rPr lang="en-US" dirty="0" smtClean="0">
                <a:solidFill>
                  <a:srgbClr val="FF0000"/>
                </a:solidFill>
              </a:rPr>
              <a:t>make predictions and decisions</a:t>
            </a:r>
            <a:r>
              <a:rPr lang="en-US" dirty="0" smtClean="0"/>
              <a:t>. </a:t>
            </a:r>
          </a:p>
          <a:p>
            <a:r>
              <a:rPr lang="en-US" dirty="0" smtClean="0"/>
              <a:t>It's a statistical approach that models uncertainty in data by using </a:t>
            </a:r>
            <a:r>
              <a:rPr lang="en-US" dirty="0" smtClean="0">
                <a:solidFill>
                  <a:srgbClr val="FF0000"/>
                </a:solidFill>
              </a:rPr>
              <a:t>probability distributions.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Probability Distribution</a:t>
            </a:r>
            <a:endParaRPr lang="en-IN" dirty="0"/>
          </a:p>
        </p:txBody>
      </p:sp>
      <p:sp>
        <p:nvSpPr>
          <p:cNvPr id="3" name="Content Placeholder 2"/>
          <p:cNvSpPr>
            <a:spLocks noGrp="1"/>
          </p:cNvSpPr>
          <p:nvPr>
            <p:ph idx="1"/>
          </p:nvPr>
        </p:nvSpPr>
        <p:spPr>
          <a:xfrm>
            <a:off x="457200" y="1371601"/>
            <a:ext cx="8229600" cy="5029200"/>
          </a:xfrm>
        </p:spPr>
        <p:txBody>
          <a:bodyPr>
            <a:normAutofit/>
          </a:bodyPr>
          <a:lstStyle/>
          <a:p>
            <a:r>
              <a:rPr lang="en-IN" dirty="0" smtClean="0"/>
              <a:t>A probability distribution is an idealized </a:t>
            </a:r>
            <a:r>
              <a:rPr lang="en-IN" dirty="0" smtClean="0">
                <a:solidFill>
                  <a:srgbClr val="FF0000"/>
                </a:solidFill>
              </a:rPr>
              <a:t>frequency distribution</a:t>
            </a:r>
            <a:r>
              <a:rPr lang="en-IN" dirty="0" smtClean="0"/>
              <a:t>. </a:t>
            </a:r>
          </a:p>
          <a:p>
            <a:r>
              <a:rPr lang="en-IN" dirty="0" smtClean="0"/>
              <a:t>A </a:t>
            </a:r>
            <a:r>
              <a:rPr lang="en-IN" b="1" dirty="0" smtClean="0"/>
              <a:t>frequency distribution </a:t>
            </a:r>
            <a:r>
              <a:rPr lang="en-IN" dirty="0" smtClean="0"/>
              <a:t>describes a specific </a:t>
            </a:r>
            <a:r>
              <a:rPr lang="en-IN" dirty="0" smtClean="0">
                <a:hlinkClick r:id="rId2"/>
              </a:rPr>
              <a:t>sample</a:t>
            </a:r>
            <a:r>
              <a:rPr lang="en-IN" dirty="0" smtClean="0"/>
              <a:t> or dataset. It’s the </a:t>
            </a:r>
            <a:r>
              <a:rPr lang="en-IN" dirty="0" smtClean="0">
                <a:solidFill>
                  <a:srgbClr val="FF0000"/>
                </a:solidFill>
              </a:rPr>
              <a:t>number of times each possible value of a variable occurs </a:t>
            </a:r>
            <a:r>
              <a:rPr lang="en-IN" dirty="0" smtClean="0"/>
              <a:t>in the dataset.</a:t>
            </a:r>
          </a:p>
          <a:p>
            <a:r>
              <a:rPr lang="en-IN" dirty="0" smtClean="0"/>
              <a:t>The number of times a value occurs in a sample is determined by its </a:t>
            </a:r>
            <a:r>
              <a:rPr lang="en-IN" b="1" dirty="0" smtClean="0"/>
              <a:t>probability </a:t>
            </a:r>
            <a:r>
              <a:rPr lang="en-IN" dirty="0" smtClean="0"/>
              <a:t>of occurrence. </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smtClean="0"/>
              <a:t>Probability is a number between 0 and 1 that says how likely something is to occur:</a:t>
            </a:r>
          </a:p>
          <a:p>
            <a:r>
              <a:rPr lang="en-IN" dirty="0" smtClean="0"/>
              <a:t>0 means it’s impossible.</a:t>
            </a:r>
          </a:p>
          <a:p>
            <a:r>
              <a:rPr lang="en-IN" dirty="0" smtClean="0"/>
              <a:t>1 means it’s certain.</a:t>
            </a: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Bayesian </a:t>
            </a:r>
            <a:endParaRPr lang="en-US" dirty="0"/>
          </a:p>
        </p:txBody>
      </p:sp>
      <p:sp>
        <p:nvSpPr>
          <p:cNvPr id="3" name="Content Placeholder 2"/>
          <p:cNvSpPr>
            <a:spLocks noGrp="1"/>
          </p:cNvSpPr>
          <p:nvPr>
            <p:ph idx="1"/>
          </p:nvPr>
        </p:nvSpPr>
        <p:spPr/>
        <p:txBody>
          <a:bodyPr>
            <a:normAutofit/>
          </a:bodyPr>
          <a:lstStyle/>
          <a:p>
            <a:r>
              <a:rPr lang="en-US" b="1" dirty="0" smtClean="0"/>
              <a:t>Bayesian</a:t>
            </a:r>
            <a:r>
              <a:rPr lang="en-US" dirty="0" smtClean="0"/>
              <a:t> modifies a prior belief with current experiment data using Bayesian inference(considering the </a:t>
            </a:r>
            <a:r>
              <a:rPr lang="en-US" dirty="0" err="1" smtClean="0"/>
              <a:t>Bayes</a:t>
            </a:r>
            <a:r>
              <a:rPr lang="en-US" dirty="0" smtClean="0"/>
              <a:t> </a:t>
            </a:r>
            <a:r>
              <a:rPr lang="en-US" dirty="0" err="1" smtClean="0"/>
              <a:t>Theorme</a:t>
            </a:r>
            <a:r>
              <a:rPr lang="en-US" dirty="0" smtClean="0"/>
              <a:t> to calculate a probability of hypothesis with given prior evidence). </a:t>
            </a:r>
          </a:p>
          <a:p>
            <a:r>
              <a:rPr lang="en-US" dirty="0" smtClean="0"/>
              <a:t>For example, a Bayesian can combine a prior belief that the coin is fair with the current experiment data (56 heads out of 100) to form a new belief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51391"/>
            <a:ext cx="8229600" cy="4625609"/>
          </a:xfrm>
        </p:spPr>
        <p:txBody>
          <a:bodyPr/>
          <a:lstStyle/>
          <a:p>
            <a:r>
              <a:rPr lang="en-US" dirty="0" smtClean="0"/>
              <a:t>A</a:t>
            </a:r>
            <a:r>
              <a:rPr lang="en-US" dirty="0" smtClean="0">
                <a:solidFill>
                  <a:srgbClr val="FF0000"/>
                </a:solidFill>
              </a:rPr>
              <a:t> </a:t>
            </a:r>
            <a:r>
              <a:rPr lang="en-US" dirty="0" err="1" smtClean="0">
                <a:solidFill>
                  <a:srgbClr val="FF0000"/>
                </a:solidFill>
              </a:rPr>
              <a:t>Frequentist</a:t>
            </a:r>
            <a:r>
              <a:rPr lang="en-US" dirty="0" smtClean="0">
                <a:solidFill>
                  <a:srgbClr val="FF0000"/>
                </a:solidFill>
              </a:rPr>
              <a:t> </a:t>
            </a:r>
            <a:r>
              <a:rPr lang="en-US" dirty="0" smtClean="0"/>
              <a:t>estimates the </a:t>
            </a:r>
            <a:r>
              <a:rPr lang="en-US" dirty="0" smtClean="0">
                <a:solidFill>
                  <a:srgbClr val="FF0000"/>
                </a:solidFill>
              </a:rPr>
              <a:t>most likely value </a:t>
            </a:r>
            <a:r>
              <a:rPr lang="en-US" dirty="0" smtClean="0"/>
              <a:t>for </a:t>
            </a:r>
            <a:r>
              <a:rPr lang="en-US" i="1" dirty="0" smtClean="0"/>
              <a:t>P</a:t>
            </a:r>
            <a:r>
              <a:rPr lang="en-US" dirty="0" smtClean="0"/>
              <a:t>(head) (a point estimate). But a Bayesian tracks all possibilities with the corresponding certainties. This calculation is complex but contains richer information for further computation.</a:t>
            </a:r>
            <a:endParaRPr lang="en-US" dirty="0"/>
          </a:p>
        </p:txBody>
      </p:sp>
      <p:pic>
        <p:nvPicPr>
          <p:cNvPr id="4" name="Picture 2"/>
          <p:cNvPicPr>
            <a:picLocks noChangeAspect="1" noChangeArrowheads="1"/>
          </p:cNvPicPr>
          <p:nvPr/>
        </p:nvPicPr>
        <p:blipFill>
          <a:blip r:embed="rId2"/>
          <a:srcRect l="31478" t="55525" r="42591" b="29650"/>
          <a:stretch>
            <a:fillRect/>
          </a:stretch>
        </p:blipFill>
        <p:spPr bwMode="auto">
          <a:xfrm>
            <a:off x="2438400" y="4800600"/>
            <a:ext cx="4334932" cy="1393371"/>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Hypothesis</a:t>
            </a:r>
            <a:endParaRPr lang="en-US" dirty="0"/>
          </a:p>
        </p:txBody>
      </p:sp>
      <p:sp>
        <p:nvSpPr>
          <p:cNvPr id="5" name="Content Placeholder 4"/>
          <p:cNvSpPr>
            <a:spLocks noGrp="1"/>
          </p:cNvSpPr>
          <p:nvPr>
            <p:ph idx="1"/>
          </p:nvPr>
        </p:nvSpPr>
        <p:spPr/>
        <p:txBody>
          <a:bodyPr/>
          <a:lstStyle/>
          <a:p>
            <a:r>
              <a:rPr lang="en-US" dirty="0" smtClean="0"/>
              <a:t>The hypothesis is one of the commonly used concepts of statistics in Machine Learning. </a:t>
            </a:r>
          </a:p>
          <a:p>
            <a:r>
              <a:rPr lang="en-US" dirty="0" smtClean="0"/>
              <a:t>It is specifically used in Supervised Machine learning, where an ML model learns a function </a:t>
            </a:r>
            <a:r>
              <a:rPr lang="en-US" dirty="0" smtClean="0">
                <a:solidFill>
                  <a:srgbClr val="FF0000"/>
                </a:solidFill>
              </a:rPr>
              <a:t>that best maps the input to corresponding outputs </a:t>
            </a:r>
            <a:r>
              <a:rPr lang="en-US" dirty="0" smtClean="0"/>
              <a:t>with the help of an available dataset.</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Hypothesis </a:t>
            </a:r>
            <a:endParaRPr lang="en-US" dirty="0"/>
          </a:p>
        </p:txBody>
      </p:sp>
      <p:pic>
        <p:nvPicPr>
          <p:cNvPr id="1026" name="Picture 2"/>
          <p:cNvPicPr>
            <a:picLocks noGrp="1" noChangeAspect="1" noChangeArrowheads="1"/>
          </p:cNvPicPr>
          <p:nvPr>
            <p:ph idx="1"/>
          </p:nvPr>
        </p:nvPicPr>
        <p:blipFill>
          <a:blip r:embed="rId2"/>
          <a:srcRect l="18512" t="32464" r="34256" b="31297"/>
          <a:stretch>
            <a:fillRect/>
          </a:stretch>
        </p:blipFill>
        <p:spPr bwMode="auto">
          <a:xfrm>
            <a:off x="568035" y="2590800"/>
            <a:ext cx="7949046" cy="3429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There are some common methods given to find out the possible hypothesis from the Hypothesis space, where hypothesis space is represented by </a:t>
            </a:r>
            <a:r>
              <a:rPr lang="en-US" b="1" dirty="0" smtClean="0"/>
              <a:t>uppercase-h (H)</a:t>
            </a:r>
            <a:r>
              <a:rPr lang="en-US" dirty="0" smtClean="0"/>
              <a:t> and hypothesis by </a:t>
            </a:r>
            <a:r>
              <a:rPr lang="en-US" b="1" dirty="0" smtClean="0"/>
              <a:t>lowercase-h (h).</a:t>
            </a:r>
            <a:r>
              <a:rPr lang="en-US" dirty="0" smtClean="0"/>
              <a:t> These are defined as follows:</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t>The hypothesis (h) can be formulated in machine learning as follows:</a:t>
            </a:r>
          </a:p>
          <a:p>
            <a:r>
              <a:rPr lang="en-US" dirty="0" smtClean="0"/>
              <a:t>Y= </a:t>
            </a:r>
            <a:r>
              <a:rPr lang="en-US" dirty="0" err="1" smtClean="0"/>
              <a:t>mx</a:t>
            </a:r>
            <a:r>
              <a:rPr lang="en-US" dirty="0" smtClean="0"/>
              <a:t> + c</a:t>
            </a:r>
          </a:p>
          <a:p>
            <a:pPr>
              <a:buNone/>
            </a:pPr>
            <a:r>
              <a:rPr lang="en-US" dirty="0" smtClean="0"/>
              <a:t>Where,</a:t>
            </a:r>
          </a:p>
          <a:p>
            <a:r>
              <a:rPr lang="en-US" dirty="0" smtClean="0"/>
              <a:t>Y: Range</a:t>
            </a:r>
          </a:p>
          <a:p>
            <a:r>
              <a:rPr lang="en-US" dirty="0" smtClean="0"/>
              <a:t>m: Slope of the line which divided test data or changes in y divided by change in x.</a:t>
            </a:r>
          </a:p>
          <a:p>
            <a:r>
              <a:rPr lang="en-US" dirty="0" smtClean="0"/>
              <a:t>x: domain</a:t>
            </a:r>
          </a:p>
          <a:p>
            <a:r>
              <a:rPr lang="en-US" dirty="0" smtClean="0"/>
              <a:t>c: intercept (constant)</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smtClean="0"/>
              <a:t>Hypothesis space (H):</a:t>
            </a:r>
          </a:p>
          <a:p>
            <a:r>
              <a:rPr lang="en-US" b="1" i="1" dirty="0" smtClean="0"/>
              <a:t>Hypothesis space is defined as a set of all possible </a:t>
            </a:r>
            <a:r>
              <a:rPr lang="en-US" b="1" i="1" dirty="0" smtClean="0">
                <a:solidFill>
                  <a:srgbClr val="FF0000"/>
                </a:solidFill>
              </a:rPr>
              <a:t>legal hypotheses; </a:t>
            </a:r>
            <a:r>
              <a:rPr lang="en-US" b="1" i="1" dirty="0" smtClean="0"/>
              <a:t>hence it is also known as a hypothesis set.</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complexity</a:t>
            </a:r>
            <a:endParaRPr lang="en-US" dirty="0"/>
          </a:p>
        </p:txBody>
      </p:sp>
      <p:sp>
        <p:nvSpPr>
          <p:cNvPr id="3" name="Content Placeholder 2"/>
          <p:cNvSpPr>
            <a:spLocks noGrp="1"/>
          </p:cNvSpPr>
          <p:nvPr>
            <p:ph idx="1"/>
          </p:nvPr>
        </p:nvSpPr>
        <p:spPr>
          <a:xfrm>
            <a:off x="457200" y="1524001"/>
            <a:ext cx="8229600" cy="4876800"/>
          </a:xfrm>
        </p:spPr>
        <p:txBody>
          <a:bodyPr>
            <a:normAutofit lnSpcReduction="10000"/>
          </a:bodyPr>
          <a:lstStyle/>
          <a:p>
            <a:r>
              <a:rPr lang="en-US" dirty="0" smtClean="0">
                <a:solidFill>
                  <a:srgbClr val="FF0000"/>
                </a:solidFill>
              </a:rPr>
              <a:t>Sample complexity </a:t>
            </a:r>
            <a:r>
              <a:rPr lang="en-US" dirty="0" smtClean="0"/>
              <a:t>is a concept in </a:t>
            </a:r>
            <a:r>
              <a:rPr lang="en-US" b="1" dirty="0" smtClean="0"/>
              <a:t>machine learning</a:t>
            </a:r>
            <a:r>
              <a:rPr lang="en-US" dirty="0" smtClean="0"/>
              <a:t> that determines the </a:t>
            </a:r>
            <a:r>
              <a:rPr lang="en-US" dirty="0" smtClean="0">
                <a:solidFill>
                  <a:srgbClr val="FF0000"/>
                </a:solidFill>
              </a:rPr>
              <a:t>number of data samples </a:t>
            </a:r>
            <a:r>
              <a:rPr lang="en-US" dirty="0" smtClean="0"/>
              <a:t>required to achieve a certain level of learning performance.</a:t>
            </a:r>
          </a:p>
          <a:p>
            <a:r>
              <a:rPr lang="en-US" dirty="0" smtClean="0"/>
              <a:t> Its importance lies in its ability to assess the efficiency of a learning algorithm. </a:t>
            </a:r>
          </a:p>
          <a:p>
            <a:r>
              <a:rPr lang="en-US" dirty="0" smtClean="0"/>
              <a:t>A more efficient algorithm needs fewer samples to learn effectively, reducing the resources required for data acquisition and storage.</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1"/>
            <a:ext cx="8229600" cy="4953000"/>
          </a:xfrm>
        </p:spPr>
        <p:txBody>
          <a:bodyPr>
            <a:normAutofit fontScale="92500" lnSpcReduction="20000"/>
          </a:bodyPr>
          <a:lstStyle/>
          <a:p>
            <a:r>
              <a:rPr lang="en-US" dirty="0" smtClean="0"/>
              <a:t>There are two types of sample complexities that are often referenced: worst-case sample complexity and average-case sample complexity. </a:t>
            </a:r>
          </a:p>
          <a:p>
            <a:r>
              <a:rPr lang="en-US" u="sng" dirty="0" smtClean="0">
                <a:solidFill>
                  <a:srgbClr val="FF0000"/>
                </a:solidFill>
              </a:rPr>
              <a:t>Worst-case</a:t>
            </a:r>
            <a:r>
              <a:rPr lang="en-US" dirty="0" smtClean="0"/>
              <a:t> sample complexity refers to the maximum number of samples required to reach a specific learning goal, irrespective of the data distribution. </a:t>
            </a:r>
          </a:p>
          <a:p>
            <a:r>
              <a:rPr lang="en-US" u="sng" dirty="0" smtClean="0">
                <a:solidFill>
                  <a:srgbClr val="FF0000"/>
                </a:solidFill>
              </a:rPr>
              <a:t>Average-case</a:t>
            </a:r>
            <a:r>
              <a:rPr lang="en-US" dirty="0" smtClean="0"/>
              <a:t> sample complexity, on the other hand, considers the average number of samples needed, assuming the data follows a certain distribution.</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0" dirty="0" smtClean="0"/>
              <a:t>Mathematical backbone of sample complexity</a:t>
            </a:r>
            <a:endParaRPr lang="en-US" dirty="0"/>
          </a:p>
        </p:txBody>
      </p:sp>
      <p:sp>
        <p:nvSpPr>
          <p:cNvPr id="3" name="Content Placeholder 2"/>
          <p:cNvSpPr>
            <a:spLocks noGrp="1"/>
          </p:cNvSpPr>
          <p:nvPr>
            <p:ph idx="1"/>
          </p:nvPr>
        </p:nvSpPr>
        <p:spPr/>
        <p:txBody>
          <a:bodyPr>
            <a:normAutofit/>
          </a:bodyPr>
          <a:lstStyle/>
          <a:p>
            <a:r>
              <a:rPr lang="en-US" b="1" dirty="0" smtClean="0"/>
              <a:t>Probably Approximately Correct (PAC) learning theory</a:t>
            </a:r>
            <a:r>
              <a:rPr lang="en-US" dirty="0" smtClean="0"/>
              <a:t> provides a framework to relate VC(</a:t>
            </a:r>
            <a:r>
              <a:rPr lang="en-IN" dirty="0" err="1" smtClean="0"/>
              <a:t>Vapnik-Chervonenkis</a:t>
            </a:r>
            <a:r>
              <a:rPr lang="en-IN" dirty="0" smtClean="0"/>
              <a:t>)</a:t>
            </a:r>
            <a:r>
              <a:rPr lang="en-US" dirty="0" smtClean="0"/>
              <a:t> dimension to sample complexity. </a:t>
            </a:r>
          </a:p>
          <a:p>
            <a:r>
              <a:rPr lang="en-US" dirty="0" smtClean="0"/>
              <a:t>PAC learning seeks to identify </a:t>
            </a:r>
            <a:r>
              <a:rPr lang="en-US" dirty="0" smtClean="0">
                <a:solidFill>
                  <a:srgbClr val="FF0000"/>
                </a:solidFill>
              </a:rPr>
              <a:t>the minimum sample size that will, with high probability</a:t>
            </a:r>
            <a:r>
              <a:rPr lang="en-US" dirty="0" smtClean="0"/>
              <a:t>, produce a hypothesis within a specified error tolerance of the best possible hypothesis.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1"/>
            <a:ext cx="8229600" cy="4953000"/>
          </a:xfrm>
        </p:spPr>
        <p:txBody>
          <a:bodyPr>
            <a:normAutofit fontScale="92500"/>
          </a:bodyPr>
          <a:lstStyle/>
          <a:p>
            <a:r>
              <a:rPr lang="en-US" dirty="0" smtClean="0"/>
              <a:t> The PAC learning bound is given by:</a:t>
            </a:r>
          </a:p>
          <a:p>
            <a:r>
              <a:rPr lang="en-US" dirty="0" smtClean="0"/>
              <a:t>N &gt;= (1/ε) * (</a:t>
            </a:r>
            <a:r>
              <a:rPr lang="en-US" dirty="0" err="1" smtClean="0"/>
              <a:t>log|H</a:t>
            </a:r>
            <a:r>
              <a:rPr lang="en-US" dirty="0" smtClean="0"/>
              <a:t>| + log(1/δ)),</a:t>
            </a:r>
          </a:p>
          <a:p>
            <a:pPr>
              <a:buNone/>
            </a:pPr>
            <a:r>
              <a:rPr lang="en-US" dirty="0" smtClean="0"/>
              <a:t>Where,</a:t>
            </a:r>
          </a:p>
          <a:p>
            <a:r>
              <a:rPr lang="en-US" dirty="0" smtClean="0"/>
              <a:t>N(m) is the sample size,</a:t>
            </a:r>
          </a:p>
          <a:p>
            <a:r>
              <a:rPr lang="en-US" dirty="0" smtClean="0"/>
              <a:t>ε is the maximum acceptable error (the 'approximately correct' part- (desired accuracy)),</a:t>
            </a:r>
          </a:p>
          <a:p>
            <a:r>
              <a:rPr lang="en-US" dirty="0" smtClean="0"/>
              <a:t>|H| is the size of the hypothesis space (related to VC dimension),</a:t>
            </a:r>
          </a:p>
          <a:p>
            <a:r>
              <a:rPr lang="en-US" dirty="0" smtClean="0"/>
              <a:t>δ is the acceptable failure probability (desired confidence).</a:t>
            </a: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Finite hypothesis</a:t>
            </a:r>
            <a:endParaRPr lang="en-US" dirty="0"/>
          </a:p>
        </p:txBody>
      </p:sp>
      <p:sp>
        <p:nvSpPr>
          <p:cNvPr id="3" name="Content Placeholder 2"/>
          <p:cNvSpPr>
            <a:spLocks noGrp="1"/>
          </p:cNvSpPr>
          <p:nvPr>
            <p:ph idx="1"/>
          </p:nvPr>
        </p:nvSpPr>
        <p:spPr/>
        <p:txBody>
          <a:bodyPr/>
          <a:lstStyle/>
          <a:p>
            <a:r>
              <a:rPr lang="en-US" dirty="0" smtClean="0"/>
              <a:t> A finite hypothesis space consists of a </a:t>
            </a:r>
            <a:r>
              <a:rPr lang="en-US" dirty="0" smtClean="0">
                <a:solidFill>
                  <a:srgbClr val="FF0000"/>
                </a:solidFill>
              </a:rPr>
              <a:t>limited, countable set of hypotheses </a:t>
            </a:r>
            <a:r>
              <a:rPr lang="en-US" dirty="0" smtClean="0"/>
              <a:t>(models or functions) that can be selected to explain or predict outcomes based on the input data.</a:t>
            </a:r>
          </a:p>
          <a:p>
            <a:r>
              <a:rPr lang="en-US" b="1" dirty="0" smtClean="0"/>
              <a:t>Example</a:t>
            </a:r>
            <a:r>
              <a:rPr lang="en-US" dirty="0" smtClean="0"/>
              <a:t>: Decision trees with a limited depth, a fixed number of linear classifiers, or a specific set of rules in rule-based learning.</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Implications</a:t>
            </a:r>
            <a:endParaRPr lang="en-US" dirty="0"/>
          </a:p>
        </p:txBody>
      </p:sp>
      <p:sp>
        <p:nvSpPr>
          <p:cNvPr id="3" name="Content Placeholder 2"/>
          <p:cNvSpPr>
            <a:spLocks noGrp="1"/>
          </p:cNvSpPr>
          <p:nvPr>
            <p:ph idx="1"/>
          </p:nvPr>
        </p:nvSpPr>
        <p:spPr/>
        <p:txBody>
          <a:bodyPr/>
          <a:lstStyle/>
          <a:p>
            <a:r>
              <a:rPr lang="en-US" dirty="0" smtClean="0"/>
              <a:t>Easier to manage and evaluate since the number of hypotheses is small.</a:t>
            </a:r>
          </a:p>
          <a:p>
            <a:r>
              <a:rPr lang="en-US" dirty="0" smtClean="0"/>
              <a:t>Risk of under-fitting if the hypothesis space is too constrained and does not capture the underlying data distribution.</a:t>
            </a:r>
          </a:p>
          <a:p>
            <a:r>
              <a:rPr lang="en-US" dirty="0" smtClean="0"/>
              <a:t>It can be easier to ensure generalization since over-fitting can be less of a concern due to the limited complexity.</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IN" dirty="0" smtClean="0"/>
              <a:t>An </a:t>
            </a:r>
            <a:r>
              <a:rPr lang="en-IN" b="1" dirty="0" err="1" smtClean="0"/>
              <a:t>overfit</a:t>
            </a:r>
            <a:r>
              <a:rPr lang="en-IN" b="1" dirty="0" smtClean="0"/>
              <a:t> model</a:t>
            </a:r>
            <a:r>
              <a:rPr lang="en-IN" dirty="0" smtClean="0"/>
              <a:t> can result in high model accuracy on training data but low accuracy on new data due to memorization instead of generalization(Generalization is the model's ability to understand and apply learned patterns to unseen data).</a:t>
            </a:r>
          </a:p>
          <a:p>
            <a:r>
              <a:rPr lang="en-IN" dirty="0" smtClean="0"/>
              <a:t>An </a:t>
            </a:r>
            <a:r>
              <a:rPr lang="en-IN" b="1" dirty="0" err="1" smtClean="0"/>
              <a:t>underfit</a:t>
            </a:r>
            <a:r>
              <a:rPr lang="en-IN" b="1" dirty="0" smtClean="0"/>
              <a:t> model</a:t>
            </a:r>
            <a:r>
              <a:rPr lang="en-IN" dirty="0" smtClean="0"/>
              <a:t> performs poorly on training data and testing data because it fails to capture the dominant patterns in the data set.</a:t>
            </a:r>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Infinite hypothesis space</a:t>
            </a:r>
            <a:endParaRPr lang="en-US" dirty="0"/>
          </a:p>
        </p:txBody>
      </p:sp>
      <p:sp>
        <p:nvSpPr>
          <p:cNvPr id="3" name="Content Placeholder 2"/>
          <p:cNvSpPr>
            <a:spLocks noGrp="1"/>
          </p:cNvSpPr>
          <p:nvPr>
            <p:ph idx="1"/>
          </p:nvPr>
        </p:nvSpPr>
        <p:spPr>
          <a:xfrm>
            <a:off x="457200" y="1524001"/>
            <a:ext cx="8229600" cy="4876800"/>
          </a:xfrm>
        </p:spPr>
        <p:txBody>
          <a:bodyPr>
            <a:normAutofit lnSpcReduction="10000"/>
          </a:bodyPr>
          <a:lstStyle/>
          <a:p>
            <a:r>
              <a:rPr lang="en-US" dirty="0" smtClean="0"/>
              <a:t>An infinite hypothesis space contains an unbounded or uncountable set of hypotheses. This means there are potentially limitless models that could be considered for fitting the data.</a:t>
            </a:r>
          </a:p>
          <a:p>
            <a:r>
              <a:rPr lang="en-US" b="1" dirty="0" smtClean="0"/>
              <a:t>Example</a:t>
            </a:r>
            <a:r>
              <a:rPr lang="en-US" dirty="0" smtClean="0"/>
              <a:t>: Linear regression with any real-valued coefficients, neural networks with varying architectures and parameters, or kernel methods in support vector machines (SVMs).</a:t>
            </a:r>
          </a:p>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Implications</a:t>
            </a:r>
            <a:endParaRPr lang="en-US" dirty="0"/>
          </a:p>
        </p:txBody>
      </p:sp>
      <p:sp>
        <p:nvSpPr>
          <p:cNvPr id="3" name="Content Placeholder 2"/>
          <p:cNvSpPr>
            <a:spLocks noGrp="1"/>
          </p:cNvSpPr>
          <p:nvPr>
            <p:ph idx="1"/>
          </p:nvPr>
        </p:nvSpPr>
        <p:spPr/>
        <p:txBody>
          <a:bodyPr/>
          <a:lstStyle/>
          <a:p>
            <a:r>
              <a:rPr lang="en-US" dirty="0" smtClean="0"/>
              <a:t>Greater flexibility and the ability to capture complex patterns in the data.</a:t>
            </a:r>
          </a:p>
          <a:p>
            <a:r>
              <a:rPr lang="en-US" dirty="0" smtClean="0"/>
              <a:t>Higher risk of over-fitting, as the model can become too complex and fit noise in the data rather than the underlying distribution.</a:t>
            </a:r>
          </a:p>
          <a:p>
            <a:r>
              <a:rPr lang="en-US" dirty="0" smtClean="0"/>
              <a:t>Requires more advanced techniques for regularization and validation to ensure that the model generalizes well to unseen data.</a:t>
            </a: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Mistake bound model </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mistake bound (MB) model in machine learning is a model that evaluates a learner based on </a:t>
            </a:r>
            <a:r>
              <a:rPr lang="en-US" dirty="0" smtClean="0">
                <a:solidFill>
                  <a:srgbClr val="FF0000"/>
                </a:solidFill>
              </a:rPr>
              <a:t>the total number of mistakes it makes before reaching the correct hypothesis</a:t>
            </a:r>
            <a:r>
              <a:rPr lang="en-US" dirty="0" smtClean="0"/>
              <a:t>.</a:t>
            </a:r>
          </a:p>
          <a:p>
            <a:r>
              <a:rPr lang="en-US" dirty="0" smtClean="0"/>
              <a:t>The model is used in cumulative learning scenarios, where the learning process is made up of rounds.</a:t>
            </a:r>
          </a:p>
          <a:p>
            <a:r>
              <a:rPr lang="en-US" dirty="0" smtClean="0"/>
              <a:t> In each round, the learner is asked about an aspect of the learned phenomenon, makes a prediction, and is told if it was correct.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The goal of the learner is to make the minimum number of mistakes possible in the learning process.</a:t>
            </a:r>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Mistake bound model algorithm</a:t>
            </a:r>
            <a:endParaRPr lang="en-US" dirty="0"/>
          </a:p>
        </p:txBody>
      </p:sp>
      <p:sp>
        <p:nvSpPr>
          <p:cNvPr id="3" name="Content Placeholder 2"/>
          <p:cNvSpPr>
            <a:spLocks noGrp="1"/>
          </p:cNvSpPr>
          <p:nvPr>
            <p:ph idx="1"/>
          </p:nvPr>
        </p:nvSpPr>
        <p:spPr/>
        <p:txBody>
          <a:bodyPr>
            <a:normAutofit/>
          </a:bodyPr>
          <a:lstStyle/>
          <a:p>
            <a:r>
              <a:rPr lang="en-US" dirty="0" smtClean="0"/>
              <a:t>An algorithm A is said to learn C in the mistake bound model if for any concept c ∈ C, and for any ordering of examples consistent with c, the total number of mistakes ever made by A is bounded by p(n, size(c)), </a:t>
            </a:r>
          </a:p>
          <a:p>
            <a:r>
              <a:rPr lang="en-US" dirty="0" smtClean="0"/>
              <a:t>Where p is a polynomial. </a:t>
            </a:r>
          </a:p>
          <a:p>
            <a:r>
              <a:rPr lang="en-US" dirty="0" smtClean="0"/>
              <a:t>We say that A is a polynomial time learning algorithm if its running time per stage is also polynomial in n and size(c).</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Conjunctions</a:t>
            </a:r>
          </a:p>
          <a:p>
            <a:r>
              <a:rPr lang="en-US" dirty="0" smtClean="0"/>
              <a:t>Let us assume that we know that the target concept c will be a conjunction of a set of (possibly negated) variables, with an example space of n-bit strings. Consider the following algorithm: </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Algorithm for MB</a:t>
            </a:r>
            <a:endParaRPr lang="en-US" dirty="0"/>
          </a:p>
        </p:txBody>
      </p:sp>
      <p:sp>
        <p:nvSpPr>
          <p:cNvPr id="3" name="Content Placeholder 2"/>
          <p:cNvSpPr>
            <a:spLocks noGrp="1"/>
          </p:cNvSpPr>
          <p:nvPr>
            <p:ph idx="1"/>
          </p:nvPr>
        </p:nvSpPr>
        <p:spPr/>
        <p:txBody>
          <a:bodyPr>
            <a:normAutofit lnSpcReduction="10000"/>
          </a:bodyPr>
          <a:lstStyle/>
          <a:p>
            <a:r>
              <a:rPr lang="en-US" dirty="0" smtClean="0"/>
              <a:t>1. Initialize hypothesis h to be x1x1 x2x2 . . . </a:t>
            </a:r>
            <a:r>
              <a:rPr lang="en-US" dirty="0" err="1" smtClean="0"/>
              <a:t>xnxn</a:t>
            </a:r>
            <a:r>
              <a:rPr lang="en-US" dirty="0" smtClean="0"/>
              <a:t> .</a:t>
            </a:r>
          </a:p>
          <a:p>
            <a:r>
              <a:rPr lang="en-US" dirty="0" smtClean="0"/>
              <a:t> 2. Predict using h(x). </a:t>
            </a:r>
          </a:p>
          <a:p>
            <a:r>
              <a:rPr lang="en-US" dirty="0" smtClean="0"/>
              <a:t>3. If the prediction is False but the label is actually True, remove all the literals in h which are False in x. (So if the first mistake is on 1001, the new h will be x1x2 x3 x4.) </a:t>
            </a:r>
          </a:p>
          <a:p>
            <a:r>
              <a:rPr lang="en-US" dirty="0" smtClean="0"/>
              <a:t>4. If the prediction is True but the label is actually False, then output “no consistent conjunction”. 5. Return to step 2.</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t>Lower Bound: In fact no deterministic algorithm can achieve a mistake bound better than n in the worst case. </a:t>
            </a:r>
          </a:p>
          <a:p>
            <a:r>
              <a:rPr lang="en-US" dirty="0" smtClean="0"/>
              <a:t>This can be seen by considering the sequence of n examples in which the </a:t>
            </a:r>
            <a:r>
              <a:rPr lang="en-US" dirty="0" err="1" smtClean="0"/>
              <a:t>ith</a:t>
            </a:r>
            <a:r>
              <a:rPr lang="en-US" dirty="0" smtClean="0"/>
              <a:t> example has all bits except the </a:t>
            </a:r>
            <a:r>
              <a:rPr lang="en-US" dirty="0" err="1" smtClean="0"/>
              <a:t>ith</a:t>
            </a:r>
            <a:r>
              <a:rPr lang="en-US" dirty="0" smtClean="0"/>
              <a:t> bit set to 1</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smtClean="0"/>
              <a:t>The target concept c will be a monotone conjunction constructed by including xi only if the algorithm predicts the </a:t>
            </a:r>
            <a:r>
              <a:rPr lang="en-US" dirty="0" err="1" smtClean="0"/>
              <a:t>ith</a:t>
            </a:r>
            <a:r>
              <a:rPr lang="en-US" dirty="0" smtClean="0"/>
              <a:t> example to be True (in which case the </a:t>
            </a:r>
            <a:r>
              <a:rPr lang="en-US" dirty="0" err="1" smtClean="0"/>
              <a:t>ith</a:t>
            </a:r>
            <a:r>
              <a:rPr lang="en-US" dirty="0" smtClean="0"/>
              <a:t> example’s label will be False).</a:t>
            </a:r>
          </a:p>
          <a:p>
            <a:r>
              <a:rPr lang="en-US" dirty="0" smtClean="0"/>
              <a:t> (If the algorithm predicts the </a:t>
            </a:r>
            <a:r>
              <a:rPr lang="en-US" dirty="0" err="1" smtClean="0"/>
              <a:t>ith</a:t>
            </a:r>
            <a:r>
              <a:rPr lang="en-US" dirty="0" smtClean="0"/>
              <a:t> example to be False, then the target concept will not include xi , and so the true label will be True.) The algorithm will have made n mistakes by the time all of these n examples are processed.</a:t>
            </a:r>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set of rules</a:t>
            </a:r>
            <a:endParaRPr lang="en-US" dirty="0"/>
          </a:p>
        </p:txBody>
      </p:sp>
      <p:sp>
        <p:nvSpPr>
          <p:cNvPr id="3" name="Content Placeholder 2"/>
          <p:cNvSpPr>
            <a:spLocks noGrp="1"/>
          </p:cNvSpPr>
          <p:nvPr>
            <p:ph idx="1"/>
          </p:nvPr>
        </p:nvSpPr>
        <p:spPr>
          <a:xfrm>
            <a:off x="457200" y="1524001"/>
            <a:ext cx="8229600" cy="4876800"/>
          </a:xfrm>
        </p:spPr>
        <p:txBody>
          <a:bodyPr>
            <a:normAutofit lnSpcReduction="10000"/>
          </a:bodyPr>
          <a:lstStyle/>
          <a:p>
            <a:r>
              <a:rPr lang="en-US" dirty="0" smtClean="0"/>
              <a:t>A learning rule set in machine learning is a </a:t>
            </a:r>
            <a:r>
              <a:rPr lang="en-US" dirty="0" smtClean="0">
                <a:solidFill>
                  <a:srgbClr val="FF0000"/>
                </a:solidFill>
              </a:rPr>
              <a:t>collection of rules that describe a dataset</a:t>
            </a:r>
            <a:r>
              <a:rPr lang="en-US" dirty="0" smtClean="0"/>
              <a:t>. The process of creating these </a:t>
            </a:r>
            <a:r>
              <a:rPr lang="en-US" dirty="0" smtClean="0">
                <a:solidFill>
                  <a:srgbClr val="FF0000"/>
                </a:solidFill>
              </a:rPr>
              <a:t>rules from data </a:t>
            </a:r>
            <a:r>
              <a:rPr lang="en-US" dirty="0" smtClean="0"/>
              <a:t>is called rule learning.</a:t>
            </a:r>
          </a:p>
          <a:p>
            <a:pPr>
              <a:buNone/>
            </a:pPr>
            <a:r>
              <a:rPr lang="en-US" b="1" dirty="0" smtClean="0"/>
              <a:t>Rule types</a:t>
            </a:r>
            <a:endParaRPr lang="en-US" dirty="0" smtClean="0"/>
          </a:p>
          <a:p>
            <a:r>
              <a:rPr lang="en-US" dirty="0" smtClean="0"/>
              <a:t>The most common type of rule learning is inductive rule learning, also known as rule induction. Other types of rules include association rules, which are used to express relationships in large datasets</a:t>
            </a:r>
          </a:p>
          <a:p>
            <a:endParaRPr lang="en-US"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1"/>
            <a:ext cx="8229600" cy="4953000"/>
          </a:xfrm>
        </p:spPr>
        <p:txBody>
          <a:bodyPr>
            <a:normAutofit fontScale="92500"/>
          </a:bodyPr>
          <a:lstStyle/>
          <a:p>
            <a:r>
              <a:rPr lang="en-IN" u="sng" dirty="0" smtClean="0">
                <a:solidFill>
                  <a:srgbClr val="FF0000"/>
                </a:solidFill>
              </a:rPr>
              <a:t>Inductive Learning Algorithm </a:t>
            </a:r>
            <a:r>
              <a:rPr lang="en-IN" dirty="0" smtClean="0"/>
              <a:t>(ILA) is an iterative and inductive machine learning algorithm that is used for generating </a:t>
            </a:r>
            <a:r>
              <a:rPr lang="en-IN" dirty="0" smtClean="0">
                <a:solidFill>
                  <a:srgbClr val="FF0000"/>
                </a:solidFill>
              </a:rPr>
              <a:t>a set of classification rules, </a:t>
            </a:r>
            <a:r>
              <a:rPr lang="en-IN" dirty="0" smtClean="0"/>
              <a:t>which produces rules of the form </a:t>
            </a:r>
            <a:r>
              <a:rPr lang="en-IN" dirty="0" smtClean="0">
                <a:solidFill>
                  <a:srgbClr val="FF0000"/>
                </a:solidFill>
              </a:rPr>
              <a:t>“IF-THEN”, </a:t>
            </a:r>
            <a:r>
              <a:rPr lang="en-IN" dirty="0" smtClean="0"/>
              <a:t>for a set of examples, producing rules at each iteration and appending to the set of rules.</a:t>
            </a:r>
          </a:p>
          <a:p>
            <a:r>
              <a:rPr lang="en-IN" u="sng" dirty="0" smtClean="0">
                <a:solidFill>
                  <a:srgbClr val="FF0000"/>
                </a:solidFill>
              </a:rPr>
              <a:t>An association rule</a:t>
            </a:r>
            <a:r>
              <a:rPr lang="en-IN" dirty="0" smtClean="0"/>
              <a:t> identifies the </a:t>
            </a:r>
            <a:r>
              <a:rPr lang="en-IN" dirty="0" smtClean="0">
                <a:solidFill>
                  <a:srgbClr val="FF0000"/>
                </a:solidFill>
              </a:rPr>
              <a:t>relationship between two or more items</a:t>
            </a:r>
            <a:r>
              <a:rPr lang="en-IN" dirty="0" smtClean="0"/>
              <a:t> in large datasets, typically expressed as an "if-then" statement like {Diapers} → {Beer}. </a:t>
            </a:r>
            <a:endParaRPr lang="en-IN"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Rule form</a:t>
            </a:r>
          </a:p>
        </p:txBody>
      </p:sp>
      <p:sp>
        <p:nvSpPr>
          <p:cNvPr id="3" name="Content Placeholder 2"/>
          <p:cNvSpPr>
            <a:spLocks noGrp="1"/>
          </p:cNvSpPr>
          <p:nvPr>
            <p:ph idx="1"/>
          </p:nvPr>
        </p:nvSpPr>
        <p:spPr>
          <a:xfrm>
            <a:off x="583809" y="2287489"/>
            <a:ext cx="8229600" cy="3198911"/>
          </a:xfrm>
        </p:spPr>
        <p:txBody>
          <a:bodyPr>
            <a:normAutofit/>
          </a:bodyPr>
          <a:lstStyle/>
          <a:p>
            <a:r>
              <a:rPr lang="en-US" dirty="0" smtClean="0"/>
              <a:t>The basic form of a rule is </a:t>
            </a:r>
            <a:r>
              <a:rPr lang="en-US" b="1" dirty="0" smtClean="0">
                <a:solidFill>
                  <a:srgbClr val="FF0000"/>
                </a:solidFill>
              </a:rPr>
              <a:t>"IF PREMISE THEN CONSEQUENT"</a:t>
            </a:r>
            <a:r>
              <a:rPr lang="en-US" dirty="0" smtClean="0"/>
              <a:t>. This means that the consequent is true whenever the premise is true.</a:t>
            </a: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1"/>
            <a:ext cx="8229600" cy="4876800"/>
          </a:xfrm>
        </p:spPr>
        <p:txBody>
          <a:bodyPr/>
          <a:lstStyle/>
          <a:p>
            <a:r>
              <a:rPr lang="en-IN" u="sng" dirty="0" smtClean="0">
                <a:solidFill>
                  <a:srgbClr val="FF0000"/>
                </a:solidFill>
              </a:rPr>
              <a:t>Learning set of rules </a:t>
            </a:r>
            <a:r>
              <a:rPr lang="en-IN" dirty="0" smtClean="0"/>
              <a:t>is of Two ways: </a:t>
            </a:r>
          </a:p>
          <a:p>
            <a:pPr marL="633222" indent="-514350">
              <a:buAutoNum type="arabicPeriod"/>
            </a:pPr>
            <a:r>
              <a:rPr lang="en-IN" dirty="0" smtClean="0"/>
              <a:t>First learn </a:t>
            </a:r>
            <a:r>
              <a:rPr lang="en-IN" dirty="0" smtClean="0">
                <a:solidFill>
                  <a:srgbClr val="FF0000"/>
                </a:solidFill>
              </a:rPr>
              <a:t>decision tree </a:t>
            </a:r>
            <a:r>
              <a:rPr lang="en-IN" dirty="0" smtClean="0"/>
              <a:t>and translate that tree into rules, one rule for each leaf node.</a:t>
            </a:r>
          </a:p>
          <a:p>
            <a:pPr marL="633222" indent="-514350">
              <a:buAutoNum type="arabicPeriod"/>
            </a:pPr>
            <a:r>
              <a:rPr lang="en-IN" dirty="0" smtClean="0"/>
              <a:t>Use a </a:t>
            </a:r>
            <a:r>
              <a:rPr lang="en-IN" dirty="0" smtClean="0">
                <a:solidFill>
                  <a:srgbClr val="FF0000"/>
                </a:solidFill>
              </a:rPr>
              <a:t>genetic algorithm </a:t>
            </a:r>
            <a:r>
              <a:rPr lang="en-IN" dirty="0" smtClean="0"/>
              <a:t>that encodes each rule as a bit string.</a:t>
            </a:r>
          </a:p>
          <a:p>
            <a:pPr marL="633222" indent="-514350">
              <a:buFont typeface="Wingdings" pitchFamily="2" charset="2"/>
              <a:buChar char="§"/>
            </a:pPr>
            <a:r>
              <a:rPr lang="en-IN" dirty="0" smtClean="0"/>
              <a:t>We have </a:t>
            </a:r>
            <a:r>
              <a:rPr lang="en-IN" dirty="0" smtClean="0">
                <a:solidFill>
                  <a:srgbClr val="FF0000"/>
                </a:solidFill>
              </a:rPr>
              <a:t>two types of algorithms </a:t>
            </a:r>
            <a:r>
              <a:rPr lang="en-IN" dirty="0" smtClean="0"/>
              <a:t>that learn directly from set of rules:</a:t>
            </a:r>
          </a:p>
          <a:p>
            <a:pPr marL="690372" indent="-571500">
              <a:buFont typeface="+mj-lt"/>
              <a:buAutoNum type="romanLcPeriod"/>
            </a:pPr>
            <a:r>
              <a:rPr lang="en-IN" dirty="0" smtClean="0">
                <a:solidFill>
                  <a:srgbClr val="FF0000"/>
                </a:solidFill>
              </a:rPr>
              <a:t>First order rules</a:t>
            </a:r>
          </a:p>
          <a:p>
            <a:pPr marL="690372" indent="-571500">
              <a:buFont typeface="+mj-lt"/>
              <a:buAutoNum type="romanLcPeriod"/>
            </a:pPr>
            <a:r>
              <a:rPr lang="en-IN" dirty="0" smtClean="0">
                <a:solidFill>
                  <a:srgbClr val="FF0000"/>
                </a:solidFill>
              </a:rPr>
              <a:t>Sequential covering algorithm</a:t>
            </a:r>
            <a:endParaRPr lang="en-IN" dirty="0">
              <a:solidFill>
                <a:srgbClr val="FF0000"/>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a:t>
            </a:r>
            <a:endParaRPr lang="en-US" dirty="0"/>
          </a:p>
        </p:txBody>
      </p:sp>
      <p:pic>
        <p:nvPicPr>
          <p:cNvPr id="3074" name="Picture 2"/>
          <p:cNvPicPr>
            <a:picLocks noGrp="1" noChangeAspect="1" noChangeArrowheads="1"/>
          </p:cNvPicPr>
          <p:nvPr>
            <p:ph idx="1"/>
          </p:nvPr>
        </p:nvPicPr>
        <p:blipFill>
          <a:blip r:embed="rId2"/>
          <a:srcRect l="18512" t="24228" r="40739" b="31297"/>
          <a:stretch>
            <a:fillRect/>
          </a:stretch>
        </p:blipFill>
        <p:spPr bwMode="auto">
          <a:xfrm>
            <a:off x="457201" y="1298790"/>
            <a:ext cx="8411596" cy="548301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US" dirty="0"/>
          </a:p>
        </p:txBody>
      </p:sp>
      <p:pic>
        <p:nvPicPr>
          <p:cNvPr id="4098" name="Picture 2"/>
          <p:cNvPicPr>
            <a:picLocks noGrp="1" noChangeAspect="1" noChangeArrowheads="1"/>
          </p:cNvPicPr>
          <p:nvPr>
            <p:ph idx="1"/>
          </p:nvPr>
        </p:nvPicPr>
        <p:blipFill>
          <a:blip r:embed="rId2"/>
          <a:srcRect l="26847" t="17639" r="5547" b="4942"/>
          <a:stretch>
            <a:fillRect/>
          </a:stretch>
        </p:blipFill>
        <p:spPr bwMode="auto">
          <a:xfrm>
            <a:off x="914400" y="1600200"/>
            <a:ext cx="7391400" cy="475884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Learning strategies</a:t>
            </a:r>
            <a:endParaRPr lang="en-US" dirty="0"/>
          </a:p>
        </p:txBody>
      </p:sp>
      <p:sp>
        <p:nvSpPr>
          <p:cNvPr id="3" name="Content Placeholder 2"/>
          <p:cNvSpPr>
            <a:spLocks noGrp="1"/>
          </p:cNvSpPr>
          <p:nvPr>
            <p:ph idx="1"/>
          </p:nvPr>
        </p:nvSpPr>
        <p:spPr/>
        <p:txBody>
          <a:bodyPr/>
          <a:lstStyle/>
          <a:p>
            <a:pPr fontAlgn="ctr"/>
            <a:r>
              <a:rPr lang="en-US" dirty="0" smtClean="0"/>
              <a:t>Some strategies for learning rule sets include: </a:t>
            </a:r>
          </a:p>
          <a:p>
            <a:pPr fontAlgn="ctr"/>
            <a:r>
              <a:rPr lang="en-US" b="1" dirty="0" smtClean="0"/>
              <a:t>Learn-One-Rule</a:t>
            </a:r>
            <a:r>
              <a:rPr lang="en-US" dirty="0" smtClean="0"/>
              <a:t>: Searches from general to specific. </a:t>
            </a:r>
          </a:p>
          <a:p>
            <a:pPr fontAlgn="ctr"/>
            <a:r>
              <a:rPr lang="en-US" b="1" dirty="0" smtClean="0"/>
              <a:t>Find-S</a:t>
            </a:r>
            <a:r>
              <a:rPr lang="en-US" dirty="0" smtClean="0"/>
              <a:t>: Searches from specific to general. </a:t>
            </a:r>
          </a:p>
          <a:p>
            <a:r>
              <a:rPr lang="en-US" b="1" dirty="0" smtClean="0"/>
              <a:t>FOIL</a:t>
            </a:r>
            <a:r>
              <a:rPr lang="en-US" dirty="0" smtClean="0"/>
              <a:t>: Learns one rule at a time, removing positive examples covered by the learned rule before attempting to learn another rule.</a:t>
            </a:r>
          </a:p>
          <a:p>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Sequential Covering Algorithm</a:t>
            </a:r>
            <a:endParaRPr lang="en-US" dirty="0"/>
          </a:p>
        </p:txBody>
      </p:sp>
      <p:sp>
        <p:nvSpPr>
          <p:cNvPr id="3" name="Content Placeholder 2"/>
          <p:cNvSpPr>
            <a:spLocks noGrp="1"/>
          </p:cNvSpPr>
          <p:nvPr>
            <p:ph idx="1"/>
          </p:nvPr>
        </p:nvSpPr>
        <p:spPr/>
        <p:txBody>
          <a:bodyPr/>
          <a:lstStyle/>
          <a:p>
            <a:r>
              <a:rPr lang="en-US" dirty="0" smtClean="0"/>
              <a:t>Sequential Covering is a popular algorithm based on Rule-Based Classification used for learning a disjunctive set of rules. </a:t>
            </a:r>
          </a:p>
          <a:p>
            <a:r>
              <a:rPr lang="en-US" dirty="0" smtClean="0"/>
              <a:t>The basic idea here is to learn one rule, remove the data that it covers, then repeat the same process.</a:t>
            </a:r>
          </a:p>
          <a:p>
            <a:r>
              <a:rPr lang="en-US" dirty="0" smtClean="0"/>
              <a:t> In this way, it covers all the rules involved with it in a sequential manner during the training phase. </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Sequential Covering Algorithm</a:t>
            </a:r>
            <a:endParaRPr lang="en-US" dirty="0"/>
          </a:p>
        </p:txBody>
      </p:sp>
      <p:sp>
        <p:nvSpPr>
          <p:cNvPr id="3" name="Content Placeholder 2"/>
          <p:cNvSpPr>
            <a:spLocks noGrp="1"/>
          </p:cNvSpPr>
          <p:nvPr>
            <p:ph idx="1"/>
          </p:nvPr>
        </p:nvSpPr>
        <p:spPr>
          <a:xfrm>
            <a:off x="457200" y="1447801"/>
            <a:ext cx="8229600" cy="4953000"/>
          </a:xfrm>
        </p:spPr>
        <p:txBody>
          <a:bodyPr>
            <a:normAutofit fontScale="92500"/>
          </a:bodyPr>
          <a:lstStyle/>
          <a:p>
            <a:r>
              <a:rPr lang="en-US" dirty="0" smtClean="0"/>
              <a:t>The algorithm involves a set of ‘ordered rules’ or ‘list of decisions’ to be made.</a:t>
            </a:r>
          </a:p>
          <a:p>
            <a:r>
              <a:rPr lang="en-US" b="1" i="1" dirty="0" smtClean="0"/>
              <a:t>Step 1 –</a:t>
            </a:r>
            <a:r>
              <a:rPr lang="en-US" i="1" dirty="0" smtClean="0"/>
              <a:t> create an empty decision list, ‘R’.</a:t>
            </a:r>
          </a:p>
          <a:p>
            <a:r>
              <a:rPr lang="en-US" i="1" dirty="0" smtClean="0"/>
              <a:t> </a:t>
            </a:r>
            <a:r>
              <a:rPr lang="en-US" b="1" i="1" dirty="0" smtClean="0"/>
              <a:t>Step 2 – ‘</a:t>
            </a:r>
            <a:r>
              <a:rPr lang="en-US" i="1" dirty="0" smtClean="0"/>
              <a:t>Learn-One-Rule’ Algorithm It extracts the best rule for a particular class ‘y’, where a rule.</a:t>
            </a:r>
            <a:endParaRPr lang="en-US" b="1" i="1" dirty="0" smtClean="0"/>
          </a:p>
          <a:p>
            <a:pPr>
              <a:buNone/>
            </a:pPr>
            <a:r>
              <a:rPr lang="en-US" i="1" dirty="0" smtClean="0"/>
              <a:t>In the beginning, </a:t>
            </a:r>
          </a:p>
          <a:p>
            <a:r>
              <a:rPr lang="en-US" b="1" i="1" dirty="0" smtClean="0"/>
              <a:t>Step 2.a –</a:t>
            </a:r>
            <a:r>
              <a:rPr lang="en-US" i="1" dirty="0" smtClean="0"/>
              <a:t> if all training examples ∈ class ‘y’, then it’s classified as </a:t>
            </a:r>
            <a:r>
              <a:rPr lang="en-US" b="1" i="1" dirty="0" smtClean="0"/>
              <a:t>positive example</a:t>
            </a:r>
            <a:r>
              <a:rPr lang="en-US" i="1" dirty="0" smtClean="0"/>
              <a:t>. </a:t>
            </a:r>
          </a:p>
          <a:p>
            <a:r>
              <a:rPr lang="en-US" b="1" i="1" dirty="0" smtClean="0"/>
              <a:t>Step 2.b – </a:t>
            </a:r>
            <a:r>
              <a:rPr lang="en-US" i="1" dirty="0" smtClean="0"/>
              <a:t>else if all training examples ∉ class ‘y’, then it’s classified as </a:t>
            </a:r>
            <a:r>
              <a:rPr lang="en-US" b="1" i="1" dirty="0" smtClean="0"/>
              <a:t>negative example</a:t>
            </a:r>
            <a:r>
              <a:rPr lang="en-US" i="1" dirty="0" smtClean="0"/>
              <a:t>.</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1"/>
            <a:ext cx="8229600" cy="4953000"/>
          </a:xfrm>
        </p:spPr>
        <p:txBody>
          <a:bodyPr/>
          <a:lstStyle/>
          <a:p>
            <a:r>
              <a:rPr lang="en-US" b="1" i="1" dirty="0" smtClean="0"/>
              <a:t>Step 3 –</a:t>
            </a:r>
            <a:r>
              <a:rPr lang="en-US" i="1" dirty="0" smtClean="0"/>
              <a:t> The rule becomes </a:t>
            </a:r>
            <a:r>
              <a:rPr lang="en-US" b="1" i="1" dirty="0" smtClean="0"/>
              <a:t>‘desirable’</a:t>
            </a:r>
            <a:r>
              <a:rPr lang="en-US" i="1" dirty="0" smtClean="0"/>
              <a:t> when it covers a majority of the positive examples. </a:t>
            </a:r>
            <a:r>
              <a:rPr lang="en-US" b="1" i="1" dirty="0" smtClean="0"/>
              <a:t>Step 4 – </a:t>
            </a:r>
            <a:r>
              <a:rPr lang="en-US" i="1" dirty="0" smtClean="0"/>
              <a:t>When this rule is obtained, delete all the training data associated with that rule. (i.e. when the rule is applied to the dataset, it covers most of the training data, and has to be removed).</a:t>
            </a:r>
          </a:p>
          <a:p>
            <a:r>
              <a:rPr lang="en-US" b="1" i="1" dirty="0" smtClean="0"/>
              <a:t>Step 5 –</a:t>
            </a:r>
            <a:r>
              <a:rPr lang="en-US" i="1" dirty="0" smtClean="0"/>
              <a:t> The new rule is added to the bottom of decision list, ‘R’.</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List format</a:t>
            </a:r>
            <a:endParaRPr lang="en-US" dirty="0"/>
          </a:p>
        </p:txBody>
      </p:sp>
      <p:pic>
        <p:nvPicPr>
          <p:cNvPr id="1026" name="Picture 2"/>
          <p:cNvPicPr>
            <a:picLocks noGrp="1" noChangeAspect="1" noChangeArrowheads="1"/>
          </p:cNvPicPr>
          <p:nvPr>
            <p:ph idx="1"/>
          </p:nvPr>
        </p:nvPicPr>
        <p:blipFill>
          <a:blip r:embed="rId2"/>
          <a:srcRect l="27773" t="15992" r="37035" b="44475"/>
          <a:stretch>
            <a:fillRect/>
          </a:stretch>
        </p:blipFill>
        <p:spPr bwMode="auto">
          <a:xfrm>
            <a:off x="1593849" y="2081463"/>
            <a:ext cx="5873751" cy="37097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smtClean="0"/>
              <a:t>Working of the algorithm</a:t>
            </a:r>
            <a:endParaRPr lang="en-US" dirty="0"/>
          </a:p>
        </p:txBody>
      </p:sp>
      <p:pic>
        <p:nvPicPr>
          <p:cNvPr id="2050" name="Picture 2"/>
          <p:cNvPicPr>
            <a:picLocks noGrp="1" noChangeAspect="1" noChangeArrowheads="1"/>
          </p:cNvPicPr>
          <p:nvPr>
            <p:ph idx="1"/>
          </p:nvPr>
        </p:nvPicPr>
        <p:blipFill>
          <a:blip r:embed="rId2"/>
          <a:srcRect l="21291" t="19286" r="23143" b="13178"/>
          <a:stretch>
            <a:fillRect/>
          </a:stretch>
        </p:blipFill>
        <p:spPr bwMode="auto">
          <a:xfrm>
            <a:off x="914401" y="1676400"/>
            <a:ext cx="7543800" cy="49466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srcRect l="16660" t="29170" r="36108" b="18119"/>
          <a:stretch>
            <a:fillRect/>
          </a:stretch>
        </p:blipFill>
        <p:spPr bwMode="auto">
          <a:xfrm>
            <a:off x="685800" y="1498600"/>
            <a:ext cx="7620000" cy="478117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First order rules </a:t>
            </a:r>
            <a:endParaRPr lang="en-IN" dirty="0"/>
          </a:p>
        </p:txBody>
      </p:sp>
      <p:pic>
        <p:nvPicPr>
          <p:cNvPr id="1026" name="Picture 2"/>
          <p:cNvPicPr>
            <a:picLocks noGrp="1" noChangeAspect="1" noChangeArrowheads="1"/>
          </p:cNvPicPr>
          <p:nvPr>
            <p:ph idx="1"/>
          </p:nvPr>
        </p:nvPicPr>
        <p:blipFill>
          <a:blip r:embed="rId2"/>
          <a:srcRect l="12030" t="22581" r="45369" b="36239"/>
          <a:stretch>
            <a:fillRect/>
          </a:stretch>
        </p:blipFill>
        <p:spPr bwMode="auto">
          <a:xfrm>
            <a:off x="457200" y="1494183"/>
            <a:ext cx="7924800" cy="483041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l="11104" t="48556" r="45369" b="19767"/>
          <a:stretch>
            <a:fillRect/>
          </a:stretch>
        </p:blipFill>
        <p:spPr bwMode="auto">
          <a:xfrm>
            <a:off x="476250" y="2057400"/>
            <a:ext cx="8058150" cy="3810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l="11103" t="25875" r="43517" b="39533"/>
          <a:stretch>
            <a:fillRect/>
          </a:stretch>
        </p:blipFill>
        <p:spPr bwMode="auto">
          <a:xfrm>
            <a:off x="381000" y="2057400"/>
            <a:ext cx="8077200" cy="384265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rcRect l="11103" t="20933" r="44443" b="24708"/>
          <a:stretch>
            <a:fillRect/>
          </a:stretch>
        </p:blipFill>
        <p:spPr bwMode="auto">
          <a:xfrm>
            <a:off x="685800" y="1600200"/>
            <a:ext cx="7696200" cy="45339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1149</TotalTime>
  <Words>1302</Words>
  <Application>Microsoft Office PowerPoint</Application>
  <PresentationFormat>On-screen Show (4:3)</PresentationFormat>
  <Paragraphs>122</Paragraphs>
  <Slides>45</Slides>
  <Notes>0</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Module</vt:lpstr>
      <vt:lpstr>Computational Learning</vt:lpstr>
      <vt:lpstr>Introduction</vt:lpstr>
      <vt:lpstr>Probability Learning</vt:lpstr>
      <vt:lpstr>Probability Distribution</vt:lpstr>
      <vt:lpstr>Slide 5</vt:lpstr>
      <vt:lpstr>Bayesian </vt:lpstr>
      <vt:lpstr>Slide 7</vt:lpstr>
      <vt:lpstr>Hypothesis</vt:lpstr>
      <vt:lpstr>Hypothesis </vt:lpstr>
      <vt:lpstr>Slide 10</vt:lpstr>
      <vt:lpstr>Slide 11</vt:lpstr>
      <vt:lpstr>Slide 12</vt:lpstr>
      <vt:lpstr>Sample complexity</vt:lpstr>
      <vt:lpstr>Slide 14</vt:lpstr>
      <vt:lpstr>Mathematical backbone of sample complexity</vt:lpstr>
      <vt:lpstr>Slide 16</vt:lpstr>
      <vt:lpstr>Finite hypothesis</vt:lpstr>
      <vt:lpstr>Implications</vt:lpstr>
      <vt:lpstr>Slide 19</vt:lpstr>
      <vt:lpstr>Infinite hypothesis space</vt:lpstr>
      <vt:lpstr>Implications</vt:lpstr>
      <vt:lpstr>Mistake bound model </vt:lpstr>
      <vt:lpstr>Slide 23</vt:lpstr>
      <vt:lpstr>Mistake bound model algorithm</vt:lpstr>
      <vt:lpstr>Slide 25</vt:lpstr>
      <vt:lpstr>Algorithm for MB</vt:lpstr>
      <vt:lpstr>Slide 27</vt:lpstr>
      <vt:lpstr>Slide 28</vt:lpstr>
      <vt:lpstr>Learning set of rules</vt:lpstr>
      <vt:lpstr>Slide 30</vt:lpstr>
      <vt:lpstr>Rule form</vt:lpstr>
      <vt:lpstr>Slide 32</vt:lpstr>
      <vt:lpstr>Example 1</vt:lpstr>
      <vt:lpstr>Example 2:</vt:lpstr>
      <vt:lpstr>Learning strategies</vt:lpstr>
      <vt:lpstr>Sequential Covering Algorithm</vt:lpstr>
      <vt:lpstr>Sequential Covering Algorithm</vt:lpstr>
      <vt:lpstr>Slide 38</vt:lpstr>
      <vt:lpstr>Decision List format</vt:lpstr>
      <vt:lpstr>Working of the algorithm</vt:lpstr>
      <vt:lpstr>Slide 41</vt:lpstr>
      <vt:lpstr>First order rules </vt:lpstr>
      <vt:lpstr>Slide 43</vt:lpstr>
      <vt:lpstr>Slide 44</vt:lpstr>
      <vt:lpstr>Slide 45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Learning</dc:title>
  <dc:creator>Windows User</dc:creator>
  <cp:lastModifiedBy>Windows User</cp:lastModifiedBy>
  <cp:revision>91</cp:revision>
  <dcterms:created xsi:type="dcterms:W3CDTF">2024-09-25T09:52:31Z</dcterms:created>
  <dcterms:modified xsi:type="dcterms:W3CDTF">2025-09-17T06:54:43Z</dcterms:modified>
</cp:coreProperties>
</file>
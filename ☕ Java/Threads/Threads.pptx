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3"/>
    <p:sldId id="257" r:id="rId4"/>
    <p:sldId id="258" r:id="rId5"/>
    <p:sldId id="269" r:id="rId6"/>
    <p:sldId id="267" r:id="rId7"/>
    <p:sldId id="268" r:id="rId8"/>
    <p:sldId id="270" r:id="rId9"/>
    <p:sldId id="271" r:id="rId10"/>
    <p:sldId id="259" r:id="rId11"/>
    <p:sldId id="260" r:id="rId12"/>
    <p:sldId id="261" r:id="rId13"/>
    <p:sldId id="262" r:id="rId14"/>
    <p:sldId id="272" r:id="rId15"/>
    <p:sldId id="263" r:id="rId16"/>
    <p:sldId id="264" r:id="rId17"/>
    <p:sldId id="265" r:id="rId18"/>
    <p:sldId id="266"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3" autoAdjust="0"/>
    <p:restoredTop sz="94660"/>
  </p:normalViewPr>
  <p:slideViewPr>
    <p:cSldViewPr snapToGrid="0">
      <p:cViewPr varScale="1">
        <p:scale>
          <a:sx n="70" d="100"/>
          <a:sy n="70" d="100"/>
        </p:scale>
        <p:origin x="8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EC03C-40B3-469D-BF3E-3544C52F78EC}"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04B64-0584-4365-83A2-6D5DE33C19F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C04B64-0584-4365-83A2-6D5DE33C19FB}"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DF7B838-0779-4E73-B533-333423873E7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DDF7B838-0779-4E73-B533-333423873E7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DDF7B838-0779-4E73-B533-333423873E7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DDF7B838-0779-4E73-B533-333423873E7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DDF7B838-0779-4E73-B533-333423873E7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DF7B838-0779-4E73-B533-333423873E7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F7B838-0779-4E73-B533-333423873E7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DDF7B838-0779-4E73-B533-333423873E7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DDF7B838-0779-4E73-B533-333423873E7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DDF7B838-0779-4E73-B533-333423873E7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DDF7B838-0779-4E73-B533-333423873E7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E9227-E695-45FA-AE68-0C74F9B966AE}"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7B838-0779-4E73-B533-333423873E7A}"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9E9227-E695-45FA-AE68-0C74F9B966A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implilearn.com/best-java-programs-articl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digitalocean.com/community/tutorials/exception-in-thread-main-java"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techtarget.com/whatis/definition/multitasking" TargetMode="Externa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digitalocean.com/community/tutorials/java-thread-example#thread" TargetMode="External"/><Relationship Id="rId1" Type="http://schemas.openxmlformats.org/officeDocument/2006/relationships/hyperlink" Target="https://www.digitalocean.com/community/tutorials/java-thread-example#proces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implilearn.com/tutorials/java-tutorial/what-is-jav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implilearn.com/free-and-low-cost-online-resources-for-practicing-code-articl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Java Threads</a:t>
            </a:r>
            <a:br>
              <a:rPr lang="en-US" b="1" dirty="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 Thread in Java?</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A thread in </a:t>
            </a:r>
            <a:r>
              <a:rPr lang="en-US" dirty="0">
                <a:hlinkClick r:id="rId1" tooltip="Java"/>
              </a:rPr>
              <a:t>Java</a:t>
            </a:r>
            <a:r>
              <a:rPr lang="en-US" dirty="0"/>
              <a:t> is the direction or path that is taken while a program is being executed. </a:t>
            </a:r>
            <a:endParaRPr lang="en-US" dirty="0" smtClean="0"/>
          </a:p>
          <a:p>
            <a:r>
              <a:rPr lang="en-US" dirty="0"/>
              <a:t>Generally, all the programs have at least one thread, known as the main thread, that is provided by the JVM or Java Virtual Machine at the starting of the program’s execution. </a:t>
            </a:r>
            <a:endParaRPr lang="en-US" dirty="0" smtClean="0"/>
          </a:p>
          <a:p>
            <a:r>
              <a:rPr lang="en-US" dirty="0" smtClean="0"/>
              <a:t>At </a:t>
            </a:r>
            <a:r>
              <a:rPr lang="en-US" dirty="0"/>
              <a:t>this point, when the main thread is provided, the main() method is invoked by the main thread</a:t>
            </a:r>
            <a:r>
              <a:rPr lang="en-US" dirty="0" smtClean="0"/>
              <a:t>.</a:t>
            </a:r>
            <a:endParaRPr lang="en-US" dirty="0" smtClean="0"/>
          </a:p>
          <a:p>
            <a:r>
              <a:rPr lang="en-US" dirty="0"/>
              <a:t>Thread is critical in the program because it enables multiple operations to take place within a single method</a:t>
            </a:r>
            <a:r>
              <a:rPr lang="en-US" dirty="0" smtClean="0"/>
              <a:t>.</a:t>
            </a:r>
            <a:endParaRPr lang="en-US" dirty="0" smtClean="0"/>
          </a:p>
          <a:p>
            <a:r>
              <a:rPr lang="en-US" dirty="0" smtClean="0"/>
              <a:t> </a:t>
            </a:r>
            <a:r>
              <a:rPr lang="en-US" dirty="0"/>
              <a:t>Each thread in the program often has its own program counter, stack, and local variable.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Threads…</a:t>
            </a:r>
            <a:endParaRPr lang="en-US" dirty="0"/>
          </a:p>
        </p:txBody>
      </p:sp>
      <p:sp>
        <p:nvSpPr>
          <p:cNvPr id="3" name="Content Placeholder 2"/>
          <p:cNvSpPr>
            <a:spLocks noGrp="1"/>
          </p:cNvSpPr>
          <p:nvPr>
            <p:ph idx="1"/>
          </p:nvPr>
        </p:nvSpPr>
        <p:spPr/>
        <p:txBody>
          <a:bodyPr>
            <a:normAutofit/>
          </a:bodyPr>
          <a:lstStyle/>
          <a:p>
            <a:r>
              <a:rPr lang="en-US" dirty="0"/>
              <a:t>Threads allows a program to operate more efficiently by doing multiple things at the same time.</a:t>
            </a:r>
            <a:endParaRPr lang="en-US" dirty="0"/>
          </a:p>
          <a:p>
            <a:r>
              <a:rPr lang="en-US" dirty="0"/>
              <a:t>Threads can be used to perform complicated tasks in the background without interrupting the main program.</a:t>
            </a:r>
            <a:endParaRPr lang="en-US" dirty="0"/>
          </a:p>
          <a:p>
            <a:r>
              <a:rPr lang="en-US" dirty="0"/>
              <a:t>Thread in Java enables concurrent execution, dividing tasks for improved performance</a:t>
            </a:r>
            <a:r>
              <a:rPr lang="en-US" dirty="0" smtClean="0"/>
              <a:t>.</a:t>
            </a:r>
            <a:endParaRPr lang="en-US" dirty="0" smtClean="0"/>
          </a:p>
          <a:p>
            <a:r>
              <a:rPr lang="en-US" dirty="0" smtClean="0"/>
              <a:t> </a:t>
            </a:r>
            <a:r>
              <a:rPr lang="en-US" dirty="0"/>
              <a:t>It's essential for handling operations like I/O and network communication efficiently. </a:t>
            </a: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Thread</a:t>
            </a:r>
            <a:endParaRPr lang="en-US" dirty="0"/>
          </a:p>
        </p:txBody>
      </p:sp>
      <p:sp>
        <p:nvSpPr>
          <p:cNvPr id="3" name="Content Placeholder 2"/>
          <p:cNvSpPr>
            <a:spLocks noGrp="1"/>
          </p:cNvSpPr>
          <p:nvPr>
            <p:ph idx="1"/>
          </p:nvPr>
        </p:nvSpPr>
        <p:spPr/>
        <p:txBody>
          <a:bodyPr/>
          <a:lstStyle/>
          <a:p>
            <a:r>
              <a:rPr lang="en-US" dirty="0"/>
              <a:t>Every java application has at least one thread - </a:t>
            </a:r>
            <a:r>
              <a:rPr lang="en-US" dirty="0">
                <a:hlinkClick r:id="rId1"/>
              </a:rPr>
              <a:t>main thread</a:t>
            </a:r>
            <a:r>
              <a:rPr lang="en-US" dirty="0"/>
              <a:t>. </a:t>
            </a:r>
            <a:endParaRPr lang="en-US" dirty="0" smtClean="0"/>
          </a:p>
          <a:p>
            <a:r>
              <a:rPr lang="en-US" dirty="0" smtClean="0"/>
              <a:t>Although </a:t>
            </a:r>
            <a:r>
              <a:rPr lang="en-US" dirty="0"/>
              <a:t>there are so many other java threads running in background like memory management, system management, signal processing etc</a:t>
            </a:r>
            <a:r>
              <a:rPr lang="en-US" dirty="0" smtClean="0"/>
              <a:t>.</a:t>
            </a:r>
            <a:endParaRPr lang="en-US" dirty="0" smtClean="0"/>
          </a:p>
          <a:p>
            <a:r>
              <a:rPr lang="en-US" dirty="0" smtClean="0"/>
              <a:t> </a:t>
            </a:r>
            <a:r>
              <a:rPr lang="en-US" dirty="0"/>
              <a:t>But from application point of view - main is the first java thread and we can create multiple threads from it.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Multitasking in Java?</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dirty="0">
                <a:hlinkClick r:id="rId1"/>
              </a:rPr>
              <a:t>Multitasking</a:t>
            </a:r>
            <a:r>
              <a:rPr lang="en-US" dirty="0"/>
              <a:t> is the process that lets users perform multiples tasks at the same time. </a:t>
            </a:r>
            <a:endParaRPr lang="en-US" dirty="0"/>
          </a:p>
          <a:p>
            <a:r>
              <a:rPr lang="en-US" dirty="0" smtClean="0"/>
              <a:t>When </a:t>
            </a:r>
            <a:r>
              <a:rPr lang="en-US" dirty="0"/>
              <a:t>various multiple threads are executed at the same time, this process is known as multi-threading. There are two ways to enable multitasking in Java</a:t>
            </a:r>
            <a:r>
              <a:rPr lang="en-US" dirty="0" smtClean="0"/>
              <a:t>:</a:t>
            </a:r>
            <a:endParaRPr lang="en-US" dirty="0" smtClean="0"/>
          </a:p>
          <a:p>
            <a:r>
              <a:rPr lang="en-US" b="1" dirty="0"/>
              <a:t>Process-based multitasking</a:t>
            </a:r>
            <a:r>
              <a:rPr lang="en-US" dirty="0"/>
              <a:t>: The processes in this type of multitasking are heavy and a lot of time is consumed. This is because the program takes a long time to switch between different processes.</a:t>
            </a:r>
            <a:endParaRPr lang="en-US" dirty="0"/>
          </a:p>
          <a:p>
            <a:r>
              <a:rPr lang="en-US" b="1" dirty="0"/>
              <a:t>Thread-based multi tasking</a:t>
            </a:r>
            <a:r>
              <a:rPr lang="en-US" dirty="0"/>
              <a:t>: Threads are light-weight compared to process-based multi tasking, and the time taken to switch between them is shorter.</a:t>
            </a:r>
            <a:endParaRPr lang="en-US" dirty="0"/>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and Thread</a:t>
            </a:r>
            <a:endParaRPr lang="en-US" dirty="0"/>
          </a:p>
        </p:txBody>
      </p:sp>
      <p:sp>
        <p:nvSpPr>
          <p:cNvPr id="3" name="Content Placeholder 2"/>
          <p:cNvSpPr>
            <a:spLocks noGrp="1"/>
          </p:cNvSpPr>
          <p:nvPr>
            <p:ph idx="1"/>
          </p:nvPr>
        </p:nvSpPr>
        <p:spPr/>
        <p:txBody>
          <a:bodyPr/>
          <a:lstStyle/>
          <a:p>
            <a:r>
              <a:rPr lang="en-US" b="1" dirty="0">
                <a:hlinkClick r:id="rId1"/>
              </a:rPr>
              <a:t>Process</a:t>
            </a:r>
            <a:endParaRPr lang="en-US" b="1" dirty="0"/>
          </a:p>
          <a:p>
            <a:r>
              <a:rPr lang="en-US" dirty="0"/>
              <a:t>A process is a self contained execution environment and it can be seen as a program or application. However a program itself contains multiple processes inside it. Java runtime environment runs as a single process which contains different classes and programs as processes</a:t>
            </a:r>
            <a:endParaRPr lang="en-US" dirty="0"/>
          </a:p>
          <a:p>
            <a:r>
              <a:rPr lang="en-US" b="1" dirty="0">
                <a:hlinkClick r:id="rId2"/>
              </a:rPr>
              <a:t>Thread</a:t>
            </a:r>
            <a:endParaRPr lang="en-US" b="1" dirty="0"/>
          </a:p>
          <a:p>
            <a:r>
              <a:rPr lang="en-US" dirty="0"/>
              <a:t>Thread can be called </a:t>
            </a:r>
            <a:r>
              <a:rPr lang="en-US" i="1" dirty="0"/>
              <a:t>lightweight process</a:t>
            </a:r>
            <a:r>
              <a:rPr lang="en-US" dirty="0"/>
              <a:t>. Thread requires less resources to create and exists in the process, thread shares the process resources.</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Multithreading</a:t>
            </a:r>
            <a:endParaRPr lang="en-US" dirty="0"/>
          </a:p>
        </p:txBody>
      </p:sp>
      <p:sp>
        <p:nvSpPr>
          <p:cNvPr id="3" name="Content Placeholder 2"/>
          <p:cNvSpPr>
            <a:spLocks noGrp="1"/>
          </p:cNvSpPr>
          <p:nvPr>
            <p:ph idx="1"/>
          </p:nvPr>
        </p:nvSpPr>
        <p:spPr/>
        <p:txBody>
          <a:bodyPr>
            <a:normAutofit/>
          </a:bodyPr>
          <a:lstStyle/>
          <a:p>
            <a:r>
              <a:rPr lang="en-US" dirty="0"/>
              <a:t>Multithreading refers to two or more threads executing concurrently in a single program</a:t>
            </a:r>
            <a:r>
              <a:rPr lang="en-US" dirty="0" smtClean="0"/>
              <a:t>.</a:t>
            </a:r>
            <a:endParaRPr lang="en-US" dirty="0" smtClean="0"/>
          </a:p>
          <a:p>
            <a:r>
              <a:rPr lang="en-US" dirty="0" smtClean="0"/>
              <a:t> </a:t>
            </a:r>
            <a:r>
              <a:rPr lang="en-US" dirty="0"/>
              <a:t>A computer single core processor can execute only one thread at a time and </a:t>
            </a:r>
            <a:r>
              <a:rPr lang="en-US" b="1" dirty="0"/>
              <a:t>time slicing</a:t>
            </a:r>
            <a:r>
              <a:rPr lang="en-US" dirty="0"/>
              <a:t> is the OS feature to share processor time between different processes and threads</a:t>
            </a:r>
            <a:r>
              <a:rPr lang="en-US" dirty="0" smtClean="0"/>
              <a:t>.</a:t>
            </a:r>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 Thread Benefits</a:t>
            </a:r>
            <a:br>
              <a:rPr lang="en-US" b="1" dirty="0"/>
            </a:br>
            <a:endParaRPr lang="en-US" dirty="0"/>
          </a:p>
        </p:txBody>
      </p:sp>
      <p:sp>
        <p:nvSpPr>
          <p:cNvPr id="3" name="Content Placeholder 2"/>
          <p:cNvSpPr>
            <a:spLocks noGrp="1"/>
          </p:cNvSpPr>
          <p:nvPr>
            <p:ph idx="1"/>
          </p:nvPr>
        </p:nvSpPr>
        <p:spPr/>
        <p:txBody>
          <a:bodyPr/>
          <a:lstStyle/>
          <a:p>
            <a:r>
              <a:rPr lang="en-US" dirty="0" smtClean="0"/>
              <a:t>Java </a:t>
            </a:r>
            <a:r>
              <a:rPr lang="en-US" dirty="0"/>
              <a:t>Threads are lightweight compared to processes, it takes less time and resource to create a thread.</a:t>
            </a:r>
            <a:endParaRPr lang="en-US" dirty="0"/>
          </a:p>
          <a:p>
            <a:r>
              <a:rPr lang="en-US" dirty="0"/>
              <a:t>Threads share their parent process data and code</a:t>
            </a:r>
            <a:endParaRPr lang="en-US" dirty="0"/>
          </a:p>
          <a:p>
            <a:r>
              <a:rPr lang="en-US" dirty="0"/>
              <a:t>Context switching between threads is usually less expensive than between processes.</a:t>
            </a:r>
            <a:endParaRPr lang="en-US" dirty="0"/>
          </a:p>
          <a:p>
            <a:r>
              <a:rPr lang="en-US" dirty="0"/>
              <a:t>Thread intercommunication is relatively easy than process communication.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a Thread in Java</a:t>
            </a:r>
            <a:br>
              <a:rPr lang="en-US" b="1" dirty="0"/>
            </a:br>
            <a:endParaRPr lang="en-US" dirty="0"/>
          </a:p>
        </p:txBody>
      </p:sp>
      <p:sp>
        <p:nvSpPr>
          <p:cNvPr id="3" name="Content Placeholder 2"/>
          <p:cNvSpPr>
            <a:spLocks noGrp="1"/>
          </p:cNvSpPr>
          <p:nvPr>
            <p:ph idx="1"/>
          </p:nvPr>
        </p:nvSpPr>
        <p:spPr/>
        <p:txBody>
          <a:bodyPr/>
          <a:lstStyle/>
          <a:p>
            <a:r>
              <a:rPr lang="en-US" dirty="0"/>
              <a:t>A thread in Java can be created in the following two ways</a:t>
            </a:r>
            <a:r>
              <a:rPr lang="en-US" dirty="0" smtClean="0"/>
              <a:t>:</a:t>
            </a:r>
            <a:endParaRPr lang="en-US" dirty="0" smtClean="0"/>
          </a:p>
          <a:p>
            <a:r>
              <a:rPr lang="en-US" b="1" dirty="0"/>
              <a:t>Extending </a:t>
            </a:r>
            <a:r>
              <a:rPr lang="en-US" b="1" dirty="0" err="1"/>
              <a:t>java.lang.Thread</a:t>
            </a:r>
            <a:r>
              <a:rPr lang="en-US" b="1" dirty="0"/>
              <a:t> class</a:t>
            </a:r>
            <a:endParaRPr lang="en-US" b="1" dirty="0"/>
          </a:p>
          <a:p>
            <a:r>
              <a:rPr lang="en-US" b="1" dirty="0"/>
              <a:t>Implementing Runnable interface</a:t>
            </a:r>
            <a:endParaRPr lang="en-US" b="1"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Thread Example - extending Thread class</a:t>
            </a:r>
            <a:br>
              <a:rPr lang="en-US" dirty="0"/>
            </a:br>
            <a:endParaRPr lang="en-US" dirty="0"/>
          </a:p>
        </p:txBody>
      </p:sp>
      <p:sp>
        <p:nvSpPr>
          <p:cNvPr id="3" name="Content Placeholder 2"/>
          <p:cNvSpPr>
            <a:spLocks noGrp="1"/>
          </p:cNvSpPr>
          <p:nvPr>
            <p:ph idx="1"/>
          </p:nvPr>
        </p:nvSpPr>
        <p:spPr/>
        <p:txBody>
          <a:bodyPr/>
          <a:lstStyle/>
          <a:p>
            <a:endParaRPr lang="en-US" dirty="0"/>
          </a:p>
          <a:p>
            <a:r>
              <a:rPr lang="en-US" dirty="0"/>
              <a:t>We can extend </a:t>
            </a:r>
            <a:r>
              <a:rPr lang="en-US" dirty="0" err="1"/>
              <a:t>java.lang.Thread</a:t>
            </a:r>
            <a:r>
              <a:rPr lang="en-US" dirty="0"/>
              <a:t> class to create our own java thread class and override run() method. </a:t>
            </a:r>
            <a:endParaRPr lang="en-US" dirty="0" smtClean="0"/>
          </a:p>
          <a:p>
            <a:r>
              <a:rPr lang="en-US" dirty="0" smtClean="0"/>
              <a:t>The </a:t>
            </a:r>
            <a:r>
              <a:rPr lang="en-US" dirty="0"/>
              <a:t>start() method is used to call the void run() method. When start() is called, a new stack is given to the thread, and run() is invoked to introduce a new thread in the program</a:t>
            </a:r>
            <a:r>
              <a:rPr lang="en-US" dirty="0" smtClean="0"/>
              <a:t>.</a:t>
            </a:r>
            <a:endParaRPr lang="en-US" dirty="0" smtClean="0"/>
          </a:p>
          <a:p>
            <a:r>
              <a:rPr lang="en-US" dirty="0"/>
              <a:t>Here, start() is used to create a new thread and to make it runnable. The new thread begins inside the void run() method.</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Extending </a:t>
            </a:r>
            <a:r>
              <a:rPr lang="en-US" dirty="0" err="1"/>
              <a:t>java.lang.Thread</a:t>
            </a:r>
            <a:r>
              <a:rPr lang="en-US" dirty="0"/>
              <a:t> class.</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a:p>
          <a:p>
            <a:r>
              <a:rPr lang="en-US" dirty="0"/>
              <a:t>Extend </a:t>
            </a:r>
            <a:r>
              <a:rPr lang="en-US" dirty="0" smtClean="0"/>
              <a:t>Syntax</a:t>
            </a:r>
            <a:endParaRPr lang="en-US" dirty="0"/>
          </a:p>
          <a:p>
            <a:r>
              <a:rPr lang="en-US" dirty="0"/>
              <a:t>class Multi extends Thread{  </a:t>
            </a:r>
            <a:endParaRPr lang="en-US" dirty="0"/>
          </a:p>
          <a:p>
            <a:r>
              <a:rPr lang="en-US" dirty="0"/>
              <a:t>public void run(){  </a:t>
            </a:r>
            <a:endParaRPr lang="en-US" dirty="0"/>
          </a:p>
          <a:p>
            <a:r>
              <a:rPr lang="en-US" dirty="0" err="1"/>
              <a:t>System.out.println</a:t>
            </a:r>
            <a:r>
              <a:rPr lang="en-US" dirty="0"/>
              <a:t>("thread is running...");  </a:t>
            </a:r>
            <a:endParaRPr lang="en-US" dirty="0"/>
          </a:p>
          <a:p>
            <a:r>
              <a:rPr lang="en-US" dirty="0"/>
              <a:t>}  </a:t>
            </a:r>
            <a:endParaRPr lang="en-US" dirty="0"/>
          </a:p>
          <a:p>
            <a:r>
              <a:rPr lang="en-US" dirty="0"/>
              <a:t>public static void main(String </a:t>
            </a:r>
            <a:r>
              <a:rPr lang="en-US" dirty="0" err="1"/>
              <a:t>args</a:t>
            </a:r>
            <a:r>
              <a:rPr lang="en-US" dirty="0"/>
              <a:t>[]){  </a:t>
            </a:r>
            <a:endParaRPr lang="en-US" dirty="0"/>
          </a:p>
          <a:p>
            <a:r>
              <a:rPr lang="en-US" dirty="0"/>
              <a:t>Multi t1=new Multi();  </a:t>
            </a:r>
            <a:endParaRPr lang="en-US" dirty="0"/>
          </a:p>
          <a:p>
            <a:r>
              <a:rPr lang="en-US" dirty="0"/>
              <a:t>t1.start();  </a:t>
            </a:r>
            <a:endParaRPr lang="en-US" dirty="0"/>
          </a:p>
          <a:p>
            <a:r>
              <a:rPr lang="en-US" dirty="0"/>
              <a:t> }  </a:t>
            </a:r>
            <a:endParaRPr lang="en-US" dirty="0"/>
          </a:p>
          <a:p>
            <a:r>
              <a:rPr lang="en-US" dirty="0"/>
              <a:t>}  </a:t>
            </a:r>
            <a:endParaRPr lang="en-US" dirty="0"/>
          </a:p>
          <a:p>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Java Thread Example by implementing Runnable interface</a:t>
            </a:r>
            <a:br>
              <a:rPr lang="en-US" b="1" dirty="0"/>
            </a:br>
            <a:endParaRPr lang="en-US" dirty="0"/>
          </a:p>
        </p:txBody>
      </p:sp>
      <p:sp>
        <p:nvSpPr>
          <p:cNvPr id="3" name="Content Placeholder 2"/>
          <p:cNvSpPr>
            <a:spLocks noGrp="1"/>
          </p:cNvSpPr>
          <p:nvPr>
            <p:ph idx="1"/>
          </p:nvPr>
        </p:nvSpPr>
        <p:spPr/>
        <p:txBody>
          <a:bodyPr/>
          <a:lstStyle/>
          <a:p>
            <a:r>
              <a:rPr lang="en-US" dirty="0"/>
              <a:t>To make a class runnable, we can implement </a:t>
            </a:r>
            <a:r>
              <a:rPr lang="en-US" dirty="0" err="1"/>
              <a:t>java.lang.Runnable</a:t>
            </a:r>
            <a:r>
              <a:rPr lang="en-US" dirty="0"/>
              <a:t> interface and provide implementation in public void run() method</a:t>
            </a:r>
            <a:r>
              <a:rPr lang="en-US" dirty="0" smtClean="0"/>
              <a:t>.</a:t>
            </a:r>
            <a:endParaRPr lang="en-US" dirty="0" smtClean="0"/>
          </a:p>
          <a:p>
            <a:r>
              <a:rPr lang="en-US" dirty="0" smtClean="0"/>
              <a:t> </a:t>
            </a:r>
            <a:r>
              <a:rPr lang="en-US" dirty="0"/>
              <a:t>To use this class as Thread, we need to create a Thread object by passing object of this runnable class and then call start() method to execute the run() method in a separate </a:t>
            </a:r>
            <a:r>
              <a:rPr lang="en-US" dirty="0" smtClean="0"/>
              <a:t>thread.</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85000" lnSpcReduction="20000"/>
          </a:bodyPr>
          <a:lstStyle/>
          <a:p>
            <a:r>
              <a:rPr lang="en-US" dirty="0"/>
              <a:t>class Multi3 implements Runnable{  </a:t>
            </a:r>
            <a:endParaRPr lang="en-US" dirty="0"/>
          </a:p>
          <a:p>
            <a:r>
              <a:rPr lang="en-US" dirty="0"/>
              <a:t>public void run(){  </a:t>
            </a:r>
            <a:endParaRPr lang="en-US" dirty="0"/>
          </a:p>
          <a:p>
            <a:r>
              <a:rPr lang="en-US" dirty="0" err="1"/>
              <a:t>System.out.println</a:t>
            </a:r>
            <a:r>
              <a:rPr lang="en-US" dirty="0"/>
              <a:t>("thread is running...");  </a:t>
            </a:r>
            <a:endParaRPr lang="en-US" dirty="0"/>
          </a:p>
          <a:p>
            <a:r>
              <a:rPr lang="en-US" dirty="0"/>
              <a:t>}  </a:t>
            </a:r>
            <a:endParaRPr lang="en-US" dirty="0"/>
          </a:p>
          <a:p>
            <a:r>
              <a:rPr lang="en-US" dirty="0"/>
              <a:t>  </a:t>
            </a:r>
            <a:endParaRPr lang="en-US" dirty="0"/>
          </a:p>
          <a:p>
            <a:r>
              <a:rPr lang="en-US" dirty="0"/>
              <a:t>public static void main(String </a:t>
            </a:r>
            <a:r>
              <a:rPr lang="en-US" dirty="0" err="1"/>
              <a:t>args</a:t>
            </a:r>
            <a:r>
              <a:rPr lang="en-US" dirty="0"/>
              <a:t>[]){  </a:t>
            </a:r>
            <a:endParaRPr lang="en-US" dirty="0"/>
          </a:p>
          <a:p>
            <a:r>
              <a:rPr lang="en-US" dirty="0"/>
              <a:t>Multi3 m1=new Multi3();  </a:t>
            </a:r>
            <a:endParaRPr lang="en-US" dirty="0"/>
          </a:p>
          <a:p>
            <a:r>
              <a:rPr lang="en-US" dirty="0"/>
              <a:t>Thread t1 =new Thread(m1);   // Using the constructor Thread(Runnable r)  </a:t>
            </a:r>
            <a:endParaRPr lang="en-US" dirty="0"/>
          </a:p>
          <a:p>
            <a:r>
              <a:rPr lang="en-US" dirty="0"/>
              <a:t>t1.start();  </a:t>
            </a:r>
            <a:endParaRPr lang="en-US" dirty="0"/>
          </a:p>
          <a:p>
            <a:r>
              <a:rPr lang="en-US" dirty="0"/>
              <a:t> }  </a:t>
            </a:r>
            <a:endParaRPr lang="en-US" dirty="0"/>
          </a:p>
          <a:p>
            <a:r>
              <a:rPr lang="en-US" dirty="0"/>
              <a:t>}  </a:t>
            </a:r>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point</a:t>
            </a:r>
            <a:endParaRPr lang="en-US" dirty="0"/>
          </a:p>
        </p:txBody>
      </p:sp>
      <p:sp>
        <p:nvSpPr>
          <p:cNvPr id="3" name="Content Placeholder 2"/>
          <p:cNvSpPr>
            <a:spLocks noGrp="1"/>
          </p:cNvSpPr>
          <p:nvPr>
            <p:ph idx="1"/>
          </p:nvPr>
        </p:nvSpPr>
        <p:spPr/>
        <p:txBody>
          <a:bodyPr/>
          <a:lstStyle/>
          <a:p>
            <a:r>
              <a:rPr lang="en-US" dirty="0"/>
              <a:t>Once we start any thread, it’s execution depends on the OS implementation of time slicing and we can’t control their execution. </a:t>
            </a:r>
            <a:endParaRPr lang="en-US" dirty="0" smtClean="0"/>
          </a:p>
          <a:p>
            <a:r>
              <a:rPr lang="en-US" dirty="0" smtClean="0"/>
              <a:t>However </a:t>
            </a:r>
            <a:r>
              <a:rPr lang="en-US" dirty="0"/>
              <a:t>we can set threads priority but even then it doesn’t guarantee that higher priority thread will be executed first</a:t>
            </a:r>
            <a:r>
              <a:rPr lang="en-US" dirty="0" smtClean="0"/>
              <a:t>.</a:t>
            </a:r>
            <a:endParaRPr lang="en-US" dirty="0" smtClean="0"/>
          </a:p>
          <a:p>
            <a:r>
              <a:rPr lang="en-US" dirty="0" smtClean="0"/>
              <a:t> </a:t>
            </a:r>
            <a:r>
              <a:rPr lang="en-US" dirty="0"/>
              <a:t>Run the above program multiple times and you will see that there is no pattern of threads start and end</a:t>
            </a:r>
            <a:r>
              <a:rPr lang="en-US" dirty="0" smtClean="0"/>
              <a:t>.</a:t>
            </a:r>
            <a:endParaRPr lang="en-US" dirty="0" smtClean="0"/>
          </a:p>
          <a:p>
            <a:r>
              <a:rPr lang="en-US" b="1" dirty="0"/>
              <a:t>Update</a:t>
            </a:r>
            <a:r>
              <a:rPr lang="en-US" dirty="0"/>
              <a:t>: From Java 8 onwards, Runnable is a functional interface and we can use lambda expressions to provide it’s implementation rather than using anonymous class.</a:t>
            </a:r>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Runnable </a:t>
            </a:r>
            <a:r>
              <a:rPr lang="en-US" b="1" dirty="0" err="1"/>
              <a:t>vs</a:t>
            </a:r>
            <a:r>
              <a:rPr lang="en-US" b="1" dirty="0"/>
              <a:t> Thread</a:t>
            </a:r>
            <a:br>
              <a:rPr lang="en-US" b="1" dirty="0"/>
            </a:br>
            <a:endParaRPr lang="en-US" dirty="0"/>
          </a:p>
        </p:txBody>
      </p:sp>
      <p:sp>
        <p:nvSpPr>
          <p:cNvPr id="3" name="Content Placeholder 2"/>
          <p:cNvSpPr>
            <a:spLocks noGrp="1"/>
          </p:cNvSpPr>
          <p:nvPr>
            <p:ph idx="1"/>
          </p:nvPr>
        </p:nvSpPr>
        <p:spPr/>
        <p:txBody>
          <a:bodyPr/>
          <a:lstStyle/>
          <a:p>
            <a:r>
              <a:rPr lang="en-US" dirty="0"/>
              <a:t>If your class provides more functionality rather than just running as Thread, you should implement Runnable interface to provide a way to run it as Thread. </a:t>
            </a:r>
            <a:endParaRPr lang="en-US" dirty="0" smtClean="0"/>
          </a:p>
          <a:p>
            <a:r>
              <a:rPr lang="en-US" dirty="0" smtClean="0"/>
              <a:t>If </a:t>
            </a:r>
            <a:r>
              <a:rPr lang="en-US" dirty="0"/>
              <a:t>your class only goal is to run as Thread, you can extend Thread class. Implementing Runnable is preferred because java supports implementing multiple interfaces</a:t>
            </a:r>
            <a:r>
              <a:rPr lang="en-US" dirty="0" smtClean="0"/>
              <a:t>.</a:t>
            </a:r>
            <a:endParaRPr lang="en-US" dirty="0" smtClean="0"/>
          </a:p>
          <a:p>
            <a:r>
              <a:rPr lang="en-US" dirty="0" smtClean="0"/>
              <a:t> </a:t>
            </a:r>
            <a:r>
              <a:rPr lang="en-US" dirty="0"/>
              <a:t>If you extend Thread class, you can’t extend any other classes.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Lifecycle of a Thread in Java</a:t>
            </a:r>
            <a:br>
              <a:rPr lang="en-US" b="1" dirty="0"/>
            </a:br>
            <a:endParaRPr lang="en-US" dirty="0"/>
          </a:p>
        </p:txBody>
      </p:sp>
      <p:sp>
        <p:nvSpPr>
          <p:cNvPr id="3" name="Content Placeholder 2"/>
          <p:cNvSpPr>
            <a:spLocks noGrp="1"/>
          </p:cNvSpPr>
          <p:nvPr>
            <p:ph idx="1"/>
          </p:nvPr>
        </p:nvSpPr>
        <p:spPr/>
        <p:txBody>
          <a:bodyPr/>
          <a:lstStyle/>
          <a:p>
            <a:r>
              <a:rPr lang="en-US" dirty="0"/>
              <a:t>The Life Cycle of a Thread in Java refers to the state transformations of a thread that begins with its birth and ends with its death. </a:t>
            </a:r>
            <a:endParaRPr lang="en-US" dirty="0" smtClean="0"/>
          </a:p>
          <a:p>
            <a:r>
              <a:rPr lang="en-US" dirty="0" smtClean="0"/>
              <a:t>When </a:t>
            </a:r>
            <a:r>
              <a:rPr lang="en-US" dirty="0"/>
              <a:t>a thread instance is generated and executed by calling the start() method of the Thread class, the thread enters the runnable state. When the sleep() or wait() methods of the Thread class are called, the thread enters a non-runnable mode.</a:t>
            </a:r>
            <a:endParaRPr lang="en-US" dirty="0"/>
          </a:p>
          <a:p>
            <a:r>
              <a:rPr lang="en-US" dirty="0"/>
              <a:t>Thread returns from non-runnable state to runnable state and starts statement execution. The thread dies when it exits the run() process. In </a:t>
            </a:r>
            <a:r>
              <a:rPr lang="en-US" dirty="0">
                <a:hlinkClick r:id="rId1" tooltip="Java"/>
              </a:rPr>
              <a:t>Java</a:t>
            </a:r>
            <a:r>
              <a:rPr lang="en-US" dirty="0"/>
              <a:t>, these thread state transformations are referred to as the Thread life cycle.</a:t>
            </a:r>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There are basically 4 stages in the lifecycle of a thread, as given below:</a:t>
            </a:r>
            <a:br>
              <a:rPr lang="en-US" dirty="0"/>
            </a:br>
            <a:endParaRPr lang="en-US" dirty="0"/>
          </a:p>
        </p:txBody>
      </p:sp>
      <p:sp>
        <p:nvSpPr>
          <p:cNvPr id="3" name="Content Placeholder 2"/>
          <p:cNvSpPr>
            <a:spLocks noGrp="1"/>
          </p:cNvSpPr>
          <p:nvPr>
            <p:ph idx="1"/>
          </p:nvPr>
        </p:nvSpPr>
        <p:spPr/>
        <p:txBody>
          <a:bodyPr/>
          <a:lstStyle/>
          <a:p>
            <a:r>
              <a:rPr lang="en-US" dirty="0" smtClean="0"/>
              <a:t>New</a:t>
            </a:r>
            <a:endParaRPr lang="en-US" dirty="0"/>
          </a:p>
          <a:p>
            <a:r>
              <a:rPr lang="en-US" dirty="0"/>
              <a:t>Runnable</a:t>
            </a:r>
            <a:endParaRPr lang="en-US" dirty="0"/>
          </a:p>
          <a:p>
            <a:r>
              <a:rPr lang="en-US" dirty="0"/>
              <a:t>Running</a:t>
            </a:r>
            <a:endParaRPr lang="en-US" dirty="0"/>
          </a:p>
          <a:p>
            <a:r>
              <a:rPr lang="en-US" dirty="0"/>
              <a:t>Blocked (Non-runnable state)</a:t>
            </a:r>
            <a:endParaRPr lang="en-US" dirty="0"/>
          </a:p>
          <a:p>
            <a:r>
              <a:rPr lang="en-US" dirty="0"/>
              <a:t>Dead</a:t>
            </a:r>
            <a:endParaRPr lang="en-US"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282890" y="586854"/>
            <a:ext cx="7533564" cy="5395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States of the Thread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New State</a:t>
            </a:r>
            <a:endParaRPr lang="en-US" b="1" dirty="0"/>
          </a:p>
          <a:p>
            <a:r>
              <a:rPr lang="en-US" dirty="0"/>
              <a:t>As we use the Thread class to construct a thread entity, the thread is born and is defined as being in the New state. That is, when a thread is created, it enters a new state, but the start() method on the instance has not yet been invoked.</a:t>
            </a:r>
            <a:endParaRPr lang="en-US" dirty="0"/>
          </a:p>
          <a:p>
            <a:r>
              <a:rPr lang="en-US" b="1" dirty="0"/>
              <a:t>Runnable State</a:t>
            </a:r>
            <a:endParaRPr lang="en-US" b="1" dirty="0"/>
          </a:p>
          <a:p>
            <a:r>
              <a:rPr lang="en-US" dirty="0"/>
              <a:t>A thread in the runnable state is prepared to execute the</a:t>
            </a:r>
            <a:r>
              <a:rPr lang="en-US" dirty="0">
                <a:hlinkClick r:id="rId1" tooltip="code."/>
              </a:rPr>
              <a:t> code.</a:t>
            </a:r>
            <a:r>
              <a:rPr lang="en-US" dirty="0"/>
              <a:t> When a new thread's start() function is called, it enters a runnable state.</a:t>
            </a:r>
            <a:endParaRPr lang="en-US" dirty="0"/>
          </a:p>
          <a:p>
            <a:r>
              <a:rPr lang="en-US" dirty="0"/>
              <a:t>In the runnable environment, the thread is ready for execution and is awaiting the processor's availability (CPU time). That is, the thread has entered the queue (line) of threads waiting for execution.</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Running State</a:t>
            </a:r>
            <a:br>
              <a:rPr lang="en-US" b="1" dirty="0"/>
            </a:br>
            <a:endParaRPr lang="en-US" dirty="0"/>
          </a:p>
        </p:txBody>
      </p:sp>
      <p:sp>
        <p:nvSpPr>
          <p:cNvPr id="3" name="Content Placeholder 2"/>
          <p:cNvSpPr>
            <a:spLocks noGrp="1"/>
          </p:cNvSpPr>
          <p:nvPr>
            <p:ph idx="1"/>
          </p:nvPr>
        </p:nvSpPr>
        <p:spPr/>
        <p:txBody>
          <a:bodyPr/>
          <a:lstStyle/>
          <a:p>
            <a:r>
              <a:rPr lang="en-US" dirty="0" smtClean="0"/>
              <a:t>Running </a:t>
            </a:r>
            <a:r>
              <a:rPr lang="en-US" dirty="0"/>
              <a:t>implies that the processor (CPU) has assigned a time slot to the thread for execution. When a thread from the runnable state is chosen for execution by the thread scheduler, it joins the running state.</a:t>
            </a:r>
            <a:endParaRPr lang="en-US" dirty="0"/>
          </a:p>
          <a:p>
            <a:r>
              <a:rPr lang="en-US" dirty="0"/>
              <a:t>In the running state, the processor allots time to the thread for execution and runs its run procedure. This is the state in which the thread directly executes its operations. Only from the runnable state will a thread enter the running state.</a:t>
            </a:r>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States of the thread</a:t>
            </a:r>
            <a:endParaRPr lang="en-US" dirty="0"/>
          </a:p>
        </p:txBody>
      </p:sp>
      <p:sp>
        <p:nvSpPr>
          <p:cNvPr id="3" name="Content Placeholder 2"/>
          <p:cNvSpPr>
            <a:spLocks noGrp="1"/>
          </p:cNvSpPr>
          <p:nvPr>
            <p:ph idx="1"/>
          </p:nvPr>
        </p:nvSpPr>
        <p:spPr/>
        <p:txBody>
          <a:bodyPr/>
          <a:lstStyle/>
          <a:p>
            <a:r>
              <a:rPr lang="en-US" b="1" dirty="0"/>
              <a:t>Blocked State</a:t>
            </a:r>
            <a:endParaRPr lang="en-US" b="1" dirty="0"/>
          </a:p>
          <a:p>
            <a:r>
              <a:rPr lang="en-US" dirty="0"/>
              <a:t>When the thread is alive, i.e., the thread class object persists, but it cannot be selected for execution by the scheduler. It is now inactive.</a:t>
            </a:r>
            <a:endParaRPr lang="en-US" dirty="0"/>
          </a:p>
          <a:p>
            <a:r>
              <a:rPr lang="en-US" b="1" dirty="0"/>
              <a:t>Dead State</a:t>
            </a:r>
            <a:endParaRPr lang="en-US" b="1" dirty="0"/>
          </a:p>
          <a:p>
            <a:r>
              <a:rPr lang="en-US" dirty="0"/>
              <a:t>When a thread's run() function ends the execution of sentences, it automatically dies or enters the dead state. That is, when a thread exits the run() process, it is terminated or killed. When the stop() function is invoked, a thread will also go dead.</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Commonly used Constructors of Thread class:</a:t>
            </a:r>
            <a:br>
              <a:rPr lang="en-US" b="1" dirty="0"/>
            </a:br>
            <a:endParaRPr lang="en-US" dirty="0"/>
          </a:p>
        </p:txBody>
      </p:sp>
      <p:sp>
        <p:nvSpPr>
          <p:cNvPr id="3" name="Content Placeholder 2"/>
          <p:cNvSpPr>
            <a:spLocks noGrp="1"/>
          </p:cNvSpPr>
          <p:nvPr>
            <p:ph idx="1"/>
          </p:nvPr>
        </p:nvSpPr>
        <p:spPr/>
        <p:txBody>
          <a:bodyPr/>
          <a:lstStyle/>
          <a:p>
            <a:r>
              <a:rPr lang="en-US" dirty="0"/>
              <a:t>Thread()</a:t>
            </a:r>
            <a:endParaRPr lang="en-US" dirty="0"/>
          </a:p>
          <a:p>
            <a:r>
              <a:rPr lang="en-US" dirty="0"/>
              <a:t>Thread(String name)</a:t>
            </a:r>
            <a:endParaRPr lang="en-US" dirty="0"/>
          </a:p>
          <a:p>
            <a:r>
              <a:rPr lang="en-US" dirty="0"/>
              <a:t>Thread(Runnable r)</a:t>
            </a:r>
            <a:endParaRPr lang="en-US" dirty="0"/>
          </a:p>
          <a:p>
            <a:r>
              <a:rPr lang="en-US" dirty="0"/>
              <a:t>Thread(Runnable </a:t>
            </a:r>
            <a:r>
              <a:rPr lang="en-US" dirty="0" err="1"/>
              <a:t>r,String</a:t>
            </a:r>
            <a:r>
              <a:rPr lang="en-US" dirty="0"/>
              <a:t> name)</a:t>
            </a:r>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553" y="0"/>
            <a:ext cx="10515600" cy="1325563"/>
          </a:xfrm>
        </p:spPr>
        <p:txBody>
          <a:bodyPr/>
          <a:lstStyle/>
          <a:p>
            <a:r>
              <a:rPr lang="en-US" b="1" dirty="0"/>
              <a:t>Commonly used methods of Thread class:</a:t>
            </a:r>
            <a:br>
              <a:rPr lang="en-US" b="1" dirty="0"/>
            </a:br>
            <a:endParaRPr lang="en-US" dirty="0"/>
          </a:p>
        </p:txBody>
      </p:sp>
      <p:graphicFrame>
        <p:nvGraphicFramePr>
          <p:cNvPr id="4" name="Content Placeholder 3"/>
          <p:cNvGraphicFramePr>
            <a:graphicFrameLocks noGrp="1"/>
          </p:cNvGraphicFramePr>
          <p:nvPr>
            <p:ph idx="1"/>
          </p:nvPr>
        </p:nvGraphicFramePr>
        <p:xfrm>
          <a:off x="414551" y="662781"/>
          <a:ext cx="11335603" cy="5730240"/>
        </p:xfrm>
        <a:graphic>
          <a:graphicData uri="http://schemas.openxmlformats.org/drawingml/2006/table">
            <a:tbl>
              <a:tblPr firstRow="1" bandRow="1">
                <a:tableStyleId>{5C22544A-7EE6-4342-B048-85BDC9FD1C3A}</a:tableStyleId>
              </a:tblPr>
              <a:tblGrid>
                <a:gridCol w="3691281"/>
                <a:gridCol w="7644322"/>
              </a:tblGrid>
              <a:tr h="370840">
                <a:tc>
                  <a:txBody>
                    <a:bodyPr/>
                    <a:lstStyle/>
                    <a:p>
                      <a:r>
                        <a:rPr lang="en-US" b="1" dirty="0" smtClean="0"/>
                        <a:t>public void run()</a:t>
                      </a:r>
                      <a:endParaRPr lang="en-US" dirty="0"/>
                    </a:p>
                  </a:txBody>
                  <a:tcPr/>
                </a:tc>
                <a:tc>
                  <a:txBody>
                    <a:bodyPr/>
                    <a:lstStyle/>
                    <a:p>
                      <a:r>
                        <a:rPr lang="en-US" dirty="0" smtClean="0"/>
                        <a:t>is used to perform action for a thread. </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void start()</a:t>
                      </a:r>
                      <a:endParaRPr lang="en-US" dirty="0"/>
                    </a:p>
                  </a:txBody>
                  <a:tcPr/>
                </a:tc>
                <a:tc>
                  <a:txBody>
                    <a:bodyPr/>
                    <a:lstStyle/>
                    <a:p>
                      <a:r>
                        <a:rPr lang="en-US" dirty="0" smtClean="0"/>
                        <a:t>starts the execution of the </a:t>
                      </a:r>
                      <a:r>
                        <a:rPr lang="en-US" dirty="0" err="1" smtClean="0"/>
                        <a:t>thread.JVM</a:t>
                      </a:r>
                      <a:r>
                        <a:rPr lang="en-US" dirty="0" smtClean="0"/>
                        <a:t> calls the run() method on the thread. </a:t>
                      </a:r>
                      <a:endParaRPr lang="en-US" dirty="0"/>
                    </a:p>
                  </a:txBody>
                  <a:tcPr/>
                </a:tc>
              </a:tr>
              <a:tr h="370840">
                <a:tc>
                  <a:txBody>
                    <a:bodyPr/>
                    <a:lstStyle/>
                    <a:p>
                      <a:r>
                        <a:rPr lang="en-US" b="1" dirty="0" smtClean="0"/>
                        <a:t>public void sleep(long </a:t>
                      </a:r>
                      <a:r>
                        <a:rPr lang="en-US" b="1" dirty="0" err="1" smtClean="0"/>
                        <a:t>miliseconds</a:t>
                      </a:r>
                      <a:r>
                        <a:rPr lang="en-US" b="1" dirty="0" smtClean="0"/>
                        <a:t>)</a:t>
                      </a:r>
                      <a:endParaRPr lang="en-US" dirty="0"/>
                    </a:p>
                  </a:txBody>
                  <a:tcPr/>
                </a:tc>
                <a:tc>
                  <a:txBody>
                    <a:bodyPr/>
                    <a:lstStyle/>
                    <a:p>
                      <a:r>
                        <a:rPr lang="en-US" dirty="0" smtClean="0"/>
                        <a:t>Causes the currently executing thread to sleep (temporarily cease execution) for the specified number of milliseconds. </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void join()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waits for a thread to die</a:t>
                      </a:r>
                      <a:endParaRPr lang="en-US"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 </a:t>
                      </a:r>
                      <a:r>
                        <a:rPr lang="en-US" b="1" dirty="0" smtClean="0"/>
                        <a:t>public void join(long </a:t>
                      </a:r>
                      <a:r>
                        <a:rPr lang="en-US" b="1" dirty="0" err="1" smtClean="0"/>
                        <a:t>miliseconds</a:t>
                      </a:r>
                      <a:r>
                        <a:rPr lang="en-US" b="1" dirty="0" smtClean="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waits for a thread to die for the specified </a:t>
                      </a:r>
                      <a:r>
                        <a:rPr lang="en-US" dirty="0" err="1" smtClean="0"/>
                        <a:t>miliseconds</a:t>
                      </a:r>
                      <a:endParaRPr lang="en-US" dirty="0" smtClean="0"/>
                    </a:p>
                  </a:txBody>
                  <a:tcPr/>
                </a:tc>
              </a:tr>
              <a:tr h="370840">
                <a:tc>
                  <a:txBody>
                    <a:bodyPr/>
                    <a:lstStyle/>
                    <a:p>
                      <a:r>
                        <a:rPr lang="en-US" dirty="0" smtClean="0"/>
                        <a:t>. </a:t>
                      </a:r>
                      <a:r>
                        <a:rPr lang="en-US" b="1" dirty="0" smtClean="0"/>
                        <a:t>public </a:t>
                      </a:r>
                      <a:r>
                        <a:rPr lang="en-US" b="1" dirty="0" err="1" smtClean="0"/>
                        <a:t>int</a:t>
                      </a:r>
                      <a:r>
                        <a:rPr lang="en-US" b="1" dirty="0" smtClean="0"/>
                        <a:t> </a:t>
                      </a:r>
                      <a:r>
                        <a:rPr lang="en-US" b="1" dirty="0" err="1" smtClean="0"/>
                        <a:t>getPriority</a:t>
                      </a:r>
                      <a:r>
                        <a:rPr lang="en-US" b="1" dirty="0" smtClean="0"/>
                        <a:t>()</a:t>
                      </a:r>
                      <a:endParaRPr lang="en-US" dirty="0"/>
                    </a:p>
                  </a:txBody>
                  <a:tcPr/>
                </a:tc>
                <a:tc>
                  <a:txBody>
                    <a:bodyPr/>
                    <a:lstStyle/>
                    <a:p>
                      <a:r>
                        <a:rPr lang="en-US" dirty="0" smtClean="0"/>
                        <a:t> returns the priority of the thread</a:t>
                      </a:r>
                      <a:endParaRPr lang="en-US" dirty="0"/>
                    </a:p>
                  </a:txBody>
                  <a:tcPr/>
                </a:tc>
              </a:tr>
              <a:tr h="370840">
                <a:tc>
                  <a:txBody>
                    <a:bodyPr/>
                    <a:lstStyle/>
                    <a:p>
                      <a:r>
                        <a:rPr lang="en-US" dirty="0" smtClean="0"/>
                        <a:t>. </a:t>
                      </a:r>
                      <a:r>
                        <a:rPr lang="en-US" b="1" dirty="0" smtClean="0"/>
                        <a:t>public </a:t>
                      </a:r>
                      <a:r>
                        <a:rPr lang="en-US" b="1" dirty="0" err="1" smtClean="0"/>
                        <a:t>int</a:t>
                      </a:r>
                      <a:r>
                        <a:rPr lang="en-US" b="1" dirty="0" smtClean="0"/>
                        <a:t> </a:t>
                      </a:r>
                      <a:r>
                        <a:rPr lang="en-US" b="1" dirty="0" err="1" smtClean="0"/>
                        <a:t>setPriority</a:t>
                      </a:r>
                      <a:r>
                        <a:rPr lang="en-US" b="1" dirty="0" smtClean="0"/>
                        <a:t>(</a:t>
                      </a:r>
                      <a:r>
                        <a:rPr lang="en-US" b="1" dirty="0" err="1" smtClean="0"/>
                        <a:t>int</a:t>
                      </a:r>
                      <a:r>
                        <a:rPr lang="en-US" b="1" dirty="0" smtClean="0"/>
                        <a:t> priority)</a:t>
                      </a:r>
                      <a:endParaRPr lang="en-US" dirty="0"/>
                    </a:p>
                  </a:txBody>
                  <a:tcPr/>
                </a:tc>
                <a:tc>
                  <a:txBody>
                    <a:bodyPr/>
                    <a:lstStyle/>
                    <a:p>
                      <a:r>
                        <a:rPr lang="en-US" dirty="0" smtClean="0"/>
                        <a:t>changes the priority of the thread.</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String </a:t>
                      </a:r>
                      <a:r>
                        <a:rPr lang="en-US" b="1" dirty="0" err="1" smtClean="0"/>
                        <a:t>getName</a:t>
                      </a:r>
                      <a:r>
                        <a:rPr lang="en-US" b="1" dirty="0" smtClean="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 returns the name of the thread. </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void </a:t>
                      </a:r>
                      <a:r>
                        <a:rPr lang="en-US" b="1" dirty="0" err="1" smtClean="0"/>
                        <a:t>setName</a:t>
                      </a:r>
                      <a:r>
                        <a:rPr lang="en-US" b="1" dirty="0" smtClean="0"/>
                        <a:t>(String name)</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changes the name of the thread. </a:t>
                      </a:r>
                      <a:endParaRPr lang="en-US" dirty="0" smtClean="0"/>
                    </a:p>
                  </a:txBody>
                  <a:tcPr/>
                </a:tc>
              </a:tr>
              <a:tr h="370840">
                <a:tc>
                  <a:txBody>
                    <a:bodyPr/>
                    <a:lstStyle/>
                    <a:p>
                      <a:r>
                        <a:rPr lang="en-US" b="1" dirty="0" smtClean="0"/>
                        <a:t>public Thread </a:t>
                      </a:r>
                      <a:r>
                        <a:rPr lang="en-US" b="1" dirty="0" err="1" smtClean="0"/>
                        <a:t>currentThread</a:t>
                      </a:r>
                      <a:r>
                        <a:rPr lang="en-US" b="1" dirty="0" smtClean="0"/>
                        <a:t>()</a:t>
                      </a:r>
                      <a:endParaRPr lang="en-US" dirty="0"/>
                    </a:p>
                  </a:txBody>
                  <a:tcPr/>
                </a:tc>
                <a:tc>
                  <a:txBody>
                    <a:bodyPr/>
                    <a:lstStyle/>
                    <a:p>
                      <a:r>
                        <a:rPr lang="en-US" dirty="0" smtClean="0"/>
                        <a:t>returns the reference of currently executing thread.</a:t>
                      </a:r>
                      <a:endParaRPr lang="en-US" dirty="0"/>
                    </a:p>
                  </a:txBody>
                  <a:tcPr/>
                </a:tc>
              </a:tr>
              <a:tr h="370840">
                <a:tc>
                  <a:txBody>
                    <a:bodyPr/>
                    <a:lstStyle/>
                    <a:p>
                      <a:r>
                        <a:rPr lang="en-US" b="1" dirty="0" smtClean="0"/>
                        <a:t>public </a:t>
                      </a:r>
                      <a:r>
                        <a:rPr lang="en-US" b="1" dirty="0" err="1" smtClean="0"/>
                        <a:t>int</a:t>
                      </a:r>
                      <a:r>
                        <a:rPr lang="en-US" b="1" dirty="0" smtClean="0"/>
                        <a:t> </a:t>
                      </a:r>
                      <a:r>
                        <a:rPr lang="en-US" b="1" dirty="0" err="1" smtClean="0"/>
                        <a:t>getId</a:t>
                      </a:r>
                      <a:r>
                        <a:rPr lang="en-US" b="1" dirty="0" smtClean="0"/>
                        <a:t>():</a:t>
                      </a:r>
                      <a:endParaRPr lang="en-US" dirty="0"/>
                    </a:p>
                  </a:txBody>
                  <a:tcPr/>
                </a:tc>
                <a:tc>
                  <a:txBody>
                    <a:bodyPr/>
                    <a:lstStyle/>
                    <a:p>
                      <a:r>
                        <a:rPr lang="en-US" dirty="0" smtClean="0"/>
                        <a:t>returns the id of the thread.</a:t>
                      </a:r>
                      <a:endParaRPr lang="en-US" dirty="0"/>
                    </a:p>
                  </a:txBody>
                  <a:tcPr/>
                </a:tc>
              </a:tr>
              <a:tr h="370840">
                <a:tc>
                  <a:txBody>
                    <a:bodyPr/>
                    <a:lstStyle/>
                    <a:p>
                      <a:r>
                        <a:rPr lang="en-US" b="1" dirty="0" smtClean="0"/>
                        <a:t>public </a:t>
                      </a:r>
                      <a:r>
                        <a:rPr lang="en-US" b="1" dirty="0" err="1" smtClean="0"/>
                        <a:t>Thread.State</a:t>
                      </a:r>
                      <a:r>
                        <a:rPr lang="en-US" b="1" dirty="0" smtClean="0"/>
                        <a:t> </a:t>
                      </a:r>
                      <a:r>
                        <a:rPr lang="en-US" b="1" dirty="0" err="1" smtClean="0"/>
                        <a:t>getState</a:t>
                      </a:r>
                      <a:r>
                        <a:rPr lang="en-US" b="1" dirty="0" smtClean="0"/>
                        <a:t>():</a:t>
                      </a:r>
                      <a:endParaRPr lang="en-US" dirty="0"/>
                    </a:p>
                  </a:txBody>
                  <a:tcPr/>
                </a:tc>
                <a:tc>
                  <a:txBody>
                    <a:bodyPr/>
                    <a:lstStyle/>
                    <a:p>
                      <a:r>
                        <a:rPr lang="en-US" dirty="0" smtClean="0"/>
                        <a:t>returns the state of the thread.</a:t>
                      </a:r>
                      <a:endParaRPr lang="en-US" dirty="0"/>
                    </a:p>
                  </a:txBody>
                  <a:tcPr/>
                </a:tc>
              </a:tr>
              <a:tr h="370840">
                <a:tc>
                  <a:txBody>
                    <a:bodyPr/>
                    <a:lstStyle/>
                    <a:p>
                      <a:r>
                        <a:rPr lang="en-US" b="1" dirty="0" smtClean="0"/>
                        <a:t>public </a:t>
                      </a:r>
                      <a:r>
                        <a:rPr lang="en-US" b="1" dirty="0" err="1" smtClean="0"/>
                        <a:t>boolean</a:t>
                      </a:r>
                      <a:r>
                        <a:rPr lang="en-US" b="1" dirty="0" smtClean="0"/>
                        <a:t> </a:t>
                      </a:r>
                      <a:r>
                        <a:rPr lang="en-US" b="1" dirty="0" err="1" smtClean="0"/>
                        <a:t>isAlive</a:t>
                      </a:r>
                      <a:r>
                        <a:rPr lang="en-US" b="1" dirty="0" smtClean="0"/>
                        <a:t>():</a:t>
                      </a:r>
                      <a:endParaRPr lang="en-US" dirty="0"/>
                    </a:p>
                  </a:txBody>
                  <a:tcPr/>
                </a:tc>
                <a:tc>
                  <a:txBody>
                    <a:bodyPr/>
                    <a:lstStyle/>
                    <a:p>
                      <a:r>
                        <a:rPr lang="en-US" dirty="0" smtClean="0"/>
                        <a:t>tests if the thread is alive.</a:t>
                      </a:r>
                      <a:endParaRPr lang="en-US" dirty="0"/>
                    </a:p>
                  </a:txBody>
                  <a:tcPr/>
                </a:tc>
              </a:tr>
              <a:tr h="370840">
                <a:tc>
                  <a:txBody>
                    <a:bodyPr/>
                    <a:lstStyle/>
                    <a:p>
                      <a:r>
                        <a:rPr lang="en-US" b="1" dirty="0" smtClean="0"/>
                        <a:t>public void yield()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a:t>
                      </a:r>
                      <a:r>
                        <a:rPr lang="en-US" dirty="0" smtClean="0"/>
                        <a:t>causes the currently executing thread object to temporarily pause and allow other threads to execute.</a:t>
                      </a:r>
                      <a:endParaRPr lang="en-US" dirty="0"/>
                    </a:p>
                  </a:txBody>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graphicFrame>
        <p:nvGraphicFramePr>
          <p:cNvPr id="4" name="Content Placeholder 3"/>
          <p:cNvGraphicFramePr>
            <a:graphicFrameLocks noGrp="1"/>
          </p:cNvGraphicFramePr>
          <p:nvPr>
            <p:ph idx="1"/>
          </p:nvPr>
        </p:nvGraphicFramePr>
        <p:xfrm>
          <a:off x="838200" y="1825625"/>
          <a:ext cx="10515600" cy="3196060"/>
        </p:xfrm>
        <a:graphic>
          <a:graphicData uri="http://schemas.openxmlformats.org/drawingml/2006/table">
            <a:tbl>
              <a:tblPr firstRow="1" bandRow="1">
                <a:tableStyleId>{5C22544A-7EE6-4342-B048-85BDC9FD1C3A}</a:tableStyleId>
              </a:tblPr>
              <a:tblGrid>
                <a:gridCol w="4648200"/>
                <a:gridCol w="5867400"/>
              </a:tblGrid>
              <a:tr h="370840">
                <a:tc>
                  <a:txBody>
                    <a:bodyPr/>
                    <a:lstStyle/>
                    <a:p>
                      <a:r>
                        <a:rPr lang="en-US" b="1" dirty="0" smtClean="0"/>
                        <a:t>public void suspend()</a:t>
                      </a:r>
                      <a:endParaRPr lang="en-US" dirty="0"/>
                    </a:p>
                  </a:txBody>
                  <a:tcPr/>
                </a:tc>
                <a:tc>
                  <a:txBody>
                    <a:bodyPr/>
                    <a:lstStyle/>
                    <a:p>
                      <a:r>
                        <a:rPr lang="en-US" dirty="0" smtClean="0"/>
                        <a:t>is used to suspend the thread(deprecated)</a:t>
                      </a:r>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 </a:t>
                      </a:r>
                      <a:r>
                        <a:rPr lang="en-US" b="1" dirty="0" smtClean="0"/>
                        <a:t>public void resume()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is used to resume the suspended thread(</a:t>
                      </a:r>
                      <a:r>
                        <a:rPr lang="en-US" dirty="0" err="1" smtClean="0"/>
                        <a:t>depricated</a:t>
                      </a:r>
                      <a:r>
                        <a:rPr lang="en-US" dirty="0" smtClean="0"/>
                        <a:t>). </a:t>
                      </a:r>
                      <a:endParaRPr lang="en-US" dirty="0" smtClean="0"/>
                    </a:p>
                  </a:txBody>
                  <a:tcPr/>
                </a:tc>
              </a:tr>
              <a:tr h="438918">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void stop()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is used to stop the thread(</a:t>
                      </a:r>
                      <a:r>
                        <a:rPr lang="en-US" dirty="0" err="1" smtClean="0"/>
                        <a:t>depricated</a:t>
                      </a:r>
                      <a:r>
                        <a:rPr lang="en-US" dirty="0" smtClean="0"/>
                        <a:t>). </a:t>
                      </a:r>
                      <a:endParaRPr lang="en-US"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a:t>
                      </a:r>
                      <a:r>
                        <a:rPr lang="en-US" b="1" dirty="0" err="1" smtClean="0"/>
                        <a:t>boolean</a:t>
                      </a:r>
                      <a:r>
                        <a:rPr lang="en-US" b="1" dirty="0" smtClean="0"/>
                        <a:t> </a:t>
                      </a:r>
                      <a:r>
                        <a:rPr lang="en-US" b="1" dirty="0" err="1" smtClean="0"/>
                        <a:t>isDaemon</a:t>
                      </a:r>
                      <a:r>
                        <a:rPr lang="en-US" b="1" dirty="0" smtClean="0"/>
                        <a:t>()</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tests if the thread is a daemon thread</a:t>
                      </a:r>
                      <a:endParaRPr lang="en-US" dirty="0" smtClean="0"/>
                    </a:p>
                  </a:txBody>
                  <a:tcPr/>
                </a:tc>
              </a:tr>
              <a:tr h="537182">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 </a:t>
                      </a:r>
                      <a:r>
                        <a:rPr lang="en-US" b="1" dirty="0" smtClean="0"/>
                        <a:t>public void </a:t>
                      </a:r>
                      <a:r>
                        <a:rPr lang="en-US" b="1" dirty="0" err="1" smtClean="0"/>
                        <a:t>setDaemon</a:t>
                      </a:r>
                      <a:r>
                        <a:rPr lang="en-US" b="1" dirty="0" smtClean="0"/>
                        <a:t>(</a:t>
                      </a:r>
                      <a:r>
                        <a:rPr lang="en-US" b="1" dirty="0" err="1" smtClean="0"/>
                        <a:t>boolean</a:t>
                      </a:r>
                      <a:r>
                        <a:rPr lang="en-US" b="1" dirty="0" smtClean="0"/>
                        <a:t> b)</a:t>
                      </a:r>
                      <a:endParaRPr lang="en-US" b="1"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marks the thread as daemon or user thread. </a:t>
                      </a:r>
                      <a:endParaRPr lang="en-US" dirty="0" smtClean="0"/>
                    </a:p>
                  </a:txBody>
                  <a:tcPr/>
                </a:tc>
              </a:tr>
              <a:tr h="265591">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void interrupt()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interrupts the thread. </a:t>
                      </a:r>
                      <a:endParaRPr lang="en-US"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a:t>
                      </a:r>
                      <a:r>
                        <a:rPr lang="en-US" b="1" dirty="0" err="1" smtClean="0"/>
                        <a:t>boolean</a:t>
                      </a:r>
                      <a:r>
                        <a:rPr lang="en-US" b="1" dirty="0" smtClean="0"/>
                        <a:t> </a:t>
                      </a:r>
                      <a:r>
                        <a:rPr lang="en-US" b="1" dirty="0" err="1" smtClean="0"/>
                        <a:t>isInterrupted</a:t>
                      </a:r>
                      <a:r>
                        <a:rPr lang="en-US" b="1" dirty="0" smtClean="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tests if the thread has been interrupted.</a:t>
                      </a:r>
                      <a:endParaRPr lang="en-US"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public static </a:t>
                      </a:r>
                      <a:r>
                        <a:rPr lang="en-US" b="1" dirty="0" err="1" smtClean="0"/>
                        <a:t>boolean</a:t>
                      </a:r>
                      <a:r>
                        <a:rPr lang="en-US" b="1" dirty="0" smtClean="0"/>
                        <a:t> interrupted()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tests if the current thread has been interrupted.</a:t>
                      </a:r>
                      <a:endParaRPr lang="en-US" dirty="0" smtClean="0"/>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9400</Words>
  <Application>WPS Presentation</Application>
  <PresentationFormat>Widescreen</PresentationFormat>
  <Paragraphs>253</Paragraphs>
  <Slides>24</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Arial</vt:lpstr>
      <vt:lpstr>SimSun</vt:lpstr>
      <vt:lpstr>Wingdings</vt:lpstr>
      <vt:lpstr>Calibri Light</vt:lpstr>
      <vt:lpstr>Calibri</vt:lpstr>
      <vt:lpstr>Microsoft YaHei</vt:lpstr>
      <vt:lpstr>Arial Unicode MS</vt:lpstr>
      <vt:lpstr>Office Theme</vt:lpstr>
      <vt:lpstr>Java Threads </vt:lpstr>
      <vt:lpstr>What is a Thread in Java? </vt:lpstr>
      <vt:lpstr>Threads…</vt:lpstr>
      <vt:lpstr>Main Thread</vt:lpstr>
      <vt:lpstr>What is Multitasking in Java? </vt:lpstr>
      <vt:lpstr>Process and Thread</vt:lpstr>
      <vt:lpstr>Multithreading</vt:lpstr>
      <vt:lpstr>Java Thread Benefits </vt:lpstr>
      <vt:lpstr>Creating a Thread in Java </vt:lpstr>
      <vt:lpstr>Java Thread Example - extending Thread class </vt:lpstr>
      <vt:lpstr>Extending java.lang.Thread class.</vt:lpstr>
      <vt:lpstr>Java Thread Example by implementing Runnable interface </vt:lpstr>
      <vt:lpstr>Example</vt:lpstr>
      <vt:lpstr>Important point</vt:lpstr>
      <vt:lpstr>Runnable vs Thread </vt:lpstr>
      <vt:lpstr>Lifecycle of a Thread in Java </vt:lpstr>
      <vt:lpstr>There are basically 4 stages in the lifecycle of a thread, as given below: </vt:lpstr>
      <vt:lpstr>PowerPoint 演示文稿</vt:lpstr>
      <vt:lpstr>States of the Thread</vt:lpstr>
      <vt:lpstr>Running State </vt:lpstr>
      <vt:lpstr>States of the thread</vt:lpstr>
      <vt:lpstr>Commonly used Constructors of Thread class: </vt:lpstr>
      <vt:lpstr>Commonly used methods of Thread class: </vt:lpstr>
      <vt:lpstr>Cont..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N210764 MOLABANTI VARSHITHA</cp:lastModifiedBy>
  <cp:revision>29</cp:revision>
  <dcterms:created xsi:type="dcterms:W3CDTF">2024-04-24T17:07:00Z</dcterms:created>
  <dcterms:modified xsi:type="dcterms:W3CDTF">2026-10-14T03:04:01Z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F3BCF17EA4944C32973D7ECC87E8C38E_12</vt:lpwstr>
  </property>
  <property fmtid="{D5CDD505-2E9C-101B-9397-08002B2CF9AE}" pid="3" name="KSOProductBuildVer">
    <vt:lpwstr>1033-12.1.0.29162</vt:lpwstr>
  </property>
</Properties>
</file>
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73E937C-D90F-4987-90D9-E6CEEC2A0E88}"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C56B9-BA5E-4308-B4D2-1726A4AF527E}" type="slidenum">
              <a:rPr lang="en-US" smtClean="0"/>
              <a:t>‹#›</a:t>
            </a:fld>
            <a:endParaRPr lang="en-US"/>
          </a:p>
        </p:txBody>
      </p:sp>
    </p:spTree>
    <p:extLst>
      <p:ext uri="{BB962C8B-B14F-4D97-AF65-F5344CB8AC3E}">
        <p14:creationId xmlns:p14="http://schemas.microsoft.com/office/powerpoint/2010/main" val="3008086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3E937C-D90F-4987-90D9-E6CEEC2A0E88}"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C56B9-BA5E-4308-B4D2-1726A4AF527E}" type="slidenum">
              <a:rPr lang="en-US" smtClean="0"/>
              <a:t>‹#›</a:t>
            </a:fld>
            <a:endParaRPr lang="en-US"/>
          </a:p>
        </p:txBody>
      </p:sp>
    </p:spTree>
    <p:extLst>
      <p:ext uri="{BB962C8B-B14F-4D97-AF65-F5344CB8AC3E}">
        <p14:creationId xmlns:p14="http://schemas.microsoft.com/office/powerpoint/2010/main" val="218721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3E937C-D90F-4987-90D9-E6CEEC2A0E88}"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C56B9-BA5E-4308-B4D2-1726A4AF527E}" type="slidenum">
              <a:rPr lang="en-US" smtClean="0"/>
              <a:t>‹#›</a:t>
            </a:fld>
            <a:endParaRPr lang="en-US"/>
          </a:p>
        </p:txBody>
      </p:sp>
    </p:spTree>
    <p:extLst>
      <p:ext uri="{BB962C8B-B14F-4D97-AF65-F5344CB8AC3E}">
        <p14:creationId xmlns:p14="http://schemas.microsoft.com/office/powerpoint/2010/main" val="2790158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73E937C-D90F-4987-90D9-E6CEEC2A0E88}" type="datetimeFigureOut">
              <a:rPr lang="en-US" smtClean="0"/>
              <a:t>4/28/2024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4C56B9-BA5E-4308-B4D2-1726A4AF527E}" type="slidenum">
              <a:rPr lang="en-US" smtClean="0"/>
              <a:t>‹#›</a:t>
            </a:fld>
            <a:endParaRPr lang="en-US"/>
          </a:p>
        </p:txBody>
      </p:sp>
    </p:spTree>
    <p:extLst>
      <p:ext uri="{BB962C8B-B14F-4D97-AF65-F5344CB8AC3E}">
        <p14:creationId xmlns:p14="http://schemas.microsoft.com/office/powerpoint/2010/main" val="14755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73E937C-D90F-4987-90D9-E6CEEC2A0E88}" type="datetimeFigureOut">
              <a:rPr lang="en-US" smtClean="0"/>
              <a:t>4/28/2024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4C56B9-BA5E-4308-B4D2-1726A4AF527E}" type="slidenum">
              <a:rPr lang="en-US" smtClean="0"/>
              <a:t>‹#›</a:t>
            </a:fld>
            <a:endParaRPr lang="en-US"/>
          </a:p>
        </p:txBody>
      </p:sp>
    </p:spTree>
    <p:extLst>
      <p:ext uri="{BB962C8B-B14F-4D97-AF65-F5344CB8AC3E}">
        <p14:creationId xmlns:p14="http://schemas.microsoft.com/office/powerpoint/2010/main" val="2777493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73E937C-D90F-4987-90D9-E6CEEC2A0E88}" type="datetimeFigureOut">
              <a:rPr lang="en-US" smtClean="0"/>
              <a:t>4/28/2024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4C56B9-BA5E-4308-B4D2-1726A4AF527E}" type="slidenum">
              <a:rPr lang="en-US" smtClean="0"/>
              <a:t>‹#›</a:t>
            </a:fld>
            <a:endParaRPr lang="en-US"/>
          </a:p>
        </p:txBody>
      </p:sp>
    </p:spTree>
    <p:extLst>
      <p:ext uri="{BB962C8B-B14F-4D97-AF65-F5344CB8AC3E}">
        <p14:creationId xmlns:p14="http://schemas.microsoft.com/office/powerpoint/2010/main" val="1672327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3E937C-D90F-4987-90D9-E6CEEC2A0E88}" type="datetimeFigureOut">
              <a:rPr lang="en-US" smtClean="0"/>
              <a:t>4/28/2024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4C56B9-BA5E-4308-B4D2-1726A4AF527E}" type="slidenum">
              <a:rPr lang="en-US" smtClean="0"/>
              <a:t>‹#›</a:t>
            </a:fld>
            <a:endParaRPr lang="en-US"/>
          </a:p>
        </p:txBody>
      </p:sp>
    </p:spTree>
    <p:extLst>
      <p:ext uri="{BB962C8B-B14F-4D97-AF65-F5344CB8AC3E}">
        <p14:creationId xmlns:p14="http://schemas.microsoft.com/office/powerpoint/2010/main" val="3069183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3E937C-D90F-4987-90D9-E6CEEC2A0E88}" type="datetimeFigureOut">
              <a:rPr lang="en-US" smtClean="0"/>
              <a:t>4/28/2024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4C56B9-BA5E-4308-B4D2-1726A4AF527E}" type="slidenum">
              <a:rPr lang="en-US" smtClean="0"/>
              <a:t>‹#›</a:t>
            </a:fld>
            <a:endParaRPr lang="en-US"/>
          </a:p>
        </p:txBody>
      </p:sp>
    </p:spTree>
    <p:extLst>
      <p:ext uri="{BB962C8B-B14F-4D97-AF65-F5344CB8AC3E}">
        <p14:creationId xmlns:p14="http://schemas.microsoft.com/office/powerpoint/2010/main" val="2738305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3E937C-D90F-4987-90D9-E6CEEC2A0E88}" type="datetimeFigureOut">
              <a:rPr lang="en-US" smtClean="0"/>
              <a:t>4/28/2024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4C56B9-BA5E-4308-B4D2-1726A4AF527E}" type="slidenum">
              <a:rPr lang="en-US" smtClean="0"/>
              <a:t>‹#›</a:t>
            </a:fld>
            <a:endParaRPr lang="en-US"/>
          </a:p>
        </p:txBody>
      </p:sp>
    </p:spTree>
    <p:extLst>
      <p:ext uri="{BB962C8B-B14F-4D97-AF65-F5344CB8AC3E}">
        <p14:creationId xmlns:p14="http://schemas.microsoft.com/office/powerpoint/2010/main" val="491743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3E937C-D90F-4987-90D9-E6CEEC2A0E88}"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C56B9-BA5E-4308-B4D2-1726A4AF527E}" type="slidenum">
              <a:rPr lang="en-US" smtClean="0"/>
              <a:t>‹#›</a:t>
            </a:fld>
            <a:endParaRPr lang="en-US"/>
          </a:p>
        </p:txBody>
      </p:sp>
    </p:spTree>
    <p:extLst>
      <p:ext uri="{BB962C8B-B14F-4D97-AF65-F5344CB8AC3E}">
        <p14:creationId xmlns:p14="http://schemas.microsoft.com/office/powerpoint/2010/main" val="1158609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3E937C-D90F-4987-90D9-E6CEEC2A0E88}"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C56B9-BA5E-4308-B4D2-1726A4AF527E}" type="slidenum">
              <a:rPr lang="en-US" smtClean="0"/>
              <a:t>‹#›</a:t>
            </a:fld>
            <a:endParaRPr lang="en-US"/>
          </a:p>
        </p:txBody>
      </p:sp>
    </p:spTree>
    <p:extLst>
      <p:ext uri="{BB962C8B-B14F-4D97-AF65-F5344CB8AC3E}">
        <p14:creationId xmlns:p14="http://schemas.microsoft.com/office/powerpoint/2010/main" val="2555203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3E937C-D90F-4987-90D9-E6CEEC2A0E88}" type="datetimeFigureOut">
              <a:rPr lang="en-US" smtClean="0"/>
              <a:t>4/28/2024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4C56B9-BA5E-4308-B4D2-1726A4AF527E}" type="slidenum">
              <a:rPr lang="en-US" smtClean="0"/>
              <a:t>‹#›</a:t>
            </a:fld>
            <a:endParaRPr lang="en-US"/>
          </a:p>
        </p:txBody>
      </p:sp>
    </p:spTree>
    <p:extLst>
      <p:ext uri="{BB962C8B-B14F-4D97-AF65-F5344CB8AC3E}">
        <p14:creationId xmlns:p14="http://schemas.microsoft.com/office/powerpoint/2010/main" val="1318992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www.tutorialspoint.com/java/lang/threadgroup_interrupt.htm" TargetMode="External"/><Relationship Id="rId3" Type="http://schemas.openxmlformats.org/officeDocument/2006/relationships/hyperlink" Target="https://www.tutorialspoint.com/java/lang/threadgroup_activegroupcount.htm" TargetMode="External"/><Relationship Id="rId7" Type="http://schemas.openxmlformats.org/officeDocument/2006/relationships/hyperlink" Target="https://www.tutorialspoint.com/java/lang/threadgroup_getparent.htm" TargetMode="External"/><Relationship Id="rId2" Type="http://schemas.openxmlformats.org/officeDocument/2006/relationships/hyperlink" Target="https://www.tutorialspoint.com/java/lang/threadgroup_activecount.htm" TargetMode="External"/><Relationship Id="rId1" Type="http://schemas.openxmlformats.org/officeDocument/2006/relationships/slideLayout" Target="../slideLayouts/slideLayout2.xml"/><Relationship Id="rId6" Type="http://schemas.openxmlformats.org/officeDocument/2006/relationships/hyperlink" Target="https://www.tutorialspoint.com/java/lang/threadgroup_getname.htm" TargetMode="External"/><Relationship Id="rId5" Type="http://schemas.openxmlformats.org/officeDocument/2006/relationships/hyperlink" Target="https://www.tutorialspoint.com/java/lang/threadgroup_destroy.htm" TargetMode="External"/><Relationship Id="rId4" Type="http://schemas.openxmlformats.org/officeDocument/2006/relationships/hyperlink" Target="https://www.tutorialspoint.com/java/lang/threadgroup_checkaccess.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Thread-2</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42042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Priority of a Thread</a:t>
            </a:r>
            <a:endParaRPr lang="en-US" dirty="0"/>
          </a:p>
        </p:txBody>
      </p:sp>
      <p:sp>
        <p:nvSpPr>
          <p:cNvPr id="3" name="Content Placeholder 2"/>
          <p:cNvSpPr>
            <a:spLocks noGrp="1"/>
          </p:cNvSpPr>
          <p:nvPr>
            <p:ph idx="1"/>
          </p:nvPr>
        </p:nvSpPr>
        <p:spPr/>
        <p:txBody>
          <a:bodyPr/>
          <a:lstStyle/>
          <a:p>
            <a:r>
              <a:rPr lang="en-US" dirty="0" smtClean="0"/>
              <a:t>Each thread has a priority. Priorities are represented by a number between 1 and 10. </a:t>
            </a:r>
          </a:p>
          <a:p>
            <a:r>
              <a:rPr lang="en-US" dirty="0" smtClean="0"/>
              <a:t>In most cases, the thread scheduler schedules the threads according to their priority (known as preemptive scheduling). </a:t>
            </a:r>
          </a:p>
          <a:p>
            <a:r>
              <a:rPr lang="en-US" dirty="0" smtClean="0"/>
              <a:t>But it is not guaranteed because it depends on JVM specification that which scheduling it chooses. </a:t>
            </a:r>
          </a:p>
          <a:p>
            <a:r>
              <a:rPr lang="en-US" dirty="0" smtClean="0"/>
              <a:t>Note that not only JVM a Java programmer can also assign the priorities of a thread explicitly in a Java program.</a:t>
            </a:r>
            <a:endParaRPr lang="en-US" dirty="0"/>
          </a:p>
        </p:txBody>
      </p:sp>
    </p:spTree>
    <p:extLst>
      <p:ext uri="{BB962C8B-B14F-4D97-AF65-F5344CB8AC3E}">
        <p14:creationId xmlns:p14="http://schemas.microsoft.com/office/powerpoint/2010/main" val="3043647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Setter &amp; Getter Method of Thread Priority</a:t>
            </a:r>
            <a:br>
              <a:rPr lang="en-US" b="1" dirty="0" smtClean="0"/>
            </a:br>
            <a:endParaRPr lang="en-US" dirty="0"/>
          </a:p>
        </p:txBody>
      </p:sp>
      <p:sp>
        <p:nvSpPr>
          <p:cNvPr id="3" name="Content Placeholder 2"/>
          <p:cNvSpPr>
            <a:spLocks noGrp="1"/>
          </p:cNvSpPr>
          <p:nvPr>
            <p:ph idx="1"/>
          </p:nvPr>
        </p:nvSpPr>
        <p:spPr/>
        <p:txBody>
          <a:bodyPr/>
          <a:lstStyle/>
          <a:p>
            <a:r>
              <a:rPr lang="en-US" b="1" dirty="0" smtClean="0"/>
              <a:t>public final </a:t>
            </a:r>
            <a:r>
              <a:rPr lang="en-US" b="1" dirty="0" err="1" smtClean="0"/>
              <a:t>int</a:t>
            </a:r>
            <a:r>
              <a:rPr lang="en-US" b="1" dirty="0" smtClean="0"/>
              <a:t> getPriority():</a:t>
            </a:r>
            <a:r>
              <a:rPr lang="en-US" dirty="0" smtClean="0"/>
              <a:t> The java.lang.Thread.getPriority() method returns the priority of the given thread.</a:t>
            </a:r>
          </a:p>
          <a:p>
            <a:r>
              <a:rPr lang="en-US" b="1" dirty="0" smtClean="0"/>
              <a:t>public final void setPriority(</a:t>
            </a:r>
            <a:r>
              <a:rPr lang="en-US" b="1" dirty="0" err="1" smtClean="0"/>
              <a:t>int</a:t>
            </a:r>
            <a:r>
              <a:rPr lang="en-US" b="1" dirty="0" smtClean="0"/>
              <a:t> newPriority):</a:t>
            </a:r>
            <a:r>
              <a:rPr lang="en-US" dirty="0" smtClean="0"/>
              <a:t> The java.lang.Thread.setPriority() method updates or assign the priority of the thread to newPriority.</a:t>
            </a:r>
          </a:p>
          <a:p>
            <a:r>
              <a:rPr lang="en-US" dirty="0" smtClean="0"/>
              <a:t> The method throws IllegalArgumentException if the value newPriority goes out of the range, which is 1 (minimum) to 10 (maximum).</a:t>
            </a:r>
          </a:p>
          <a:p>
            <a:endParaRPr lang="en-US" dirty="0"/>
          </a:p>
        </p:txBody>
      </p:sp>
    </p:spTree>
    <p:extLst>
      <p:ext uri="{BB962C8B-B14F-4D97-AF65-F5344CB8AC3E}">
        <p14:creationId xmlns:p14="http://schemas.microsoft.com/office/powerpoint/2010/main" val="3073503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 constants defined in Thread class: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Java thread priorities are in the range between MIN_PRIORITY (a constant of 1) and MAX_PRIORITY (a constant of 10). By default, every thread is given priority NORM_PRIORITY (a constant of 5).</a:t>
            </a:r>
          </a:p>
          <a:p>
            <a:r>
              <a:rPr lang="en-US" dirty="0" smtClean="0"/>
              <a:t>public static </a:t>
            </a:r>
            <a:r>
              <a:rPr lang="en-US" dirty="0" err="1" smtClean="0"/>
              <a:t>int</a:t>
            </a:r>
            <a:r>
              <a:rPr lang="en-US" dirty="0" smtClean="0"/>
              <a:t> MIN_PRIORITY: Specifies the minimum priority that a thread can have.</a:t>
            </a:r>
          </a:p>
          <a:p>
            <a:r>
              <a:rPr lang="en-US" dirty="0" smtClean="0"/>
              <a:t>public static </a:t>
            </a:r>
            <a:r>
              <a:rPr lang="en-US" dirty="0" err="1" smtClean="0"/>
              <a:t>int</a:t>
            </a:r>
            <a:r>
              <a:rPr lang="en-US" dirty="0" smtClean="0"/>
              <a:t> NORM_PRIORITY: Specifies the default priority that a thread is assigned.</a:t>
            </a:r>
          </a:p>
          <a:p>
            <a:r>
              <a:rPr lang="en-US" dirty="0" smtClean="0"/>
              <a:t>public static </a:t>
            </a:r>
            <a:r>
              <a:rPr lang="en-US" dirty="0" err="1" smtClean="0"/>
              <a:t>int</a:t>
            </a:r>
            <a:r>
              <a:rPr lang="en-US" dirty="0" smtClean="0"/>
              <a:t> </a:t>
            </a:r>
            <a:r>
              <a:rPr lang="en-US" dirty="0" err="1" smtClean="0"/>
              <a:t>MAX_PRIORITY:Specifies</a:t>
            </a:r>
            <a:r>
              <a:rPr lang="en-US" dirty="0" smtClean="0"/>
              <a:t> the maximum priority that a thread can have.</a:t>
            </a:r>
          </a:p>
          <a:p>
            <a:r>
              <a:rPr lang="en-US" dirty="0" smtClean="0"/>
              <a:t>Default priority of a thread is 5 (NORM_PRIORITY). The value of MIN_PRIORITY is 1 and the value of MAX_PRIORITY is 10.</a:t>
            </a:r>
            <a:endParaRPr lang="en-US" dirty="0"/>
          </a:p>
        </p:txBody>
      </p:sp>
    </p:spTree>
    <p:extLst>
      <p:ext uri="{BB962C8B-B14F-4D97-AF65-F5344CB8AC3E}">
        <p14:creationId xmlns:p14="http://schemas.microsoft.com/office/powerpoint/2010/main" val="3149877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Daemon Thread in Java</a:t>
            </a:r>
            <a:br>
              <a:rPr lang="en-US" b="1" dirty="0" smtClean="0"/>
            </a:br>
            <a:endParaRPr lang="en-US" dirty="0"/>
          </a:p>
        </p:txBody>
      </p:sp>
      <p:sp>
        <p:nvSpPr>
          <p:cNvPr id="3" name="Content Placeholder 2"/>
          <p:cNvSpPr>
            <a:spLocks noGrp="1"/>
          </p:cNvSpPr>
          <p:nvPr>
            <p:ph idx="1"/>
          </p:nvPr>
        </p:nvSpPr>
        <p:spPr/>
        <p:txBody>
          <a:bodyPr/>
          <a:lstStyle/>
          <a:p>
            <a:r>
              <a:rPr lang="en-US" b="1" dirty="0" smtClean="0"/>
              <a:t>Daemon thread in Java</a:t>
            </a:r>
            <a:r>
              <a:rPr lang="en-US" dirty="0" smtClean="0"/>
              <a:t> is a service provider thread that provides services to the user thread. Its life depend on the mercy of user threads i.e. when all the user threads dies, JVM terminates this thread automatically.</a:t>
            </a:r>
          </a:p>
          <a:p>
            <a:r>
              <a:rPr lang="en-US" dirty="0" smtClean="0"/>
              <a:t>There are many java daemon threads running automatically e.g. </a:t>
            </a:r>
            <a:r>
              <a:rPr lang="en-US" dirty="0" err="1" smtClean="0"/>
              <a:t>gc</a:t>
            </a:r>
            <a:r>
              <a:rPr lang="en-US" dirty="0" smtClean="0"/>
              <a:t>, </a:t>
            </a:r>
            <a:r>
              <a:rPr lang="en-US" dirty="0" err="1" smtClean="0"/>
              <a:t>finalizer</a:t>
            </a:r>
            <a:r>
              <a:rPr lang="en-US" dirty="0" smtClean="0"/>
              <a:t> etc. </a:t>
            </a:r>
          </a:p>
          <a:p>
            <a:r>
              <a:rPr lang="en-US" dirty="0" smtClean="0"/>
              <a:t>You can see all the detail by typing the </a:t>
            </a:r>
            <a:r>
              <a:rPr lang="en-US" dirty="0" err="1" smtClean="0"/>
              <a:t>jconsole</a:t>
            </a:r>
            <a:r>
              <a:rPr lang="en-US" dirty="0" smtClean="0"/>
              <a:t> in the command prompt. The </a:t>
            </a:r>
            <a:r>
              <a:rPr lang="en-US" dirty="0" err="1" smtClean="0"/>
              <a:t>jconsole</a:t>
            </a:r>
            <a:r>
              <a:rPr lang="en-US" dirty="0" smtClean="0"/>
              <a:t> tool provides information about the loaded classes, memory usage, running threads etc.</a:t>
            </a:r>
          </a:p>
          <a:p>
            <a:endParaRPr lang="en-US" dirty="0"/>
          </a:p>
        </p:txBody>
      </p:sp>
    </p:spTree>
    <p:extLst>
      <p:ext uri="{BB962C8B-B14F-4D97-AF65-F5344CB8AC3E}">
        <p14:creationId xmlns:p14="http://schemas.microsoft.com/office/powerpoint/2010/main" val="1673342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Points to remember for Daemon Thread in Java</a:t>
            </a:r>
            <a:br>
              <a:rPr lang="en-US" b="1" dirty="0" smtClean="0"/>
            </a:br>
            <a:endParaRPr lang="en-US" dirty="0"/>
          </a:p>
        </p:txBody>
      </p:sp>
      <p:sp>
        <p:nvSpPr>
          <p:cNvPr id="3" name="Content Placeholder 2"/>
          <p:cNvSpPr>
            <a:spLocks noGrp="1"/>
          </p:cNvSpPr>
          <p:nvPr>
            <p:ph idx="1"/>
          </p:nvPr>
        </p:nvSpPr>
        <p:spPr/>
        <p:txBody>
          <a:bodyPr/>
          <a:lstStyle/>
          <a:p>
            <a:r>
              <a:rPr lang="en-US" dirty="0" smtClean="0"/>
              <a:t>It provides services to user threads for background supporting tasks. It has no role in life than to serve user threads.</a:t>
            </a:r>
          </a:p>
          <a:p>
            <a:r>
              <a:rPr lang="en-US" dirty="0" smtClean="0"/>
              <a:t>Daemon thread in Java is a low-priority thread that performs background operations such as garbage collection, </a:t>
            </a:r>
            <a:r>
              <a:rPr lang="en-US" dirty="0" err="1" smtClean="0"/>
              <a:t>finalizer</a:t>
            </a:r>
            <a:r>
              <a:rPr lang="en-US" dirty="0" smtClean="0"/>
              <a:t>, Action Listeners, Signal dispatches, etc.</a:t>
            </a:r>
          </a:p>
          <a:p>
            <a:r>
              <a:rPr lang="en-US" dirty="0" smtClean="0"/>
              <a:t>Its life depends on user threads.</a:t>
            </a:r>
          </a:p>
          <a:p>
            <a:r>
              <a:rPr lang="en-US" dirty="0" smtClean="0"/>
              <a:t>It is a low priority thread.</a:t>
            </a:r>
          </a:p>
          <a:p>
            <a:endParaRPr lang="en-US" dirty="0"/>
          </a:p>
        </p:txBody>
      </p:sp>
    </p:spTree>
    <p:extLst>
      <p:ext uri="{BB962C8B-B14F-4D97-AF65-F5344CB8AC3E}">
        <p14:creationId xmlns:p14="http://schemas.microsoft.com/office/powerpoint/2010/main" val="3507651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Why JVM terminates the daemon thread if there is no user thread?</a:t>
            </a:r>
            <a:br>
              <a:rPr lang="en-US" b="1" dirty="0" smtClean="0"/>
            </a:br>
            <a:endParaRPr lang="en-US" dirty="0"/>
          </a:p>
        </p:txBody>
      </p:sp>
      <p:sp>
        <p:nvSpPr>
          <p:cNvPr id="3" name="Content Placeholder 2"/>
          <p:cNvSpPr>
            <a:spLocks noGrp="1"/>
          </p:cNvSpPr>
          <p:nvPr>
            <p:ph idx="1"/>
          </p:nvPr>
        </p:nvSpPr>
        <p:spPr/>
        <p:txBody>
          <a:bodyPr/>
          <a:lstStyle/>
          <a:p>
            <a:r>
              <a:rPr lang="en-US" dirty="0" smtClean="0"/>
              <a:t>The sole purpose of the daemon thread is that it provides services to user thread for background supporting task. </a:t>
            </a:r>
          </a:p>
          <a:p>
            <a:r>
              <a:rPr lang="en-US" dirty="0" smtClean="0"/>
              <a:t>If there is no user thread, why should JVM keep running this thread. </a:t>
            </a:r>
          </a:p>
          <a:p>
            <a:r>
              <a:rPr lang="en-US" dirty="0" smtClean="0"/>
              <a:t>That is why JVM terminates the daemon thread if there is no user thread.</a:t>
            </a:r>
            <a:endParaRPr lang="en-US" dirty="0"/>
          </a:p>
        </p:txBody>
      </p:sp>
    </p:spTree>
    <p:extLst>
      <p:ext uri="{BB962C8B-B14F-4D97-AF65-F5344CB8AC3E}">
        <p14:creationId xmlns:p14="http://schemas.microsoft.com/office/powerpoint/2010/main" val="806603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Methods for Java Daemon thread by Thread class</a:t>
            </a:r>
            <a:br>
              <a:rPr lang="en-US" b="1" dirty="0" smtClean="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29364754"/>
              </p:ext>
            </p:extLst>
          </p:nvPr>
        </p:nvGraphicFramePr>
        <p:xfrm>
          <a:off x="838200" y="1825625"/>
          <a:ext cx="10515600" cy="2468880"/>
        </p:xfrm>
        <a:graphic>
          <a:graphicData uri="http://schemas.openxmlformats.org/drawingml/2006/table">
            <a:tbl>
              <a:tblPr firstRow="1" bandRow="1">
                <a:tableStyleId>{5C22544A-7EE6-4342-B048-85BDC9FD1C3A}</a:tableStyleId>
              </a:tblPr>
              <a:tblGrid>
                <a:gridCol w="676701"/>
                <a:gridCol w="4026090"/>
                <a:gridCol w="5812809"/>
              </a:tblGrid>
              <a:tr h="370840">
                <a:tc>
                  <a:txBody>
                    <a:bodyPr/>
                    <a:lstStyle/>
                    <a:p>
                      <a:r>
                        <a:rPr lang="en-US" sz="3200" dirty="0"/>
                        <a:t>No.</a:t>
                      </a:r>
                    </a:p>
                  </a:txBody>
                  <a:tcPr anchor="ctr"/>
                </a:tc>
                <a:tc>
                  <a:txBody>
                    <a:bodyPr/>
                    <a:lstStyle/>
                    <a:p>
                      <a:r>
                        <a:rPr lang="en-US" sz="3200"/>
                        <a:t>Method</a:t>
                      </a:r>
                    </a:p>
                  </a:txBody>
                  <a:tcPr anchor="ctr"/>
                </a:tc>
                <a:tc>
                  <a:txBody>
                    <a:bodyPr/>
                    <a:lstStyle/>
                    <a:p>
                      <a:r>
                        <a:rPr lang="en-US" sz="3200"/>
                        <a:t>Description</a:t>
                      </a:r>
                    </a:p>
                  </a:txBody>
                  <a:tcPr anchor="ctr"/>
                </a:tc>
              </a:tr>
              <a:tr h="370840">
                <a:tc>
                  <a:txBody>
                    <a:bodyPr/>
                    <a:lstStyle/>
                    <a:p>
                      <a:r>
                        <a:rPr lang="en-US" sz="3200"/>
                        <a:t>1)</a:t>
                      </a:r>
                    </a:p>
                  </a:txBody>
                  <a:tcPr anchor="ctr"/>
                </a:tc>
                <a:tc>
                  <a:txBody>
                    <a:bodyPr/>
                    <a:lstStyle/>
                    <a:p>
                      <a:r>
                        <a:rPr lang="en-US" sz="2400"/>
                        <a:t>public void setDaemon(boolean status)</a:t>
                      </a:r>
                    </a:p>
                  </a:txBody>
                  <a:tcPr anchor="ctr"/>
                </a:tc>
                <a:tc>
                  <a:txBody>
                    <a:bodyPr/>
                    <a:lstStyle/>
                    <a:p>
                      <a:r>
                        <a:rPr lang="en-US" sz="2400"/>
                        <a:t>is used to mark the current thread as daemon thread or user thread.</a:t>
                      </a:r>
                    </a:p>
                  </a:txBody>
                  <a:tcPr anchor="ctr"/>
                </a:tc>
              </a:tr>
              <a:tr h="370840">
                <a:tc>
                  <a:txBody>
                    <a:bodyPr/>
                    <a:lstStyle/>
                    <a:p>
                      <a:r>
                        <a:rPr lang="en-US" sz="3200"/>
                        <a:t>2)</a:t>
                      </a:r>
                    </a:p>
                  </a:txBody>
                  <a:tcPr anchor="ctr"/>
                </a:tc>
                <a:tc>
                  <a:txBody>
                    <a:bodyPr/>
                    <a:lstStyle/>
                    <a:p>
                      <a:r>
                        <a:rPr lang="en-US" sz="2400" dirty="0"/>
                        <a:t>public </a:t>
                      </a:r>
                      <a:r>
                        <a:rPr lang="en-US" sz="2400" dirty="0" err="1"/>
                        <a:t>boolean</a:t>
                      </a:r>
                      <a:r>
                        <a:rPr lang="en-US" sz="2400" dirty="0"/>
                        <a:t> </a:t>
                      </a:r>
                      <a:r>
                        <a:rPr lang="en-US" sz="2400" dirty="0" err="1"/>
                        <a:t>isDaemon</a:t>
                      </a:r>
                      <a:r>
                        <a:rPr lang="en-US" sz="2400" dirty="0"/>
                        <a:t>()</a:t>
                      </a:r>
                    </a:p>
                  </a:txBody>
                  <a:tcPr anchor="ctr"/>
                </a:tc>
                <a:tc>
                  <a:txBody>
                    <a:bodyPr/>
                    <a:lstStyle/>
                    <a:p>
                      <a:r>
                        <a:rPr lang="en-US" sz="2400" dirty="0"/>
                        <a:t>is used to check that current is daemon.</a:t>
                      </a:r>
                    </a:p>
                  </a:txBody>
                  <a:tcPr anchor="ctr"/>
                </a:tc>
              </a:tr>
            </a:tbl>
          </a:graphicData>
        </a:graphic>
      </p:graphicFrame>
    </p:spTree>
    <p:extLst>
      <p:ext uri="{BB962C8B-B14F-4D97-AF65-F5344CB8AC3E}">
        <p14:creationId xmlns:p14="http://schemas.microsoft.com/office/powerpoint/2010/main" val="512276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Exceptions in a Daemon Thread in Java</a:t>
            </a:r>
            <a:br>
              <a:rPr lang="en-US" b="1" dirty="0" smtClean="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9757317"/>
              </p:ext>
            </p:extLst>
          </p:nvPr>
        </p:nvGraphicFramePr>
        <p:xfrm>
          <a:off x="142164" y="1866568"/>
          <a:ext cx="11353800" cy="2103120"/>
        </p:xfrm>
        <a:graphic>
          <a:graphicData uri="http://schemas.openxmlformats.org/drawingml/2006/table">
            <a:tbl>
              <a:tblPr firstRow="1" bandRow="1">
                <a:tableStyleId>{5C22544A-7EE6-4342-B048-85BDC9FD1C3A}</a:tableStyleId>
              </a:tblPr>
              <a:tblGrid>
                <a:gridCol w="701170"/>
                <a:gridCol w="4170182"/>
                <a:gridCol w="6482448"/>
              </a:tblGrid>
              <a:tr h="370840">
                <a:tc>
                  <a:txBody>
                    <a:bodyPr/>
                    <a:lstStyle/>
                    <a:p>
                      <a:pPr algn="ctr"/>
                      <a:r>
                        <a:rPr lang="en-US" sz="2400" dirty="0">
                          <a:effectLst/>
                        </a:rPr>
                        <a:t>No.</a:t>
                      </a:r>
                    </a:p>
                  </a:txBody>
                  <a:tcPr anchor="ctr"/>
                </a:tc>
                <a:tc>
                  <a:txBody>
                    <a:bodyPr/>
                    <a:lstStyle/>
                    <a:p>
                      <a:pPr algn="ctr"/>
                      <a:r>
                        <a:rPr lang="en-US" sz="2400">
                          <a:effectLst/>
                        </a:rPr>
                        <a:t>Exceptions</a:t>
                      </a:r>
                    </a:p>
                  </a:txBody>
                  <a:tcPr anchor="ctr"/>
                </a:tc>
                <a:tc>
                  <a:txBody>
                    <a:bodyPr/>
                    <a:lstStyle/>
                    <a:p>
                      <a:pPr algn="ctr"/>
                      <a:r>
                        <a:rPr lang="en-US" sz="2400">
                          <a:effectLst/>
                        </a:rPr>
                        <a:t>Description</a:t>
                      </a:r>
                    </a:p>
                  </a:txBody>
                  <a:tcPr anchor="ctr"/>
                </a:tc>
              </a:tr>
              <a:tr h="370840">
                <a:tc>
                  <a:txBody>
                    <a:bodyPr/>
                    <a:lstStyle/>
                    <a:p>
                      <a:pPr algn="ctr"/>
                      <a:r>
                        <a:rPr lang="en-US" sz="2400">
                          <a:effectLst/>
                        </a:rPr>
                        <a:t>1</a:t>
                      </a:r>
                    </a:p>
                  </a:txBody>
                  <a:tcPr anchor="ctr"/>
                </a:tc>
                <a:tc>
                  <a:txBody>
                    <a:bodyPr/>
                    <a:lstStyle/>
                    <a:p>
                      <a:pPr algn="ctr"/>
                      <a:r>
                        <a:rPr lang="en-US" sz="2400">
                          <a:effectLst/>
                        </a:rPr>
                        <a:t>IllegalThreadStateException.</a:t>
                      </a:r>
                    </a:p>
                  </a:txBody>
                  <a:tcPr anchor="ctr"/>
                </a:tc>
                <a:tc>
                  <a:txBody>
                    <a:bodyPr/>
                    <a:lstStyle/>
                    <a:p>
                      <a:pPr algn="ctr"/>
                      <a:r>
                        <a:rPr lang="en-US" sz="2400">
                          <a:effectLst/>
                        </a:rPr>
                        <a:t>If you call the setDaemon() method after the thread has started, it will throw an exception.</a:t>
                      </a:r>
                    </a:p>
                  </a:txBody>
                  <a:tcPr anchor="ctr"/>
                </a:tc>
              </a:tr>
              <a:tr h="370840">
                <a:tc>
                  <a:txBody>
                    <a:bodyPr/>
                    <a:lstStyle/>
                    <a:p>
                      <a:pPr algn="ctr"/>
                      <a:r>
                        <a:rPr lang="en-US" sz="2400">
                          <a:effectLst/>
                        </a:rPr>
                        <a:t>2</a:t>
                      </a:r>
                    </a:p>
                  </a:txBody>
                  <a:tcPr anchor="ctr"/>
                </a:tc>
                <a:tc>
                  <a:txBody>
                    <a:bodyPr/>
                    <a:lstStyle/>
                    <a:p>
                      <a:pPr algn="ctr"/>
                      <a:r>
                        <a:rPr lang="en-US" sz="2400">
                          <a:effectLst/>
                        </a:rPr>
                        <a:t>SecurityException</a:t>
                      </a:r>
                    </a:p>
                  </a:txBody>
                  <a:tcPr anchor="ctr"/>
                </a:tc>
                <a:tc>
                  <a:txBody>
                    <a:bodyPr/>
                    <a:lstStyle/>
                    <a:p>
                      <a:pPr algn="ctr"/>
                      <a:r>
                        <a:rPr lang="en-US" sz="2400" dirty="0">
                          <a:effectLst/>
                        </a:rPr>
                        <a:t>If the current thread is unable to change this thread</a:t>
                      </a:r>
                    </a:p>
                  </a:txBody>
                  <a:tcPr anchor="ctr"/>
                </a:tc>
              </a:tr>
            </a:tbl>
          </a:graphicData>
        </a:graphic>
      </p:graphicFrame>
    </p:spTree>
    <p:extLst>
      <p:ext uri="{BB962C8B-B14F-4D97-AF65-F5344CB8AC3E}">
        <p14:creationId xmlns:p14="http://schemas.microsoft.com/office/powerpoint/2010/main" val="2975853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Daemon Thread </a:t>
            </a:r>
            <a:r>
              <a:rPr lang="en-US" b="1" dirty="0" err="1" smtClean="0"/>
              <a:t>vs</a:t>
            </a:r>
            <a:r>
              <a:rPr lang="en-US" b="1" dirty="0" smtClean="0"/>
              <a:t> User Thread</a:t>
            </a:r>
            <a:br>
              <a:rPr lang="en-US" b="1" dirty="0" smtClean="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11758964"/>
              </p:ext>
            </p:extLst>
          </p:nvPr>
        </p:nvGraphicFramePr>
        <p:xfrm>
          <a:off x="838200" y="1498079"/>
          <a:ext cx="10515600" cy="4389120"/>
        </p:xfrm>
        <a:graphic>
          <a:graphicData uri="http://schemas.openxmlformats.org/drawingml/2006/table">
            <a:tbl>
              <a:tblPr firstRow="1" bandRow="1">
                <a:tableStyleId>{5C22544A-7EE6-4342-B048-85BDC9FD1C3A}</a:tableStyleId>
              </a:tblPr>
              <a:tblGrid>
                <a:gridCol w="5257800"/>
                <a:gridCol w="5257800"/>
              </a:tblGrid>
              <a:tr h="370840">
                <a:tc>
                  <a:txBody>
                    <a:bodyPr/>
                    <a:lstStyle/>
                    <a:p>
                      <a:pPr algn="ctr"/>
                      <a:r>
                        <a:rPr lang="en-US" sz="2800" dirty="0">
                          <a:effectLst/>
                        </a:rPr>
                        <a:t>Daemon Threads</a:t>
                      </a:r>
                    </a:p>
                  </a:txBody>
                  <a:tcPr anchor="ctr"/>
                </a:tc>
                <a:tc>
                  <a:txBody>
                    <a:bodyPr/>
                    <a:lstStyle/>
                    <a:p>
                      <a:pPr algn="ctr"/>
                      <a:r>
                        <a:rPr lang="en-US" sz="2800">
                          <a:effectLst/>
                        </a:rPr>
                        <a:t>User Threads (Non-daemon)</a:t>
                      </a:r>
                    </a:p>
                  </a:txBody>
                  <a:tcPr anchor="ctr"/>
                </a:tc>
              </a:tr>
              <a:tr h="370840">
                <a:tc>
                  <a:txBody>
                    <a:bodyPr/>
                    <a:lstStyle/>
                    <a:p>
                      <a:pPr algn="ctr"/>
                      <a:r>
                        <a:rPr lang="en-US" sz="2800">
                          <a:effectLst/>
                        </a:rPr>
                        <a:t>Low Priority threads</a:t>
                      </a:r>
                    </a:p>
                  </a:txBody>
                  <a:tcPr anchor="ctr"/>
                </a:tc>
                <a:tc>
                  <a:txBody>
                    <a:bodyPr/>
                    <a:lstStyle/>
                    <a:p>
                      <a:pPr algn="ctr"/>
                      <a:r>
                        <a:rPr lang="en-US" sz="2800">
                          <a:effectLst/>
                        </a:rPr>
                        <a:t>High priority threads</a:t>
                      </a:r>
                    </a:p>
                  </a:txBody>
                  <a:tcPr anchor="ctr"/>
                </a:tc>
              </a:tr>
              <a:tr h="370840">
                <a:tc>
                  <a:txBody>
                    <a:bodyPr/>
                    <a:lstStyle/>
                    <a:p>
                      <a:pPr algn="ctr"/>
                      <a:r>
                        <a:rPr lang="en-US" sz="2800" dirty="0">
                          <a:effectLst/>
                        </a:rPr>
                        <a:t>The JVM does not wait for its execution to complete.</a:t>
                      </a:r>
                    </a:p>
                  </a:txBody>
                  <a:tcPr anchor="ctr"/>
                </a:tc>
                <a:tc>
                  <a:txBody>
                    <a:bodyPr/>
                    <a:lstStyle/>
                    <a:p>
                      <a:pPr algn="ctr"/>
                      <a:r>
                        <a:rPr lang="en-US" sz="2800" dirty="0">
                          <a:effectLst/>
                        </a:rPr>
                        <a:t>The JVM waits till the execution is finished.</a:t>
                      </a:r>
                    </a:p>
                  </a:txBody>
                  <a:tcPr anchor="ctr"/>
                </a:tc>
              </a:tr>
              <a:tr h="370840">
                <a:tc>
                  <a:txBody>
                    <a:bodyPr/>
                    <a:lstStyle/>
                    <a:p>
                      <a:pPr algn="ctr"/>
                      <a:r>
                        <a:rPr lang="en-US" sz="2800">
                          <a:effectLst/>
                        </a:rPr>
                        <a:t>Life is dependent on user threads</a:t>
                      </a:r>
                    </a:p>
                  </a:txBody>
                  <a:tcPr anchor="ctr"/>
                </a:tc>
                <a:tc>
                  <a:txBody>
                    <a:bodyPr/>
                    <a:lstStyle/>
                    <a:p>
                      <a:pPr algn="ctr"/>
                      <a:r>
                        <a:rPr lang="en-US" sz="2800" dirty="0">
                          <a:effectLst/>
                        </a:rPr>
                        <a:t>Life is independent</a:t>
                      </a:r>
                    </a:p>
                  </a:txBody>
                  <a:tcPr anchor="ctr"/>
                </a:tc>
              </a:tr>
              <a:tr h="370840">
                <a:tc>
                  <a:txBody>
                    <a:bodyPr/>
                    <a:lstStyle/>
                    <a:p>
                      <a:pPr algn="ctr"/>
                      <a:r>
                        <a:rPr lang="en-US" sz="2800">
                          <a:effectLst/>
                        </a:rPr>
                        <a:t>Daemon threads are created by JVM</a:t>
                      </a:r>
                    </a:p>
                  </a:txBody>
                  <a:tcPr anchor="ctr"/>
                </a:tc>
                <a:tc>
                  <a:txBody>
                    <a:bodyPr/>
                    <a:lstStyle/>
                    <a:p>
                      <a:pPr algn="ctr"/>
                      <a:r>
                        <a:rPr lang="en-US" sz="2800" dirty="0">
                          <a:effectLst/>
                        </a:rPr>
                        <a:t>An application creates its own user threads.</a:t>
                      </a:r>
                    </a:p>
                  </a:txBody>
                  <a:tcPr anchor="ctr"/>
                </a:tc>
              </a:tr>
              <a:tr h="370840">
                <a:tc>
                  <a:txBody>
                    <a:bodyPr/>
                    <a:lstStyle/>
                    <a:p>
                      <a:pPr algn="ctr"/>
                      <a:r>
                        <a:rPr lang="en-US" sz="2800">
                          <a:effectLst/>
                        </a:rPr>
                        <a:t>provides service to the user thread which runs in the background</a:t>
                      </a:r>
                    </a:p>
                  </a:txBody>
                  <a:tcPr anchor="ctr"/>
                </a:tc>
                <a:tc>
                  <a:txBody>
                    <a:bodyPr/>
                    <a:lstStyle/>
                    <a:p>
                      <a:pPr algn="ctr"/>
                      <a:r>
                        <a:rPr lang="en-US" sz="2800" dirty="0">
                          <a:effectLst/>
                        </a:rPr>
                        <a:t>Used for foreground tasks</a:t>
                      </a:r>
                    </a:p>
                  </a:txBody>
                  <a:tcPr anchor="ctr"/>
                </a:tc>
              </a:tr>
            </a:tbl>
          </a:graphicData>
        </a:graphic>
      </p:graphicFrame>
    </p:spTree>
    <p:extLst>
      <p:ext uri="{BB962C8B-B14F-4D97-AF65-F5344CB8AC3E}">
        <p14:creationId xmlns:p14="http://schemas.microsoft.com/office/powerpoint/2010/main" val="419264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ThreadGroup</a:t>
            </a:r>
            <a:r>
              <a:rPr lang="en-US" b="1" dirty="0" smtClean="0"/>
              <a:t> in Java</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A </a:t>
            </a:r>
            <a:r>
              <a:rPr lang="en-US" dirty="0" err="1" smtClean="0"/>
              <a:t>ThreadGroup</a:t>
            </a:r>
            <a:r>
              <a:rPr lang="en-US" dirty="0" smtClean="0"/>
              <a:t> represents a set of threads. A thread group can also include the other thread group. The thread group creates a tree in which every thread group except the initial thread group has a parent. </a:t>
            </a:r>
          </a:p>
          <a:p>
            <a:r>
              <a:rPr lang="en-US" dirty="0" smtClean="0"/>
              <a:t>A thread is allowed to access information about its own thread group, but it cannot access the information about its thread group's parent thread group or any other thread groups.</a:t>
            </a:r>
          </a:p>
          <a:p>
            <a:r>
              <a:rPr lang="en-US" dirty="0" err="1" smtClean="0"/>
              <a:t>ThreadGroup</a:t>
            </a:r>
            <a:r>
              <a:rPr lang="en-US" dirty="0" smtClean="0"/>
              <a:t> tg1 = new </a:t>
            </a:r>
            <a:r>
              <a:rPr lang="en-US" dirty="0" err="1" smtClean="0"/>
              <a:t>ThreadGroup</a:t>
            </a:r>
            <a:r>
              <a:rPr lang="en-US" dirty="0" smtClean="0"/>
              <a:t>("Group A");   </a:t>
            </a:r>
          </a:p>
          <a:p>
            <a:r>
              <a:rPr lang="en-US" dirty="0" smtClean="0"/>
              <a:t>Thread t1 = new Thread(tg1,new </a:t>
            </a:r>
            <a:r>
              <a:rPr lang="en-US" dirty="0" err="1" smtClean="0"/>
              <a:t>MyRunnable</a:t>
            </a:r>
            <a:r>
              <a:rPr lang="en-US" dirty="0" smtClean="0"/>
              <a:t>(),"one");     </a:t>
            </a:r>
          </a:p>
          <a:p>
            <a:r>
              <a:rPr lang="en-US" dirty="0" smtClean="0"/>
              <a:t>Thread t2 = new Thread(tg1,new </a:t>
            </a:r>
            <a:r>
              <a:rPr lang="en-US" dirty="0" err="1" smtClean="0"/>
              <a:t>MyRunnable</a:t>
            </a:r>
            <a:r>
              <a:rPr lang="en-US" dirty="0" smtClean="0"/>
              <a:t>(),"two");     </a:t>
            </a:r>
          </a:p>
          <a:p>
            <a:r>
              <a:rPr lang="en-US" dirty="0" smtClean="0"/>
              <a:t>Thread t3 = new Thread(tg1,new </a:t>
            </a:r>
            <a:r>
              <a:rPr lang="en-US" dirty="0" err="1" smtClean="0"/>
              <a:t>MyRunnable</a:t>
            </a:r>
            <a:r>
              <a:rPr lang="en-US" dirty="0" smtClean="0"/>
              <a:t>(),"three")</a:t>
            </a:r>
            <a:endParaRPr lang="en-US" dirty="0"/>
          </a:p>
        </p:txBody>
      </p:sp>
    </p:spTree>
    <p:extLst>
      <p:ext uri="{BB962C8B-B14F-4D97-AF65-F5344CB8AC3E}">
        <p14:creationId xmlns:p14="http://schemas.microsoft.com/office/powerpoint/2010/main" val="333144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Class Declaration</a:t>
            </a:r>
            <a:br>
              <a:rPr lang="en-US" b="1" dirty="0" smtClean="0"/>
            </a:br>
            <a:endParaRPr lang="en-US" dirty="0"/>
          </a:p>
        </p:txBody>
      </p:sp>
      <p:sp>
        <p:nvSpPr>
          <p:cNvPr id="3" name="Content Placeholder 2"/>
          <p:cNvSpPr>
            <a:spLocks noGrp="1"/>
          </p:cNvSpPr>
          <p:nvPr>
            <p:ph idx="1"/>
          </p:nvPr>
        </p:nvSpPr>
        <p:spPr>
          <a:xfrm>
            <a:off x="838200" y="1334306"/>
            <a:ext cx="10515600" cy="4351338"/>
          </a:xfrm>
        </p:spPr>
        <p:txBody>
          <a:bodyPr/>
          <a:lstStyle/>
          <a:p>
            <a:r>
              <a:rPr lang="en-US" dirty="0" smtClean="0"/>
              <a:t>Following is the declaration for </a:t>
            </a:r>
            <a:r>
              <a:rPr lang="en-US" b="1" dirty="0" err="1" smtClean="0"/>
              <a:t>java.lang.ThreadGroup</a:t>
            </a:r>
            <a:r>
              <a:rPr lang="en-US" dirty="0" smtClean="0"/>
              <a:t> class −</a:t>
            </a:r>
            <a:br>
              <a:rPr lang="en-US" dirty="0" smtClean="0"/>
            </a:br>
            <a:endParaRPr lang="en-US" dirty="0" smtClean="0"/>
          </a:p>
          <a:p>
            <a:r>
              <a:rPr lang="en-US" dirty="0" smtClean="0"/>
              <a:t>public class </a:t>
            </a:r>
            <a:r>
              <a:rPr lang="en-US" dirty="0" err="1" smtClean="0"/>
              <a:t>ThreadGroup</a:t>
            </a:r>
            <a:endParaRPr lang="en-US" dirty="0" smtClean="0"/>
          </a:p>
          <a:p>
            <a:r>
              <a:rPr lang="en-US" dirty="0" smtClean="0"/>
              <a:t>   extends Object</a:t>
            </a:r>
          </a:p>
          <a:p>
            <a:r>
              <a:rPr lang="en-US" dirty="0" smtClean="0"/>
              <a:t>      implements </a:t>
            </a:r>
            <a:r>
              <a:rPr lang="en-US" dirty="0" err="1" smtClean="0"/>
              <a:t>Thread.UncaughtExceptionHandler</a:t>
            </a:r>
            <a:r>
              <a:rPr lang="en-US" dirty="0" smtClean="0"/>
              <a:t>.</a:t>
            </a:r>
          </a:p>
          <a:p>
            <a:r>
              <a:rPr lang="en-US" b="1" dirty="0" smtClean="0"/>
              <a:t>Class constructors</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199794053"/>
              </p:ext>
            </p:extLst>
          </p:nvPr>
        </p:nvGraphicFramePr>
        <p:xfrm>
          <a:off x="1076656" y="4445504"/>
          <a:ext cx="9254699" cy="1798320"/>
        </p:xfrm>
        <a:graphic>
          <a:graphicData uri="http://schemas.openxmlformats.org/drawingml/2006/table">
            <a:tbl>
              <a:tblPr firstRow="1" bandRow="1">
                <a:tableStyleId>{5C22544A-7EE6-4342-B048-85BDC9FD1C3A}</a:tableStyleId>
              </a:tblPr>
              <a:tblGrid>
                <a:gridCol w="1120634"/>
                <a:gridCol w="8134065"/>
              </a:tblGrid>
              <a:tr h="370840">
                <a:tc>
                  <a:txBody>
                    <a:bodyPr/>
                    <a:lstStyle/>
                    <a:p>
                      <a:r>
                        <a:rPr lang="en-US" sz="2000" dirty="0" err="1">
                          <a:effectLst/>
                        </a:rPr>
                        <a:t>Sr.No</a:t>
                      </a:r>
                      <a:r>
                        <a:rPr lang="en-US" sz="2000" dirty="0">
                          <a:effectLst/>
                        </a:rPr>
                        <a:t>.</a:t>
                      </a:r>
                    </a:p>
                  </a:txBody>
                  <a:tcPr anchor="ctr"/>
                </a:tc>
                <a:tc>
                  <a:txBody>
                    <a:bodyPr/>
                    <a:lstStyle/>
                    <a:p>
                      <a:pPr algn="ctr"/>
                      <a:r>
                        <a:rPr lang="en-US" sz="2000">
                          <a:effectLst/>
                        </a:rPr>
                        <a:t>Constructor &amp; Description</a:t>
                      </a:r>
                    </a:p>
                  </a:txBody>
                  <a:tcPr anchor="ctr"/>
                </a:tc>
              </a:tr>
              <a:tr h="370840">
                <a:tc>
                  <a:txBody>
                    <a:bodyPr/>
                    <a:lstStyle/>
                    <a:p>
                      <a:r>
                        <a:rPr lang="en-US" sz="2000"/>
                        <a:t>1</a:t>
                      </a:r>
                    </a:p>
                  </a:txBody>
                  <a:tcPr anchor="ctr"/>
                </a:tc>
                <a:tc>
                  <a:txBody>
                    <a:bodyPr/>
                    <a:lstStyle/>
                    <a:p>
                      <a:r>
                        <a:rPr lang="en-US" sz="2000" b="1" dirty="0" err="1"/>
                        <a:t>ThreadGroup</a:t>
                      </a:r>
                      <a:r>
                        <a:rPr lang="en-US" sz="2000" b="1" dirty="0"/>
                        <a:t>(String name)</a:t>
                      </a:r>
                      <a:endParaRPr lang="en-US" sz="2000" dirty="0"/>
                    </a:p>
                    <a:p>
                      <a:r>
                        <a:rPr lang="en-US" sz="2000" dirty="0"/>
                        <a:t>This constructs a new thread group.</a:t>
                      </a:r>
                    </a:p>
                  </a:txBody>
                  <a:tcPr anchor="ctr"/>
                </a:tc>
              </a:tr>
              <a:tr h="370840">
                <a:tc>
                  <a:txBody>
                    <a:bodyPr/>
                    <a:lstStyle/>
                    <a:p>
                      <a:r>
                        <a:rPr lang="en-US" sz="2000"/>
                        <a:t>2</a:t>
                      </a:r>
                    </a:p>
                  </a:txBody>
                  <a:tcPr anchor="ctr"/>
                </a:tc>
                <a:tc>
                  <a:txBody>
                    <a:bodyPr/>
                    <a:lstStyle/>
                    <a:p>
                      <a:r>
                        <a:rPr lang="en-US" sz="2000" b="1" dirty="0" err="1"/>
                        <a:t>ThreadGroup</a:t>
                      </a:r>
                      <a:r>
                        <a:rPr lang="en-US" sz="2000" b="1" dirty="0"/>
                        <a:t>(</a:t>
                      </a:r>
                      <a:r>
                        <a:rPr lang="en-US" sz="2000" b="1" dirty="0" err="1"/>
                        <a:t>ThreadGroup</a:t>
                      </a:r>
                      <a:r>
                        <a:rPr lang="en-US" sz="2000" b="1" dirty="0"/>
                        <a:t> parent, String name)</a:t>
                      </a:r>
                      <a:endParaRPr lang="en-US" sz="2000" dirty="0"/>
                    </a:p>
                    <a:p>
                      <a:r>
                        <a:rPr lang="en-US" sz="2000" dirty="0"/>
                        <a:t>This creates a new thread group.</a:t>
                      </a:r>
                    </a:p>
                  </a:txBody>
                  <a:tcPr anchor="ctr"/>
                </a:tc>
              </a:tr>
            </a:tbl>
          </a:graphicData>
        </a:graphic>
      </p:graphicFrame>
    </p:spTree>
    <p:extLst>
      <p:ext uri="{BB962C8B-B14F-4D97-AF65-F5344CB8AC3E}">
        <p14:creationId xmlns:p14="http://schemas.microsoft.com/office/powerpoint/2010/main" val="4019168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rPr>
              <a:t>Method &amp; Description</a:t>
            </a:r>
            <a:br>
              <a:rPr lang="en-US" dirty="0" smtClean="0">
                <a:effectLst/>
              </a:rPr>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704684"/>
              </p:ext>
            </p:extLst>
          </p:nvPr>
        </p:nvGraphicFramePr>
        <p:xfrm>
          <a:off x="264994" y="1137929"/>
          <a:ext cx="11253717" cy="5120640"/>
        </p:xfrm>
        <a:graphic>
          <a:graphicData uri="http://schemas.openxmlformats.org/drawingml/2006/table">
            <a:tbl>
              <a:tblPr firstRow="1" bandRow="1">
                <a:tableStyleId>{5C22544A-7EE6-4342-B048-85BDC9FD1C3A}</a:tableStyleId>
              </a:tblPr>
              <a:tblGrid>
                <a:gridCol w="772236"/>
                <a:gridCol w="10481481"/>
              </a:tblGrid>
              <a:tr h="0">
                <a:tc>
                  <a:txBody>
                    <a:bodyPr/>
                    <a:lstStyle/>
                    <a:p>
                      <a:r>
                        <a:rPr lang="en-US" sz="2400" dirty="0" err="1">
                          <a:effectLst/>
                        </a:rPr>
                        <a:t>Sr.No</a:t>
                      </a:r>
                      <a:r>
                        <a:rPr lang="en-US" sz="2400" dirty="0">
                          <a:effectLst/>
                        </a:rPr>
                        <a:t>.</a:t>
                      </a:r>
                    </a:p>
                  </a:txBody>
                  <a:tcPr anchor="ctr"/>
                </a:tc>
                <a:tc>
                  <a:txBody>
                    <a:bodyPr/>
                    <a:lstStyle/>
                    <a:p>
                      <a:pPr algn="ctr"/>
                      <a:r>
                        <a:rPr lang="en-US" sz="2400" dirty="0">
                          <a:effectLst/>
                        </a:rPr>
                        <a:t>Method &amp; Description</a:t>
                      </a:r>
                    </a:p>
                  </a:txBody>
                  <a:tcPr anchor="ctr"/>
                </a:tc>
              </a:tr>
              <a:tr h="370840">
                <a:tc>
                  <a:txBody>
                    <a:bodyPr/>
                    <a:lstStyle/>
                    <a:p>
                      <a:r>
                        <a:rPr lang="en-US" sz="2400"/>
                        <a:t>1</a:t>
                      </a:r>
                    </a:p>
                  </a:txBody>
                  <a:tcPr anchor="ctr"/>
                </a:tc>
                <a:tc>
                  <a:txBody>
                    <a:bodyPr/>
                    <a:lstStyle/>
                    <a:p>
                      <a:r>
                        <a:rPr lang="en-US" sz="2400" dirty="0" err="1">
                          <a:hlinkClick r:id="rId2"/>
                        </a:rPr>
                        <a:t>int</a:t>
                      </a:r>
                      <a:r>
                        <a:rPr lang="en-US" sz="2400" dirty="0">
                          <a:hlinkClick r:id="rId2"/>
                        </a:rPr>
                        <a:t> </a:t>
                      </a:r>
                      <a:r>
                        <a:rPr lang="en-US" sz="2400" dirty="0" err="1">
                          <a:hlinkClick r:id="rId2"/>
                        </a:rPr>
                        <a:t>activeCount</a:t>
                      </a:r>
                      <a:r>
                        <a:rPr lang="en-US" sz="2400" dirty="0">
                          <a:hlinkClick r:id="rId2"/>
                        </a:rPr>
                        <a:t>()</a:t>
                      </a:r>
                      <a:r>
                        <a:rPr lang="en-US" sz="2400" dirty="0"/>
                        <a:t> This method returns an estimate of the number of active threads in this thread group.</a:t>
                      </a:r>
                    </a:p>
                  </a:txBody>
                  <a:tcPr anchor="ctr"/>
                </a:tc>
              </a:tr>
              <a:tr h="370840">
                <a:tc>
                  <a:txBody>
                    <a:bodyPr/>
                    <a:lstStyle/>
                    <a:p>
                      <a:r>
                        <a:rPr lang="en-US" sz="2400"/>
                        <a:t>2</a:t>
                      </a:r>
                    </a:p>
                  </a:txBody>
                  <a:tcPr anchor="ctr"/>
                </a:tc>
                <a:tc>
                  <a:txBody>
                    <a:bodyPr/>
                    <a:lstStyle/>
                    <a:p>
                      <a:r>
                        <a:rPr lang="en-US" sz="2400">
                          <a:hlinkClick r:id="rId3"/>
                        </a:rPr>
                        <a:t>int activeGroupCount()</a:t>
                      </a:r>
                      <a:r>
                        <a:rPr lang="en-US" sz="2400"/>
                        <a:t> This method returns an estimate of the number of active groups in this thread group.</a:t>
                      </a:r>
                    </a:p>
                  </a:txBody>
                  <a:tcPr anchor="ctr"/>
                </a:tc>
              </a:tr>
              <a:tr h="370840">
                <a:tc>
                  <a:txBody>
                    <a:bodyPr/>
                    <a:lstStyle/>
                    <a:p>
                      <a:r>
                        <a:rPr lang="en-US" sz="2400"/>
                        <a:t>3</a:t>
                      </a:r>
                    </a:p>
                  </a:txBody>
                  <a:tcPr anchor="ctr"/>
                </a:tc>
                <a:tc>
                  <a:txBody>
                    <a:bodyPr/>
                    <a:lstStyle/>
                    <a:p>
                      <a:r>
                        <a:rPr lang="en-US" sz="2400">
                          <a:hlinkClick r:id="rId4"/>
                        </a:rPr>
                        <a:t>void checkAccess()</a:t>
                      </a:r>
                      <a:r>
                        <a:rPr lang="en-US" sz="2400"/>
                        <a:t> This method determines if the currently running thread has permission to modify this thread group.</a:t>
                      </a:r>
                    </a:p>
                  </a:txBody>
                  <a:tcPr anchor="ctr"/>
                </a:tc>
              </a:tr>
              <a:tr h="370840">
                <a:tc>
                  <a:txBody>
                    <a:bodyPr/>
                    <a:lstStyle/>
                    <a:p>
                      <a:r>
                        <a:rPr lang="en-US" sz="2400"/>
                        <a:t>4</a:t>
                      </a:r>
                    </a:p>
                  </a:txBody>
                  <a:tcPr anchor="ctr"/>
                </a:tc>
                <a:tc>
                  <a:txBody>
                    <a:bodyPr/>
                    <a:lstStyle/>
                    <a:p>
                      <a:r>
                        <a:rPr lang="en-US" sz="2400" dirty="0">
                          <a:hlinkClick r:id="rId5"/>
                        </a:rPr>
                        <a:t>void destroy()</a:t>
                      </a:r>
                      <a:r>
                        <a:rPr lang="en-US" sz="2400" dirty="0"/>
                        <a:t> This method Destroys this thread group and all of its subgroups.</a:t>
                      </a:r>
                    </a:p>
                  </a:txBody>
                  <a:tcPr anchor="ctr"/>
                </a:tc>
              </a:tr>
              <a:tr h="370840">
                <a:tc>
                  <a:txBody>
                    <a:bodyPr/>
                    <a:lstStyle/>
                    <a:p>
                      <a:r>
                        <a:rPr lang="en-US" sz="2400" dirty="0" smtClean="0"/>
                        <a:t>5</a:t>
                      </a:r>
                      <a:endParaRPr lang="en-US" sz="2400" dirty="0"/>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hlinkClick r:id="rId6"/>
                        </a:rPr>
                        <a:t>String </a:t>
                      </a:r>
                      <a:r>
                        <a:rPr lang="en-US" sz="2400" dirty="0" err="1" smtClean="0">
                          <a:hlinkClick r:id="rId6"/>
                        </a:rPr>
                        <a:t>getName</a:t>
                      </a:r>
                      <a:r>
                        <a:rPr lang="en-US" sz="2400" dirty="0" smtClean="0">
                          <a:hlinkClick r:id="rId6"/>
                        </a:rPr>
                        <a:t>()</a:t>
                      </a:r>
                      <a:r>
                        <a:rPr lang="en-US" sz="2400" dirty="0" smtClean="0"/>
                        <a:t> This method returns the name of this thread group.</a:t>
                      </a:r>
                    </a:p>
                  </a:txBody>
                  <a:tcPr/>
                </a:tc>
              </a:tr>
              <a:tr h="370840">
                <a:tc>
                  <a:txBody>
                    <a:bodyPr/>
                    <a:lstStyle/>
                    <a:p>
                      <a:r>
                        <a:rPr lang="en-US" sz="2400" dirty="0" smtClean="0"/>
                        <a:t>6</a:t>
                      </a:r>
                      <a:endParaRPr lang="en-US" sz="2400" dirty="0"/>
                    </a:p>
                  </a:txBody>
                  <a:tcPr anchor="ctr"/>
                </a:tc>
                <a:tc>
                  <a:txBody>
                    <a:bodyPr/>
                    <a:lstStyle/>
                    <a:p>
                      <a:r>
                        <a:rPr lang="en-US" sz="2400" dirty="0" err="1">
                          <a:hlinkClick r:id="rId7"/>
                        </a:rPr>
                        <a:t>ThreadGroup</a:t>
                      </a:r>
                      <a:r>
                        <a:rPr lang="en-US" sz="2400" dirty="0">
                          <a:hlinkClick r:id="rId7"/>
                        </a:rPr>
                        <a:t> </a:t>
                      </a:r>
                      <a:r>
                        <a:rPr lang="en-US" sz="2400" dirty="0" err="1">
                          <a:hlinkClick r:id="rId7"/>
                        </a:rPr>
                        <a:t>getParent</a:t>
                      </a:r>
                      <a:r>
                        <a:rPr lang="en-US" sz="2400" dirty="0">
                          <a:hlinkClick r:id="rId7"/>
                        </a:rPr>
                        <a:t>()</a:t>
                      </a:r>
                      <a:r>
                        <a:rPr lang="en-US" sz="2400" dirty="0"/>
                        <a:t> This method returns the parent of this thread group.</a:t>
                      </a:r>
                    </a:p>
                  </a:txBody>
                  <a:tcPr anchor="ctr"/>
                </a:tc>
              </a:tr>
              <a:tr h="370840">
                <a:tc>
                  <a:txBody>
                    <a:bodyPr/>
                    <a:lstStyle/>
                    <a:p>
                      <a:r>
                        <a:rPr lang="en-US" sz="2400" dirty="0" smtClean="0"/>
                        <a:t>7</a:t>
                      </a:r>
                      <a:endParaRPr lang="en-US" sz="2400" dirty="0"/>
                    </a:p>
                  </a:txBody>
                  <a:tcPr anchor="ctr"/>
                </a:tc>
                <a:tc>
                  <a:txBody>
                    <a:bodyPr/>
                    <a:lstStyle/>
                    <a:p>
                      <a:r>
                        <a:rPr lang="en-US" sz="2400" dirty="0">
                          <a:hlinkClick r:id="rId8"/>
                        </a:rPr>
                        <a:t>void interrupt()</a:t>
                      </a:r>
                      <a:r>
                        <a:rPr lang="en-US" sz="2400" dirty="0"/>
                        <a:t> This method interrupts all threads in this thread group.</a:t>
                      </a:r>
                    </a:p>
                  </a:txBody>
                  <a:tcPr anchor="ctr"/>
                </a:tc>
              </a:tr>
            </a:tbl>
          </a:graphicData>
        </a:graphic>
      </p:graphicFrame>
    </p:spTree>
    <p:extLst>
      <p:ext uri="{BB962C8B-B14F-4D97-AF65-F5344CB8AC3E}">
        <p14:creationId xmlns:p14="http://schemas.microsoft.com/office/powerpoint/2010/main" val="509228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1840</TotalTime>
  <Words>936</Words>
  <Application>Microsoft Office PowerPoint</Application>
  <PresentationFormat>Widescreen</PresentationFormat>
  <Paragraphs>100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Thread-2</vt:lpstr>
      <vt:lpstr>Priority of a Thread</vt:lpstr>
      <vt:lpstr>Setter &amp; Getter Method of Thread Priority </vt:lpstr>
      <vt:lpstr>3 constants defined in Thread class:</vt:lpstr>
      <vt:lpstr>Daemon Thread in Java </vt:lpstr>
      <vt:lpstr>Points to remember for Daemon Thread in Java </vt:lpstr>
      <vt:lpstr>Why JVM terminates the daemon thread if there is no user thread? </vt:lpstr>
      <vt:lpstr>Methods for Java Daemon thread by Thread class </vt:lpstr>
      <vt:lpstr>Exceptions in a Daemon Thread in Java </vt:lpstr>
      <vt:lpstr>Daemon Thread vs User Thread </vt:lpstr>
      <vt:lpstr>ThreadGroup in Java </vt:lpstr>
      <vt:lpstr>Class Declaration </vt:lpstr>
      <vt:lpstr>Method &amp; Description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Thread-2</dc:title>
  <dc:creator>Windows User</dc:creator>
  <cp:lastModifiedBy>Windows User</cp:lastModifiedBy>
  <cp:revision>15</cp:revision>
  <dcterms:created xsi:type="dcterms:W3CDTF">2024-04-26T00:27:43Z</dcterms:created>
  <dcterms:modified xsi:type="dcterms:W3CDTF">2024-04-28T18:21:08Z</dcterms:modified>
</cp:coreProperties>
</file>
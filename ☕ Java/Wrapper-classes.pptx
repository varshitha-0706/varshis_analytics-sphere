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3570" autoAdjust="0"/>
  </p:normalViewPr>
  <p:slideViewPr>
    <p:cSldViewPr snapToGrid="0">
      <p:cViewPr varScale="1">
        <p:scale>
          <a:sx n="74" d="100"/>
          <a:sy n="74" d="100"/>
        </p:scale>
        <p:origin x="58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6FEE5-5B37-46EF-97A0-8AB13B833D58}" type="datetimeFigureOut">
              <a:rPr lang="en-US" smtClean="0"/>
              <a:pPr/>
              <a:t>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778CB-703F-42EF-AFC8-7B72D60DAE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00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55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42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19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47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59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71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61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77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40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92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51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02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30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66D3F-8A7F-445D-AD41-50CCC3A2595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94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D0B7-16D6-4D52-9C86-D1B3DD74BCE5}" type="datetime1">
              <a:rPr lang="en-US" smtClean="0"/>
              <a:pPr/>
              <a:t>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Lecture 11                                                                                                                                                                                                                                   © LPU :: CSE310 Programming in Java :: </a:t>
            </a:r>
            <a:r>
              <a:rPr lang="en-US" dirty="0" err="1" smtClean="0"/>
              <a:t>Sawal</a:t>
            </a:r>
            <a:r>
              <a:rPr lang="en-US" dirty="0" smtClean="0"/>
              <a:t> </a:t>
            </a:r>
            <a:r>
              <a:rPr lang="en-US" dirty="0" err="1" smtClean="0"/>
              <a:t>Tandon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D8FD-8D8E-40FA-BB39-D2DDC67304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8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2D0B6-C889-4B02-B8CB-9C8ADB615A4E}" type="datetime1">
              <a:rPr lang="en-US" smtClean="0"/>
              <a:pPr/>
              <a:t>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Lecture 11                                                                                                                                                                                                                                   © LPU :: CSE310 Programming in Java :: </a:t>
            </a:r>
            <a:r>
              <a:rPr lang="en-US" dirty="0" err="1" smtClean="0"/>
              <a:t>Sawal</a:t>
            </a:r>
            <a:r>
              <a:rPr lang="en-US" dirty="0" smtClean="0"/>
              <a:t> </a:t>
            </a:r>
            <a:r>
              <a:rPr lang="en-US" dirty="0" err="1" smtClean="0"/>
              <a:t>Tandon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D8FD-8D8E-40FA-BB39-D2DDC67304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1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59245-9646-49CC-AE37-0DEB1C95A913}" type="datetime1">
              <a:rPr lang="en-US" smtClean="0"/>
              <a:pPr/>
              <a:t>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Lecture 11                                                                                                                                                                                                                                   © LPU :: CSE310 Programming in Java :: </a:t>
            </a:r>
            <a:r>
              <a:rPr lang="en-US" dirty="0" err="1" smtClean="0"/>
              <a:t>Sawal</a:t>
            </a:r>
            <a:r>
              <a:rPr lang="en-US" dirty="0" smtClean="0"/>
              <a:t> </a:t>
            </a:r>
            <a:r>
              <a:rPr lang="en-US" dirty="0" err="1" smtClean="0"/>
              <a:t>Tandon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D8FD-8D8E-40FA-BB39-D2DDC67304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44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46A22-D00D-44C0-9177-8EA61315071C}" type="datetime1">
              <a:rPr lang="en-US" smtClean="0"/>
              <a:pPr/>
              <a:t>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Lecture 11                                                                                                                                                                                                                                   © LPU :: CSE310 Programming in Java :: </a:t>
            </a:r>
            <a:r>
              <a:rPr lang="en-US" dirty="0" err="1" smtClean="0"/>
              <a:t>Sawal</a:t>
            </a:r>
            <a:r>
              <a:rPr lang="en-US" dirty="0" smtClean="0"/>
              <a:t> </a:t>
            </a:r>
            <a:r>
              <a:rPr lang="en-US" dirty="0" err="1" smtClean="0"/>
              <a:t>Tandon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D8FD-8D8E-40FA-BB39-D2DDC67304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0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53A4E-6F08-4D50-AD3B-9C333D4A0064}" type="datetime1">
              <a:rPr lang="en-US" smtClean="0"/>
              <a:pPr/>
              <a:t>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Lecture 11                                                                                                                                                                                                                                   © LPU :: CSE310 Programming in Java :: </a:t>
            </a:r>
            <a:r>
              <a:rPr lang="en-US" dirty="0" err="1" smtClean="0"/>
              <a:t>Sawal</a:t>
            </a:r>
            <a:r>
              <a:rPr lang="en-US" dirty="0" smtClean="0"/>
              <a:t> </a:t>
            </a:r>
            <a:r>
              <a:rPr lang="en-US" dirty="0" err="1" smtClean="0"/>
              <a:t>Tandon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D8FD-8D8E-40FA-BB39-D2DDC67304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5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CC89-5C56-4FE6-894B-AC122698CF3C}" type="datetime1">
              <a:rPr lang="en-US" smtClean="0"/>
              <a:pPr/>
              <a:t>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Lecture 11                                                                                                                                                                                                                                   © LPU :: CSE310 Programming in Java :: </a:t>
            </a:r>
            <a:r>
              <a:rPr lang="en-US" dirty="0" err="1" smtClean="0"/>
              <a:t>Sawal</a:t>
            </a:r>
            <a:r>
              <a:rPr lang="en-US" dirty="0" smtClean="0"/>
              <a:t> </a:t>
            </a:r>
            <a:r>
              <a:rPr lang="en-US" dirty="0" err="1" smtClean="0"/>
              <a:t>Tandon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D8FD-8D8E-40FA-BB39-D2DDC67304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0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AE8F-A77F-4E00-84D2-FF0527F33587}" type="datetime1">
              <a:rPr lang="en-US" smtClean="0"/>
              <a:pPr/>
              <a:t>2/17/2024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Lecture 11                                                                                                                                                                                                                                   © LPU :: CSE310 Programming in Java :: </a:t>
            </a:r>
            <a:r>
              <a:rPr lang="en-US" dirty="0" err="1" smtClean="0"/>
              <a:t>Sawal</a:t>
            </a:r>
            <a:r>
              <a:rPr lang="en-US" dirty="0" smtClean="0"/>
              <a:t> </a:t>
            </a:r>
            <a:r>
              <a:rPr lang="en-US" dirty="0" err="1" smtClean="0"/>
              <a:t>Tandon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D8FD-8D8E-40FA-BB39-D2DDC67304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3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9585E-7DE5-4447-A656-DA4C684C8491}" type="datetime1">
              <a:rPr lang="en-US" smtClean="0"/>
              <a:pPr/>
              <a:t>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Lecture 11                                                                                                                                                                                                                                   © LPU :: CSE310 Programming in Java :: </a:t>
            </a:r>
            <a:r>
              <a:rPr lang="en-US" dirty="0" err="1" smtClean="0"/>
              <a:t>Sawal</a:t>
            </a:r>
            <a:r>
              <a:rPr lang="en-US" dirty="0" smtClean="0"/>
              <a:t> </a:t>
            </a:r>
            <a:r>
              <a:rPr lang="en-US" dirty="0" err="1" smtClean="0"/>
              <a:t>Tandon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D8FD-8D8E-40FA-BB39-D2DDC67304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71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75C28-0F1F-4AA4-BA0C-741A044359EB}" type="datetime1">
              <a:rPr lang="en-US" smtClean="0"/>
              <a:pPr/>
              <a:t>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Lecture 11                                                                                                                                                                                                                                   © LPU :: CSE310 Programming in Java :: </a:t>
            </a:r>
            <a:r>
              <a:rPr lang="en-US" dirty="0" err="1" smtClean="0"/>
              <a:t>Sawal</a:t>
            </a:r>
            <a:r>
              <a:rPr lang="en-US" dirty="0" smtClean="0"/>
              <a:t> </a:t>
            </a:r>
            <a:r>
              <a:rPr lang="en-US" dirty="0" err="1" smtClean="0"/>
              <a:t>Tandon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D8FD-8D8E-40FA-BB39-D2DDC67304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7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6B8F-FB49-4520-BA7A-4E529D4FB4B8}" type="datetime1">
              <a:rPr lang="en-US" smtClean="0"/>
              <a:pPr/>
              <a:t>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Lecture 11                                                                                                                                                                                                                                   © LPU :: CSE310 Programming in Java :: </a:t>
            </a:r>
            <a:r>
              <a:rPr lang="en-US" dirty="0" err="1" smtClean="0"/>
              <a:t>Sawal</a:t>
            </a:r>
            <a:r>
              <a:rPr lang="en-US" dirty="0" smtClean="0"/>
              <a:t> </a:t>
            </a:r>
            <a:r>
              <a:rPr lang="en-US" dirty="0" err="1" smtClean="0"/>
              <a:t>Tandon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D8FD-8D8E-40FA-BB39-D2DDC67304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9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59BC-6739-4E93-A8C2-60B50179B18A}" type="datetime1">
              <a:rPr lang="en-US" smtClean="0"/>
              <a:pPr/>
              <a:t>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Lecture 11                                                                                                                                                                                                                                   © LPU :: CSE310 Programming in Java :: </a:t>
            </a:r>
            <a:r>
              <a:rPr lang="en-US" dirty="0" err="1" smtClean="0"/>
              <a:t>Sawal</a:t>
            </a:r>
            <a:r>
              <a:rPr lang="en-US" dirty="0" smtClean="0"/>
              <a:t> </a:t>
            </a:r>
            <a:r>
              <a:rPr lang="en-US" dirty="0" err="1" smtClean="0"/>
              <a:t>Tandon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D8FD-8D8E-40FA-BB39-D2DDC67304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02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ABD3A-CF1A-4D4C-A3BB-AF118AD00BAA}" type="datetime1">
              <a:rPr lang="en-US" smtClean="0"/>
              <a:pPr/>
              <a:t>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Lecture 11                                                                                                                                                                                                                                   © LPU :: CSE310 Programming in Java :: </a:t>
            </a:r>
            <a:r>
              <a:rPr lang="en-US" dirty="0" err="1" smtClean="0"/>
              <a:t>Sawal</a:t>
            </a:r>
            <a:r>
              <a:rPr lang="en-US" dirty="0" smtClean="0"/>
              <a:t> </a:t>
            </a:r>
            <a:r>
              <a:rPr lang="en-US" dirty="0" err="1" smtClean="0"/>
              <a:t>Tandon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DD8FD-8D8E-40FA-BB39-D2DDC67304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3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jpeg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0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400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6503139"/>
            <a:ext cx="12192000" cy="3878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3324" y="1791900"/>
            <a:ext cx="1116198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Wrapper Classes</a:t>
            </a:r>
            <a:endParaRPr lang="en-US" sz="54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7250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0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Outcome of the Lecture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6503139"/>
            <a:ext cx="12192000" cy="3878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843539" y="1145844"/>
            <a:ext cx="1112178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Upon completion of this lecture you will be able </a:t>
            </a:r>
            <a:r>
              <a:rPr lang="en-US" altLang="en-US" sz="3200" dirty="0" smtClean="0">
                <a:solidFill>
                  <a:schemeClr val="accent5">
                    <a:lumMod val="75000"/>
                  </a:schemeClr>
                </a:solidFill>
              </a:rPr>
              <a:t>to</a:t>
            </a:r>
          </a:p>
          <a:p>
            <a:pPr algn="l">
              <a:spcBef>
                <a:spcPct val="0"/>
              </a:spcBef>
            </a:pPr>
            <a:r>
              <a:rPr lang="en-US" altLang="en-US" sz="3200" dirty="0" smtClean="0">
                <a:solidFill>
                  <a:schemeClr val="accent5">
                    <a:lumMod val="75000"/>
                  </a:schemeClr>
                </a:solidFill>
              </a:rPr>
              <a:t>  </a:t>
            </a:r>
            <a:endParaRPr lang="en-US" altLang="en-US" sz="3200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457200" algn="l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en-US" sz="3200" dirty="0" smtClean="0">
                <a:solidFill>
                  <a:schemeClr val="accent5">
                    <a:lumMod val="75000"/>
                  </a:schemeClr>
                </a:solidFill>
              </a:rPr>
              <a:t>Find the Utility of Wrapper Classes</a:t>
            </a:r>
          </a:p>
          <a:p>
            <a:pPr marL="457200" indent="-457200" algn="l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en-US" sz="32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457200" algn="l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en-US" sz="3200" dirty="0" smtClean="0">
                <a:solidFill>
                  <a:schemeClr val="accent5">
                    <a:lumMod val="75000"/>
                  </a:schemeClr>
                </a:solidFill>
              </a:rPr>
              <a:t>Use Wrapper Classes </a:t>
            </a:r>
          </a:p>
          <a:p>
            <a:pPr marL="457200" indent="-457200" algn="l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en-US" sz="3200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457200" algn="l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en-US" sz="3200" dirty="0" smtClean="0">
                <a:solidFill>
                  <a:schemeClr val="accent5">
                    <a:lumMod val="75000"/>
                  </a:schemeClr>
                </a:solidFill>
              </a:rPr>
              <a:t>Understand the concept of </a:t>
            </a:r>
            <a:r>
              <a:rPr lang="en-US" altLang="en-US" sz="3200" dirty="0" err="1" smtClean="0">
                <a:solidFill>
                  <a:schemeClr val="accent5">
                    <a:lumMod val="75000"/>
                  </a:schemeClr>
                </a:solidFill>
              </a:rPr>
              <a:t>AutoBoxing</a:t>
            </a:r>
            <a:r>
              <a:rPr lang="en-US" altLang="en-US" sz="3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smtClean="0">
                <a:solidFill>
                  <a:schemeClr val="accent5">
                    <a:lumMod val="75000"/>
                  </a:schemeClr>
                </a:solidFill>
              </a:rPr>
              <a:t>and Unboxing</a:t>
            </a:r>
          </a:p>
          <a:p>
            <a:pPr marL="457200" indent="-457200" algn="l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en-US" sz="32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457200" algn="l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en-US" sz="32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l">
              <a:spcBef>
                <a:spcPct val="0"/>
              </a:spcBef>
            </a:pPr>
            <a:endParaRPr lang="en-US" altLang="en-US" sz="3200" dirty="0">
              <a:solidFill>
                <a:schemeClr val="accent5">
                  <a:lumMod val="75000"/>
                </a:schemeClr>
              </a:solidFill>
            </a:endParaRPr>
          </a:p>
          <a:p>
            <a:pPr algn="l">
              <a:spcBef>
                <a:spcPct val="0"/>
              </a:spcBef>
            </a:pPr>
            <a:endParaRPr lang="en-US" altLang="en-US" sz="3200" dirty="0">
              <a:solidFill>
                <a:schemeClr val="accent5">
                  <a:lumMod val="75000"/>
                </a:schemeClr>
              </a:solidFill>
            </a:endParaRPr>
          </a:p>
          <a:p>
            <a:pPr algn="l">
              <a:spcBef>
                <a:spcPct val="0"/>
              </a:spcBef>
            </a:pPr>
            <a:endParaRPr lang="en-US" altLang="en-US" sz="28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l">
              <a:spcBef>
                <a:spcPct val="0"/>
              </a:spcBef>
            </a:pPr>
            <a:endParaRPr lang="en-US" altLang="en-US" sz="28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l">
              <a:spcBef>
                <a:spcPct val="0"/>
              </a:spcBef>
            </a:pPr>
            <a:endParaRPr lang="en-US" altLang="en-US" sz="28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l">
              <a:spcBef>
                <a:spcPct val="0"/>
              </a:spcBef>
            </a:pPr>
            <a:endParaRPr lang="en-US" altLang="en-US" sz="28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774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0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Outline of the Presentation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6503139"/>
            <a:ext cx="12192000" cy="3878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3594" y="967846"/>
            <a:ext cx="108226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</a:rPr>
              <a:t>Wrapper Classes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Inheritance Hierarchy of Wrapper Classes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</a:rPr>
              <a:t>Double and Float Classes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</a:rPr>
              <a:t>Integer Classes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</a:rPr>
              <a:t>Character Classes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</a:rPr>
              <a:t>Boolean Classes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dirty="0" err="1" smtClean="0">
                <a:solidFill>
                  <a:schemeClr val="accent5">
                    <a:lumMod val="75000"/>
                  </a:schemeClr>
                </a:solidFill>
              </a:rPr>
              <a:t>AutoBoxing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</a:rPr>
              <a:t>and Unboxing</a:t>
            </a:r>
          </a:p>
        </p:txBody>
      </p:sp>
    </p:spTree>
    <p:extLst>
      <p:ext uri="{BB962C8B-B14F-4D97-AF65-F5344CB8AC3E}">
        <p14:creationId xmlns:p14="http://schemas.microsoft.com/office/powerpoint/2010/main" val="301726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31532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Wrapper Classes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762" y="790159"/>
            <a:ext cx="1185753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Primitive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data types are not used as objects 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in Java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However, many Java methods require the use of objects as 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arguments. For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example, </a:t>
            </a:r>
            <a:r>
              <a:rPr lang="en-US" sz="2800" dirty="0">
                <a:solidFill>
                  <a:srgbClr val="C00000"/>
                </a:solidFill>
              </a:rPr>
              <a:t>the add(object) method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in the </a:t>
            </a:r>
            <a:r>
              <a:rPr lang="en-US" sz="2800" dirty="0" err="1" smtClean="0">
                <a:solidFill>
                  <a:srgbClr val="C00000"/>
                </a:solidFill>
              </a:rPr>
              <a:t>ArrayList</a:t>
            </a:r>
            <a:endParaRPr lang="en-US" sz="2800" dirty="0" smtClean="0">
              <a:solidFill>
                <a:srgbClr val="C0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Java offers a convenient way to 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incorporate, or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wrap, a primitive data type into an 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object. Corresponding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class is called a </a:t>
            </a:r>
            <a:r>
              <a:rPr lang="en-US" sz="2800" u="sng" dirty="0">
                <a:solidFill>
                  <a:srgbClr val="C00000"/>
                </a:solidFill>
              </a:rPr>
              <a:t>W</a:t>
            </a:r>
            <a:r>
              <a:rPr lang="en-US" sz="2800" u="sng" dirty="0" smtClean="0">
                <a:solidFill>
                  <a:srgbClr val="C00000"/>
                </a:solidFill>
              </a:rPr>
              <a:t>rapper Class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For example, 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wrapping </a:t>
            </a:r>
            <a:r>
              <a:rPr lang="en-US" sz="2800" u="sng" dirty="0" err="1">
                <a:solidFill>
                  <a:srgbClr val="C00000"/>
                </a:solidFill>
              </a:rPr>
              <a:t>int</a:t>
            </a:r>
            <a:r>
              <a:rPr lang="en-US" sz="2800" u="sng" dirty="0">
                <a:solidFill>
                  <a:schemeClr val="accent5">
                    <a:lumMod val="75000"/>
                  </a:schemeClr>
                </a:solidFill>
              </a:rPr>
              <a:t> into the </a:t>
            </a:r>
            <a:r>
              <a:rPr lang="en-US" sz="2800" u="sng" dirty="0">
                <a:solidFill>
                  <a:srgbClr val="C00000"/>
                </a:solidFill>
              </a:rPr>
              <a:t>Integer</a:t>
            </a:r>
            <a:r>
              <a:rPr lang="en-US" sz="2800" u="sng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class, and wrapping </a:t>
            </a:r>
            <a:r>
              <a:rPr lang="en-US" sz="2800" u="sng" dirty="0">
                <a:solidFill>
                  <a:srgbClr val="C00000"/>
                </a:solidFill>
              </a:rPr>
              <a:t>double</a:t>
            </a:r>
            <a:r>
              <a:rPr lang="en-US" sz="2800" u="sng" dirty="0">
                <a:solidFill>
                  <a:schemeClr val="accent5">
                    <a:lumMod val="75000"/>
                  </a:schemeClr>
                </a:solidFill>
              </a:rPr>
              <a:t> into the </a:t>
            </a:r>
            <a:r>
              <a:rPr lang="en-US" sz="2800" u="sng" dirty="0">
                <a:solidFill>
                  <a:srgbClr val="C00000"/>
                </a:solidFill>
              </a:rPr>
              <a:t>Double</a:t>
            </a:r>
            <a:r>
              <a:rPr lang="en-US" sz="2800" u="sng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class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Most wrapper class names for a primitive type are the same as the primitive data type name 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with the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first letter capitalized. The exceptions are Integer and Character.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Java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provides Boolean, Character, Double, Float, Byte, Short, Integer, and 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Long wrapper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classes for primitive data 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types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These classes are grouped in the </a:t>
            </a:r>
            <a:r>
              <a:rPr lang="en-US" sz="2800" u="sng" dirty="0" err="1">
                <a:solidFill>
                  <a:srgbClr val="C00000"/>
                </a:solidFill>
              </a:rPr>
              <a:t>java.lang</a:t>
            </a:r>
            <a:r>
              <a:rPr lang="en-US" sz="2800" u="sng" dirty="0">
                <a:solidFill>
                  <a:srgbClr val="C00000"/>
                </a:solidFill>
              </a:rPr>
              <a:t> package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134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31532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Inheritance Hierarchy of Wrapper Classes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6503139"/>
            <a:ext cx="12192000" cy="3878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8" y="993347"/>
            <a:ext cx="12000780" cy="441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3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4"/>
          <p:cNvGraphicFramePr>
            <a:graphicFrameLocks noChangeAspect="1"/>
          </p:cNvGraphicFramePr>
          <p:nvPr>
            <p:extLst/>
          </p:nvPr>
        </p:nvGraphicFramePr>
        <p:xfrm>
          <a:off x="10668001" y="30960"/>
          <a:ext cx="12573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89" r:id="rId4" imgW="13937020" imgH="5409524" progId="">
                  <p:embed/>
                </p:oleObj>
              </mc:Choice>
              <mc:Fallback>
                <p:oleObj r:id="rId4" imgW="13937020" imgH="5409524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1" y="30960"/>
                        <a:ext cx="1257300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/>
        </p:nvSpPr>
        <p:spPr>
          <a:xfrm>
            <a:off x="31532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Double and Float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6503139"/>
            <a:ext cx="12192000" cy="3878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91178" y="646935"/>
            <a:ext cx="36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sng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Double and Float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84382" y="1511031"/>
            <a:ext cx="5814392" cy="646331"/>
          </a:xfrm>
          <a:prstGeom prst="rect">
            <a:avLst/>
          </a:prstGeom>
          <a:ln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Double(double </a:t>
            </a:r>
            <a:r>
              <a:rPr kumimoji="0" lang="en-IN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num</a:t>
            </a: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Double(String </a:t>
            </a:r>
            <a:r>
              <a:rPr kumimoji="0" lang="en-IN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str</a:t>
            </a: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) throws </a:t>
            </a:r>
            <a:r>
              <a:rPr kumimoji="0" lang="en-IN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NumberFormatException</a:t>
            </a:r>
            <a:endParaRPr kumimoji="0" lang="en-IN" b="0" i="0" u="none" strike="noStrike" kern="0" cap="none" spc="0" normalizeH="0" baseline="0" noProof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39250" y="4005177"/>
            <a:ext cx="6912768" cy="2031325"/>
          </a:xfrm>
          <a:prstGeom prst="rect">
            <a:avLst/>
          </a:prstGeom>
          <a:ln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MAX_VALUE                     Maximum positive value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MIN_VALUE                      Minimum positive value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NaN</a:t>
            </a: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                                    Not a number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POSITIVE_INFINITY          Positive infinity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NEGATIVE_INFINITY         Negative infinity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TYPE                                    The </a:t>
            </a:r>
            <a:r>
              <a:rPr kumimoji="0" lang="en-IN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Class </a:t>
            </a: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object for </a:t>
            </a:r>
            <a:r>
              <a:rPr kumimoji="0" lang="en-IN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float </a:t>
            </a: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or </a:t>
            </a:r>
            <a:r>
              <a:rPr kumimoji="0" lang="en-IN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double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SIZE		         Number of bits used to represent double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11258" y="2315893"/>
            <a:ext cx="6336704" cy="923330"/>
          </a:xfrm>
          <a:prstGeom prst="rect">
            <a:avLst/>
          </a:prstGeom>
          <a:ln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Float(double </a:t>
            </a:r>
            <a:r>
              <a:rPr kumimoji="0" lang="en-IN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num</a:t>
            </a: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Float(float </a:t>
            </a:r>
            <a:r>
              <a:rPr kumimoji="0" lang="en-IN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num</a:t>
            </a: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Float(String </a:t>
            </a:r>
            <a:r>
              <a:rPr kumimoji="0" lang="en-IN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str</a:t>
            </a: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) throws </a:t>
            </a:r>
            <a:r>
              <a:rPr kumimoji="0" lang="en-IN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NumberFormatException</a:t>
            </a:r>
            <a:r>
              <a:rPr kumimoji="0" lang="en-IN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9210" y="1078983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sng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Constructors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9210" y="3527255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sng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rPr>
              <a:t>Constants ( static  )</a:t>
            </a:r>
          </a:p>
        </p:txBody>
      </p:sp>
    </p:spTree>
    <p:extLst>
      <p:ext uri="{BB962C8B-B14F-4D97-AF65-F5344CB8AC3E}">
        <p14:creationId xmlns:p14="http://schemas.microsoft.com/office/powerpoint/2010/main" val="1543936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31532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Double and Float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6503139"/>
            <a:ext cx="12192000" cy="3878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5794" y="720869"/>
            <a:ext cx="63367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 smtClean="0"/>
              <a:t>Methods in </a:t>
            </a:r>
            <a:r>
              <a:rPr lang="en-IN" sz="2400" b="1" u="sng" dirty="0" err="1" smtClean="0"/>
              <a:t>java.lang.Double</a:t>
            </a:r>
            <a:endParaRPr lang="en-IN" sz="2400" b="1" u="sng" dirty="0"/>
          </a:p>
        </p:txBody>
      </p:sp>
      <p:sp>
        <p:nvSpPr>
          <p:cNvPr id="16" name="Rectangle 15"/>
          <p:cNvSpPr/>
          <p:nvPr/>
        </p:nvSpPr>
        <p:spPr>
          <a:xfrm>
            <a:off x="1791407" y="1314090"/>
            <a:ext cx="7344816" cy="42473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b="1" dirty="0" err="1" smtClean="0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 compare(double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d1, double d2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b="1" dirty="0" err="1" smtClean="0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compareTo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(Double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anotherDouble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b="1" dirty="0" err="1" smtClean="0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equals(Object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obj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) </a:t>
            </a:r>
            <a:endParaRPr lang="en-IN" sz="20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b="1" dirty="0" err="1" smtClean="0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isInfinite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() </a:t>
            </a:r>
            <a:endParaRPr lang="en-IN" sz="20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b="1" dirty="0" err="1" smtClean="0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isNaN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() </a:t>
            </a:r>
            <a:endParaRPr lang="en-IN" sz="20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double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parseDouble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(String s) </a:t>
            </a:r>
            <a:endParaRPr lang="en-IN" sz="20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String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toString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() </a:t>
            </a:r>
            <a:endParaRPr lang="en-IN" sz="20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Double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valueOf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(String 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s)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String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toHexString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(double d)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2898" y="5824519"/>
            <a:ext cx="8828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 smtClean="0">
                <a:solidFill>
                  <a:srgbClr val="C00000"/>
                </a:solidFill>
              </a:rPr>
              <a:t>Similar methods in </a:t>
            </a:r>
            <a:r>
              <a:rPr lang="en-IN" sz="2400" b="1" u="sng" dirty="0" err="1" smtClean="0">
                <a:solidFill>
                  <a:srgbClr val="C00000"/>
                </a:solidFill>
              </a:rPr>
              <a:t>java.lang.Float</a:t>
            </a:r>
            <a:r>
              <a:rPr lang="en-IN" sz="2400" b="1" u="sng" dirty="0" smtClean="0">
                <a:solidFill>
                  <a:srgbClr val="C00000"/>
                </a:solidFill>
              </a:rPr>
              <a:t> but with float or Float argument </a:t>
            </a:r>
            <a:endParaRPr lang="en-IN" sz="2400" b="1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46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31532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Integer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6503139"/>
            <a:ext cx="12192000" cy="3878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19510" y="840310"/>
            <a:ext cx="36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 smtClean="0"/>
              <a:t>Integer</a:t>
            </a:r>
            <a:endParaRPr lang="en-IN" sz="2400" b="1" u="sng" dirty="0"/>
          </a:p>
        </p:txBody>
      </p:sp>
      <p:sp>
        <p:nvSpPr>
          <p:cNvPr id="18" name="Rectangle 17"/>
          <p:cNvSpPr/>
          <p:nvPr/>
        </p:nvSpPr>
        <p:spPr>
          <a:xfrm>
            <a:off x="1812714" y="1994179"/>
            <a:ext cx="5814392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Integer(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value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Integer(String s)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67582" y="4198552"/>
            <a:ext cx="6912768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MAX_VALUE                    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Maximum positive value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MIN_VALUE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                     Minimum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positive value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TYPE                                   The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Class object for float or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double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SIZE		         Number of bits used to represent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 type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07542" y="1479090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u="sng" dirty="0" smtClean="0">
                <a:solidFill>
                  <a:schemeClr val="accent5">
                    <a:lumMod val="75000"/>
                  </a:schemeClr>
                </a:solidFill>
              </a:rPr>
              <a:t>Constructors</a:t>
            </a:r>
            <a:endParaRPr lang="en-IN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07542" y="3576614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u="sng" dirty="0" smtClean="0">
                <a:solidFill>
                  <a:schemeClr val="accent5">
                    <a:lumMod val="75000"/>
                  </a:schemeClr>
                </a:solidFill>
              </a:rPr>
              <a:t>Constants (static)</a:t>
            </a:r>
            <a:endParaRPr lang="en-IN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0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31532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Integer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6503139"/>
            <a:ext cx="12192000" cy="3878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494429" y="647052"/>
            <a:ext cx="63367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 smtClean="0"/>
              <a:t>Methods in </a:t>
            </a:r>
            <a:r>
              <a:rPr lang="en-IN" sz="2400" b="1" u="sng" dirty="0" err="1" smtClean="0"/>
              <a:t>java.lang.Integer</a:t>
            </a:r>
            <a:endParaRPr lang="en-IN" sz="2400" b="1" u="sng" dirty="0"/>
          </a:p>
        </p:txBody>
      </p:sp>
      <p:sp>
        <p:nvSpPr>
          <p:cNvPr id="16" name="Rectangle 15"/>
          <p:cNvSpPr/>
          <p:nvPr/>
        </p:nvSpPr>
        <p:spPr>
          <a:xfrm>
            <a:off x="990373" y="1497547"/>
            <a:ext cx="8928992" cy="47089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 err="1" smtClean="0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compareTo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(Integer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anotherInteger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) </a:t>
            </a:r>
            <a:endParaRPr lang="en-IN" sz="20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double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doubleValue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() 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// similarly  </a:t>
            </a:r>
            <a:r>
              <a:rPr lang="en-IN" sz="2000" dirty="0" err="1" smtClean="0">
                <a:solidFill>
                  <a:schemeClr val="accent5">
                    <a:lumMod val="75000"/>
                  </a:schemeClr>
                </a:solidFill>
              </a:rPr>
              <a:t>intValue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(), </a:t>
            </a:r>
            <a:r>
              <a:rPr lang="en-IN" sz="2000" dirty="0" err="1" smtClean="0">
                <a:solidFill>
                  <a:schemeClr val="accent5">
                    <a:lumMod val="75000"/>
                  </a:schemeClr>
                </a:solidFill>
              </a:rPr>
              <a:t>byteValue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(), </a:t>
            </a:r>
            <a:r>
              <a:rPr lang="en-IN" sz="2000" dirty="0" err="1" smtClean="0">
                <a:solidFill>
                  <a:schemeClr val="accent5">
                    <a:lumMod val="75000"/>
                  </a:schemeClr>
                </a:solidFill>
              </a:rPr>
              <a:t>floatValue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(), </a:t>
            </a:r>
            <a:r>
              <a:rPr lang="en-IN" sz="2000" dirty="0" err="1" smtClean="0">
                <a:solidFill>
                  <a:schemeClr val="accent5">
                    <a:lumMod val="75000"/>
                  </a:schemeClr>
                </a:solidFill>
              </a:rPr>
              <a:t>shortValue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IN" sz="2000" b="1" dirty="0" err="1" smtClean="0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 equals(Object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obj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) </a:t>
            </a:r>
            <a:endParaRPr lang="en-IN" sz="20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b="1" dirty="0" err="1" smtClean="0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parseInt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(String s) </a:t>
            </a:r>
            <a:endParaRPr lang="en-IN" sz="20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b="1" dirty="0" err="1" smtClean="0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parseInt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(String s,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 radix) </a:t>
            </a:r>
            <a:endParaRPr lang="en-IN" sz="20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String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toBinaryString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 i) 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// </a:t>
            </a:r>
            <a:r>
              <a:rPr lang="en-IN" sz="2000" dirty="0" err="1" smtClean="0">
                <a:solidFill>
                  <a:schemeClr val="accent5">
                    <a:lumMod val="75000"/>
                  </a:schemeClr>
                </a:solidFill>
              </a:rPr>
              <a:t>toHexString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(), </a:t>
            </a:r>
            <a:r>
              <a:rPr lang="en-IN" sz="2000" dirty="0" err="1" smtClean="0">
                <a:solidFill>
                  <a:schemeClr val="accent5">
                    <a:lumMod val="75000"/>
                  </a:schemeClr>
                </a:solidFill>
              </a:rPr>
              <a:t>toOctalString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String </a:t>
            </a:r>
            <a:r>
              <a:rPr lang="en-IN" sz="2000" b="1" dirty="0" err="1" smtClean="0">
                <a:solidFill>
                  <a:schemeClr val="accent5">
                    <a:lumMod val="75000"/>
                  </a:schemeClr>
                </a:solidFill>
              </a:rPr>
              <a:t>toString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() 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static String </a:t>
            </a:r>
            <a:r>
              <a:rPr lang="en-IN" sz="2000" b="1" dirty="0" err="1" smtClean="0">
                <a:solidFill>
                  <a:schemeClr val="accent5">
                    <a:lumMod val="75000"/>
                  </a:schemeClr>
                </a:solidFill>
              </a:rPr>
              <a:t>toString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IN" sz="2000" b="1" dirty="0" err="1" smtClean="0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 i) 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static Integer </a:t>
            </a:r>
            <a:r>
              <a:rPr lang="en-IN" sz="2000" b="1" dirty="0" err="1" smtClean="0">
                <a:solidFill>
                  <a:schemeClr val="accent5">
                    <a:lumMod val="75000"/>
                  </a:schemeClr>
                </a:solidFill>
              </a:rPr>
              <a:t>valueOf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(String s) 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Integer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valueOf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(String s,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 radix) </a:t>
            </a:r>
            <a:endParaRPr lang="en-IN" sz="2000" b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58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31532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Character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6503139"/>
            <a:ext cx="12192000" cy="3878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4503" y="903023"/>
            <a:ext cx="36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 smtClean="0"/>
              <a:t>Character </a:t>
            </a:r>
            <a:endParaRPr lang="en-IN" sz="2400" b="1" u="sng" dirty="0"/>
          </a:p>
        </p:txBody>
      </p:sp>
      <p:sp>
        <p:nvSpPr>
          <p:cNvPr id="17" name="Rectangle 16"/>
          <p:cNvSpPr/>
          <p:nvPr/>
        </p:nvSpPr>
        <p:spPr>
          <a:xfrm>
            <a:off x="1437707" y="2056892"/>
            <a:ext cx="5814392" cy="46487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Character(char </a:t>
            </a:r>
            <a:r>
              <a:rPr lang="en-IN" i="1" dirty="0" err="1">
                <a:solidFill>
                  <a:schemeClr val="accent5">
                    <a:lumMod val="75000"/>
                  </a:schemeClr>
                </a:solidFill>
              </a:rPr>
              <a:t>ch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92575" y="3567319"/>
            <a:ext cx="6912768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MAX_VALUE            The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largest character value</a:t>
            </a:r>
          </a:p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MIN_VALUE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            The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smallest character value</a:t>
            </a:r>
          </a:p>
          <a:p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TYPE                          The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Class object for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char</a:t>
            </a:r>
          </a:p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SIZE                            The number of bits used to represent a char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535" y="1557569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u="sng" dirty="0" smtClean="0">
                <a:solidFill>
                  <a:schemeClr val="accent5">
                    <a:lumMod val="75000"/>
                  </a:schemeClr>
                </a:solidFill>
              </a:rPr>
              <a:t>Constructors</a:t>
            </a:r>
            <a:endParaRPr lang="en-IN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32535" y="2919247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u="sng" dirty="0" smtClean="0">
                <a:solidFill>
                  <a:schemeClr val="accent5">
                    <a:lumMod val="75000"/>
                  </a:schemeClr>
                </a:solidFill>
              </a:rPr>
              <a:t>Constants (static)</a:t>
            </a:r>
            <a:endParaRPr lang="en-IN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64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31532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Character 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6503139"/>
            <a:ext cx="12192000" cy="3878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116056" y="773232"/>
            <a:ext cx="63367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 smtClean="0"/>
              <a:t>Methods in </a:t>
            </a:r>
            <a:r>
              <a:rPr lang="en-IN" sz="2400" b="1" u="sng" dirty="0" err="1" smtClean="0"/>
              <a:t>java.lang.Character</a:t>
            </a:r>
            <a:endParaRPr lang="en-IN" sz="2400" b="1" u="sng" dirty="0"/>
          </a:p>
        </p:txBody>
      </p:sp>
      <p:sp>
        <p:nvSpPr>
          <p:cNvPr id="16" name="Rectangle 15"/>
          <p:cNvSpPr/>
          <p:nvPr/>
        </p:nvSpPr>
        <p:spPr>
          <a:xfrm>
            <a:off x="612000" y="1536859"/>
            <a:ext cx="8928992" cy="47089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dirty="0" err="1" smtClean="0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dirty="0" err="1" smtClean="0">
                <a:solidFill>
                  <a:schemeClr val="accent5">
                    <a:lumMod val="75000"/>
                  </a:schemeClr>
                </a:solidFill>
              </a:rPr>
              <a:t>isDefined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(char </a:t>
            </a:r>
            <a:r>
              <a:rPr lang="en-IN" sz="2000" dirty="0" err="1" smtClean="0">
                <a:solidFill>
                  <a:schemeClr val="accent5">
                    <a:lumMod val="75000"/>
                  </a:schemeClr>
                </a:solidFill>
              </a:rPr>
              <a:t>ch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isDigit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(char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ch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isLetter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(char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ch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isLetterOrDigit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(char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ch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isLowerCase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(char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ch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isSpaceChar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(char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ch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isUpperCase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(char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ch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isWhitespace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(char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ch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static char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toLowerCase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(char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ch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static char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toUpperCase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(char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ch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  <a:endParaRPr lang="en-IN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36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31532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Boolean 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6503139"/>
            <a:ext cx="12192000" cy="3878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12973" y="767422"/>
            <a:ext cx="36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 smtClean="0"/>
              <a:t>Boolean</a:t>
            </a:r>
            <a:endParaRPr lang="en-IN" sz="2400" b="1" u="sng" dirty="0"/>
          </a:p>
        </p:txBody>
      </p:sp>
      <p:sp>
        <p:nvSpPr>
          <p:cNvPr id="17" name="Rectangle 16"/>
          <p:cNvSpPr/>
          <p:nvPr/>
        </p:nvSpPr>
        <p:spPr>
          <a:xfrm>
            <a:off x="1406177" y="1703526"/>
            <a:ext cx="5814392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Boolean(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i="1" dirty="0" err="1">
                <a:solidFill>
                  <a:schemeClr val="accent5">
                    <a:lumMod val="75000"/>
                  </a:schemeClr>
                </a:solidFill>
              </a:rPr>
              <a:t>boolValue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Boolean(String </a:t>
            </a:r>
            <a:r>
              <a:rPr lang="en-IN" i="1" dirty="0" err="1">
                <a:solidFill>
                  <a:schemeClr val="accent5">
                    <a:lumMod val="75000"/>
                  </a:schemeClr>
                </a:solidFill>
              </a:rPr>
              <a:t>boolString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005" y="1271478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u="sng" dirty="0" smtClean="0">
                <a:solidFill>
                  <a:schemeClr val="accent5">
                    <a:lumMod val="75000"/>
                  </a:schemeClr>
                </a:solidFill>
              </a:rPr>
              <a:t>Constructors</a:t>
            </a:r>
            <a:endParaRPr lang="en-IN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01005" y="2393989"/>
            <a:ext cx="6336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u="sng" dirty="0" smtClean="0">
                <a:solidFill>
                  <a:schemeClr val="accent5">
                    <a:lumMod val="75000"/>
                  </a:schemeClr>
                </a:solidFill>
              </a:rPr>
              <a:t>Methods in </a:t>
            </a:r>
            <a:r>
              <a:rPr lang="en-IN" b="1" u="sng" dirty="0" err="1" smtClean="0">
                <a:solidFill>
                  <a:schemeClr val="accent5">
                    <a:lumMod val="75000"/>
                  </a:schemeClr>
                </a:solidFill>
              </a:rPr>
              <a:t>java.lang.Boolean</a:t>
            </a:r>
            <a:endParaRPr lang="en-IN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61045" y="2927662"/>
            <a:ext cx="7344816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compareTo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(Boolean b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equals(Object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boolObj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parseBoolean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(String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str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String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toString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 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static String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toString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boolean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boolVal</a:t>
            </a:r>
            <a:r>
              <a:rPr lang="en-IN" sz="2000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smtClean="0">
                <a:solidFill>
                  <a:schemeClr val="accent5">
                    <a:lumMod val="75000"/>
                  </a:schemeClr>
                </a:solidFill>
              </a:rPr>
              <a:t>static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Boolean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valueOf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(String </a:t>
            </a: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boolString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)</a:t>
            </a:r>
            <a:endParaRPr lang="en-IN" sz="20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36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31532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Boxing and Unboxing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6503139"/>
            <a:ext cx="12192000" cy="3878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83628" y="859368"/>
            <a:ext cx="1080264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Java allows primitive types and wrapper classes to be converted </a:t>
            </a:r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automatically</a:t>
            </a:r>
            <a:endParaRPr lang="en-US" dirty="0" smtClean="0">
              <a:latin typeface="Times-Roman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Converting a primitive value to a wrapper object is called </a:t>
            </a:r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auto </a:t>
            </a:r>
            <a:r>
              <a:rPr lang="en-US" sz="3200" u="sng" dirty="0" smtClean="0">
                <a:solidFill>
                  <a:srgbClr val="C00000"/>
                </a:solidFill>
              </a:rPr>
              <a:t>Boxing</a:t>
            </a:r>
            <a:endParaRPr lang="en-US" sz="3200" u="sng" dirty="0" smtClean="0">
              <a:solidFill>
                <a:srgbClr val="C0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The reverse conversion is called </a:t>
            </a:r>
            <a:r>
              <a:rPr lang="en-US" sz="3200" u="sng" dirty="0" smtClean="0">
                <a:solidFill>
                  <a:srgbClr val="C00000"/>
                </a:solidFill>
              </a:rPr>
              <a:t>Unboxing</a:t>
            </a:r>
            <a:endParaRPr lang="en-US" sz="3200" u="sng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5" y="3661353"/>
            <a:ext cx="10443207" cy="141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49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31532" y="-4088"/>
            <a:ext cx="8948383" cy="55671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Boxing and Unboxing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566271"/>
            <a:ext cx="12192000" cy="23042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6503139"/>
            <a:ext cx="12192000" cy="3878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68" y="5909918"/>
            <a:ext cx="886607" cy="5932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4445" y="1017043"/>
            <a:ext cx="1003737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class </a:t>
            </a:r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AutoBox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{</a:t>
            </a:r>
          </a:p>
          <a:p>
            <a:pPr marL="284163"/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public static void main(String </a:t>
            </a:r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args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[]) {</a:t>
            </a:r>
          </a:p>
          <a:p>
            <a:pPr marL="520700" indent="-15875"/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Integer </a:t>
            </a:r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iOb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= 100; </a:t>
            </a:r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   </a:t>
            </a:r>
            <a:r>
              <a:rPr lang="en-US" sz="3200" dirty="0" smtClean="0">
                <a:solidFill>
                  <a:srgbClr val="C00000"/>
                </a:solidFill>
              </a:rPr>
              <a:t>// </a:t>
            </a:r>
            <a:r>
              <a:rPr lang="en-US" sz="3200" dirty="0" err="1">
                <a:solidFill>
                  <a:srgbClr val="C00000"/>
                </a:solidFill>
              </a:rPr>
              <a:t>autobox</a:t>
            </a:r>
            <a:r>
              <a:rPr lang="en-US" sz="3200" dirty="0">
                <a:solidFill>
                  <a:srgbClr val="C00000"/>
                </a:solidFill>
              </a:rPr>
              <a:t> an </a:t>
            </a:r>
            <a:r>
              <a:rPr lang="en-US" sz="3200" dirty="0" err="1">
                <a:solidFill>
                  <a:srgbClr val="C00000"/>
                </a:solidFill>
              </a:rPr>
              <a:t>int</a:t>
            </a:r>
            <a:endParaRPr lang="en-US" sz="3200" dirty="0">
              <a:solidFill>
                <a:srgbClr val="C00000"/>
              </a:solidFill>
            </a:endParaRPr>
          </a:p>
          <a:p>
            <a:pPr marL="520700" indent="-15875"/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i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= </a:t>
            </a:r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iOb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; </a:t>
            </a:r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                 </a:t>
            </a:r>
            <a:r>
              <a:rPr lang="en-US" sz="3200" dirty="0" smtClean="0">
                <a:solidFill>
                  <a:srgbClr val="C00000"/>
                </a:solidFill>
              </a:rPr>
              <a:t>// </a:t>
            </a:r>
            <a:r>
              <a:rPr lang="en-US" sz="3200" dirty="0">
                <a:solidFill>
                  <a:srgbClr val="C00000"/>
                </a:solidFill>
              </a:rPr>
              <a:t>auto-unbox</a:t>
            </a:r>
          </a:p>
          <a:p>
            <a:pPr marL="520700" indent="-15875"/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System.out.println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i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+ " " + </a:t>
            </a:r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iOb</a:t>
            </a:r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);</a:t>
            </a:r>
          </a:p>
          <a:p>
            <a:pPr marL="284163" indent="-15875"/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}</a:t>
            </a:r>
            <a:endParaRPr lang="en-US" sz="3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}</a:t>
            </a:r>
          </a:p>
          <a:p>
            <a:endParaRPr lang="en-US" sz="3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3200" u="sng" dirty="0" smtClean="0">
                <a:solidFill>
                  <a:schemeClr val="accent5">
                    <a:lumMod val="75000"/>
                  </a:schemeClr>
                </a:solidFill>
              </a:rPr>
              <a:t>displays</a:t>
            </a:r>
            <a:r>
              <a:rPr lang="en-US" sz="3200" u="sng" dirty="0" smtClean="0">
                <a:solidFill>
                  <a:srgbClr val="C00000"/>
                </a:solidFill>
              </a:rPr>
              <a:t> </a:t>
            </a:r>
            <a:r>
              <a:rPr lang="en-US" sz="3200" u="sng" dirty="0">
                <a:solidFill>
                  <a:srgbClr val="C00000"/>
                </a:solidFill>
              </a:rPr>
              <a:t>100 100</a:t>
            </a:r>
          </a:p>
          <a:p>
            <a:endParaRPr lang="en-US" sz="32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54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632</Words>
  <Application>Microsoft Office PowerPoint</Application>
  <PresentationFormat>Widescreen</PresentationFormat>
  <Paragraphs>143</Paragraphs>
  <Slides>14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Times-Roman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Pepsi</dc:creator>
  <cp:lastModifiedBy>Windows User</cp:lastModifiedBy>
  <cp:revision>836</cp:revision>
  <dcterms:created xsi:type="dcterms:W3CDTF">2014-12-13T17:58:35Z</dcterms:created>
  <dcterms:modified xsi:type="dcterms:W3CDTF">2024-02-17T10:56:07Z</dcterms:modified>
</cp:coreProperties>
</file>
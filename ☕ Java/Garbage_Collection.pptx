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73" r:id="rId8"/>
    <p:sldId id="274" r:id="rId9"/>
    <p:sldId id="275" r:id="rId10"/>
    <p:sldId id="276" r:id="rId11"/>
    <p:sldId id="262" r:id="rId12"/>
    <p:sldId id="268" r:id="rId13"/>
    <p:sldId id="263" r:id="rId14"/>
    <p:sldId id="269" r:id="rId15"/>
    <p:sldId id="270" r:id="rId16"/>
    <p:sldId id="264" r:id="rId17"/>
    <p:sldId id="265" r:id="rId18"/>
    <p:sldId id="266" r:id="rId19"/>
    <p:sldId id="267" r:id="rId20"/>
    <p:sldId id="271" r:id="rId21"/>
    <p:sldId id="272"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7" autoAdjust="0"/>
    <p:restoredTop sz="94660"/>
  </p:normalViewPr>
  <p:slideViewPr>
    <p:cSldViewPr>
      <p:cViewPr varScale="1">
        <p:scale>
          <a:sx n="70" d="100"/>
          <a:sy n="70" d="100"/>
        </p:scale>
        <p:origin x="13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1D8BD707-D9CF-40AE-B4C6-C98DA3205C09}" type="datetimeFigureOut">
              <a:rPr lang="en-US" smtClean="0"/>
              <a:pPr/>
              <a:t>3/2/2024</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1D8BD707-D9CF-40AE-B4C6-C98DA3205C09}" type="datetimeFigureOut">
              <a:rPr lang="en-US" smtClean="0"/>
              <a:pPr/>
              <a:t>3/2/2024</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1D8BD707-D9CF-40AE-B4C6-C98DA3205C09}" type="datetimeFigureOut">
              <a:rPr lang="en-US" smtClean="0"/>
              <a:pPr/>
              <a:t>3/2/2024</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D8BD707-D9CF-40AE-B4C6-C98DA3205C09}" type="datetimeFigureOut">
              <a:rPr lang="en-US" smtClean="0"/>
              <a:pPr/>
              <a:t>3/2/2024</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daemon-thread-jav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jvm-works-jvm-architectur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java-lang-runtime-class-in-jav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object-class-in-java/"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Garbage Collection in Java</a:t>
            </a:r>
            <a:br>
              <a:rPr lang="en-US" b="1" dirty="0" smtClean="0"/>
            </a:br>
            <a:endParaRPr lang="en-US" dirty="0"/>
          </a:p>
        </p:txBody>
      </p:sp>
      <p:sp>
        <p:nvSpPr>
          <p:cNvPr id="3" name="Subtitle 2"/>
          <p:cNvSpPr>
            <a:spLocks noGrp="1"/>
          </p:cNvSpPr>
          <p:nvPr>
            <p:ph type="subTitle" idx="1"/>
          </p:nvPr>
        </p:nvSpPr>
        <p:spPr/>
        <p:txBody>
          <a:bodyPr/>
          <a:lstStyle/>
          <a:p>
            <a:r>
              <a:rPr lang="en-US" dirty="0" err="1" smtClean="0"/>
              <a:t>System.gc</a:t>
            </a:r>
            <a:r>
              <a:rPr lang="en-US" dirty="0" smtClean="0"/>
              <a: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Garbage collection</a:t>
            </a:r>
            <a:endParaRPr lang="en-US" dirty="0"/>
          </a:p>
        </p:txBody>
      </p:sp>
      <p:sp>
        <p:nvSpPr>
          <p:cNvPr id="3" name="Content Placeholder 2"/>
          <p:cNvSpPr>
            <a:spLocks noGrp="1"/>
          </p:cNvSpPr>
          <p:nvPr>
            <p:ph idx="1"/>
          </p:nvPr>
        </p:nvSpPr>
        <p:spPr/>
        <p:txBody>
          <a:bodyPr>
            <a:normAutofit/>
          </a:bodyPr>
          <a:lstStyle/>
          <a:p>
            <a:r>
              <a:rPr lang="en-US" dirty="0"/>
              <a:t>I</a:t>
            </a:r>
            <a:r>
              <a:rPr lang="en-US" dirty="0" smtClean="0"/>
              <a:t>n Java it is the process by which Java programs perform automatic memory management.</a:t>
            </a:r>
          </a:p>
          <a:p>
            <a:r>
              <a:rPr lang="en-US" dirty="0" smtClean="0"/>
              <a:t>When Java programs run on the JVM, objects are created on the heap, which is a portion of memory dedicated to the program.</a:t>
            </a:r>
          </a:p>
          <a:p>
            <a:r>
              <a:rPr lang="en-US" dirty="0" smtClean="0"/>
              <a:t> Eventually, some objects will no longer be needed.</a:t>
            </a:r>
          </a:p>
          <a:p>
            <a:r>
              <a:rPr lang="en-US" dirty="0" smtClean="0"/>
              <a:t> The garbage collector finds these unused objects and deletes them to free up memory.</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Garbage Collection?</a:t>
            </a:r>
            <a:br>
              <a:rPr lang="en-US" b="1" dirty="0" smtClean="0"/>
            </a:br>
            <a:endParaRPr lang="en-US" dirty="0"/>
          </a:p>
        </p:txBody>
      </p:sp>
      <p:sp>
        <p:nvSpPr>
          <p:cNvPr id="3" name="Content Placeholder 2"/>
          <p:cNvSpPr>
            <a:spLocks noGrp="1"/>
          </p:cNvSpPr>
          <p:nvPr>
            <p:ph idx="1"/>
          </p:nvPr>
        </p:nvSpPr>
        <p:spPr/>
        <p:txBody>
          <a:bodyPr/>
          <a:lstStyle/>
          <a:p>
            <a:r>
              <a:rPr lang="en-US" dirty="0" smtClean="0"/>
              <a:t>In C/C++, a programmer is responsible for both the creation and destruction of objects. Usually, programmer neglects the destruction of useless objects. Due to this negligence, at a certain point, sufficient memory may not be available to create new objects, and the entire program will terminate abnormally, causing </a:t>
            </a:r>
            <a:r>
              <a:rPr lang="en-US" b="1" dirty="0" err="1" smtClean="0"/>
              <a:t>OutOfMemoryErrors</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But in Java, the programmer need not care for all those objects which are no longer in use. </a:t>
            </a:r>
          </a:p>
          <a:p>
            <a:r>
              <a:rPr lang="en-US" dirty="0" smtClean="0"/>
              <a:t>Garbage collector destroys these objects. The main objective of Garbage Collector is to free heap memory by destroying </a:t>
            </a:r>
            <a:r>
              <a:rPr lang="en-US" b="1" dirty="0" smtClean="0"/>
              <a:t>unreachable objects</a:t>
            </a:r>
            <a:r>
              <a:rPr lang="en-US" dirty="0" smtClean="0"/>
              <a:t>. </a:t>
            </a:r>
          </a:p>
          <a:p>
            <a:r>
              <a:rPr lang="en-US" dirty="0" smtClean="0"/>
              <a:t>The garbage collector is the best example of the </a:t>
            </a:r>
            <a:r>
              <a:rPr lang="en-US" u="sng" dirty="0" smtClean="0">
                <a:hlinkClick r:id="rId2"/>
              </a:rPr>
              <a:t>Daemon thread</a:t>
            </a:r>
            <a:r>
              <a:rPr lang="en-US" dirty="0" smtClean="0"/>
              <a:t> as it is always running in the background.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Does Garbage Collection in Java works?</a:t>
            </a:r>
            <a:br>
              <a:rPr lang="en-US" b="1" dirty="0" smtClean="0"/>
            </a:br>
            <a:endParaRPr lang="en-US" dirty="0"/>
          </a:p>
        </p:txBody>
      </p:sp>
      <p:sp>
        <p:nvSpPr>
          <p:cNvPr id="3" name="Content Placeholder 2"/>
          <p:cNvSpPr>
            <a:spLocks noGrp="1"/>
          </p:cNvSpPr>
          <p:nvPr>
            <p:ph idx="1"/>
          </p:nvPr>
        </p:nvSpPr>
        <p:spPr/>
        <p:txBody>
          <a:bodyPr/>
          <a:lstStyle/>
          <a:p>
            <a:r>
              <a:rPr lang="en-US" dirty="0" smtClean="0"/>
              <a:t>Java garbage collection is an automatic process.</a:t>
            </a:r>
          </a:p>
          <a:p>
            <a:r>
              <a:rPr lang="en-US" dirty="0" smtClean="0"/>
              <a:t>of looking at heap memory, identifying which objects are in use and which are not, and deleting the unused objects. </a:t>
            </a:r>
          </a:p>
          <a:p>
            <a:r>
              <a:rPr lang="en-US" dirty="0" smtClean="0"/>
              <a:t>The garbage collection implementation lives in the JVM.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Activities in Java Garbage Collection</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Two types of garbage collection activity usually happen in Java. These are:</a:t>
            </a:r>
          </a:p>
          <a:p>
            <a:r>
              <a:rPr lang="en-US" b="1" dirty="0" smtClean="0"/>
              <a:t>Minor or incremental Garbage Collection:</a:t>
            </a:r>
          </a:p>
          <a:p>
            <a:r>
              <a:rPr lang="en-US" dirty="0" smtClean="0"/>
              <a:t>have occurred when unreachable objects in the young generation heap memory are removed.</a:t>
            </a:r>
          </a:p>
          <a:p>
            <a:r>
              <a:rPr lang="en-US" b="1" dirty="0" smtClean="0"/>
              <a:t>Major or Full Garbage Collection:</a:t>
            </a:r>
            <a:r>
              <a:rPr lang="en-US" dirty="0" smtClean="0"/>
              <a:t> </a:t>
            </a:r>
          </a:p>
          <a:p>
            <a:r>
              <a:rPr lang="en-US" dirty="0" smtClean="0"/>
              <a:t>when the objects that survived the minor garbage collection are copied into the old generation or permanent generation heap memory are removed.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57200" y="457200"/>
            <a:ext cx="8458200" cy="5292725"/>
          </a:xfrm>
          <a:prstGeom prst="rect">
            <a:avLst/>
          </a:prstGeom>
        </p:spPr>
      </p:pic>
    </p:spTree>
    <p:extLst>
      <p:ext uri="{BB962C8B-B14F-4D97-AF65-F5344CB8AC3E}">
        <p14:creationId xmlns:p14="http://schemas.microsoft.com/office/powerpoint/2010/main" val="3662815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77672" y="685800"/>
            <a:ext cx="8209128" cy="4572000"/>
          </a:xfrm>
          <a:prstGeom prst="rect">
            <a:avLst/>
          </a:prstGeom>
        </p:spPr>
      </p:pic>
      <p:sp>
        <p:nvSpPr>
          <p:cNvPr id="5" name="Rectangle 4"/>
          <p:cNvSpPr/>
          <p:nvPr/>
        </p:nvSpPr>
        <p:spPr>
          <a:xfrm>
            <a:off x="1143000" y="5257800"/>
            <a:ext cx="7080416" cy="923330"/>
          </a:xfrm>
          <a:prstGeom prst="rect">
            <a:avLst/>
          </a:prstGeom>
        </p:spPr>
        <p:txBody>
          <a:bodyPr wrap="square">
            <a:spAutoFit/>
          </a:bodyPr>
          <a:lstStyle/>
          <a:p>
            <a:r>
              <a:rPr lang="en-US" dirty="0"/>
              <a:t>To summarize, it suffices to understand that </a:t>
            </a:r>
            <a:r>
              <a:rPr lang="en-US" b="1" dirty="0"/>
              <a:t>new objects begin in the </a:t>
            </a:r>
            <a:r>
              <a:rPr lang="en-US" b="1" dirty="0" err="1"/>
              <a:t>eden</a:t>
            </a:r>
            <a:r>
              <a:rPr lang="en-US" b="1" dirty="0"/>
              <a:t> space</a:t>
            </a:r>
            <a:r>
              <a:rPr lang="en-US" dirty="0"/>
              <a:t> and </a:t>
            </a:r>
            <a:r>
              <a:rPr lang="en-US" b="1" dirty="0"/>
              <a:t>gradually transition to survivor spaces</a:t>
            </a:r>
            <a:r>
              <a:rPr lang="en-US" dirty="0"/>
              <a:t> as they survive multiple garbage collection cycles. </a:t>
            </a:r>
          </a:p>
        </p:txBody>
      </p:sp>
    </p:spTree>
    <p:extLst>
      <p:ext uri="{BB962C8B-B14F-4D97-AF65-F5344CB8AC3E}">
        <p14:creationId xmlns:p14="http://schemas.microsoft.com/office/powerpoint/2010/main" val="3151720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old generation</a:t>
            </a:r>
          </a:p>
        </p:txBody>
      </p:sp>
      <p:sp>
        <p:nvSpPr>
          <p:cNvPr id="3" name="Content Placeholder 2"/>
          <p:cNvSpPr>
            <a:spLocks noGrp="1"/>
          </p:cNvSpPr>
          <p:nvPr>
            <p:ph idx="1"/>
          </p:nvPr>
        </p:nvSpPr>
        <p:spPr/>
        <p:txBody>
          <a:bodyPr>
            <a:normAutofit fontScale="92500"/>
          </a:bodyPr>
          <a:lstStyle/>
          <a:p>
            <a:r>
              <a:rPr lang="en-US" dirty="0"/>
              <a:t>The old generation can be perceived as </a:t>
            </a:r>
            <a:r>
              <a:rPr lang="en-US" b="1" dirty="0"/>
              <a:t>the repository for long-lived objects</a:t>
            </a:r>
            <a:r>
              <a:rPr lang="en-US" dirty="0" smtClean="0"/>
              <a:t>.</a:t>
            </a:r>
          </a:p>
          <a:p>
            <a:r>
              <a:rPr lang="en-US" dirty="0"/>
              <a:t>When objects are garbage collected from the old generation, it triggers a major garbage collection event</a:t>
            </a:r>
            <a:r>
              <a:rPr lang="en-US" dirty="0" smtClean="0"/>
              <a:t>.</a:t>
            </a:r>
          </a:p>
          <a:p>
            <a:r>
              <a:rPr lang="en-US" dirty="0"/>
              <a:t>In the given example, any objects that have survived a certain number of </a:t>
            </a:r>
            <a:r>
              <a:rPr lang="en-US" dirty="0" smtClean="0"/>
              <a:t>cycles in </a:t>
            </a:r>
            <a:r>
              <a:rPr lang="en-US" dirty="0"/>
              <a:t>the survivor space are moved by the algorithm to the old generation.</a:t>
            </a:r>
          </a:p>
          <a:p>
            <a:r>
              <a:rPr lang="en-US" dirty="0"/>
              <a:t>The old generation is represented by a single section known as the </a:t>
            </a:r>
            <a:r>
              <a:rPr lang="en-US" b="1" dirty="0"/>
              <a:t>tenured generation</a:t>
            </a:r>
            <a:r>
              <a:rPr lang="en-US" dirty="0"/>
              <a:t>.</a:t>
            </a:r>
          </a:p>
          <a:p>
            <a:endParaRPr lang="en-US" dirty="0"/>
          </a:p>
        </p:txBody>
      </p:sp>
    </p:spTree>
    <p:extLst>
      <p:ext uri="{BB962C8B-B14F-4D97-AF65-F5344CB8AC3E}">
        <p14:creationId xmlns:p14="http://schemas.microsoft.com/office/powerpoint/2010/main" val="1650963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Permanent Generation</a:t>
            </a:r>
            <a:br>
              <a:rPr lang="en-US" b="1" dirty="0"/>
            </a:br>
            <a:endParaRPr lang="en-US" dirty="0"/>
          </a:p>
        </p:txBody>
      </p:sp>
      <p:sp>
        <p:nvSpPr>
          <p:cNvPr id="3" name="Content Placeholder 2"/>
          <p:cNvSpPr>
            <a:spLocks noGrp="1"/>
          </p:cNvSpPr>
          <p:nvPr>
            <p:ph idx="1"/>
          </p:nvPr>
        </p:nvSpPr>
        <p:spPr>
          <a:xfrm>
            <a:off x="457200" y="2057400"/>
            <a:ext cx="8229600" cy="4517136"/>
          </a:xfrm>
        </p:spPr>
        <p:txBody>
          <a:bodyPr>
            <a:normAutofit/>
          </a:bodyPr>
          <a:lstStyle/>
          <a:p>
            <a:r>
              <a:rPr lang="en-US" dirty="0" smtClean="0"/>
              <a:t>The </a:t>
            </a:r>
            <a:r>
              <a:rPr lang="en-US" dirty="0"/>
              <a:t>permanent generation is not populated by objects from the old </a:t>
            </a:r>
            <a:r>
              <a:rPr lang="en-US" dirty="0" smtClean="0"/>
              <a:t>generation.</a:t>
            </a:r>
          </a:p>
          <a:p>
            <a:r>
              <a:rPr lang="en-US" dirty="0"/>
              <a:t>Instead, the permanent generation is initially populated by the JVM with metadata that represents the classes and methods of the application at runtime</a:t>
            </a:r>
            <a:r>
              <a:rPr lang="en-US" dirty="0" smtClean="0"/>
              <a:t>.</a:t>
            </a:r>
          </a:p>
          <a:p>
            <a:r>
              <a:rPr lang="en-US" dirty="0"/>
              <a:t>Occasionally, the JVM may adhere to specific rules for cleaning out the permanent generation, and when this occurs, it is referred to as a full garbage collection.</a:t>
            </a:r>
          </a:p>
        </p:txBody>
      </p:sp>
    </p:spTree>
    <p:extLst>
      <p:ext uri="{BB962C8B-B14F-4D97-AF65-F5344CB8AC3E}">
        <p14:creationId xmlns:p14="http://schemas.microsoft.com/office/powerpoint/2010/main" val="969027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Important Concepts Related to Garbage Collection in Java</a:t>
            </a:r>
            <a:br>
              <a:rPr lang="en-US" b="1" dirty="0" smtClean="0"/>
            </a:br>
            <a:endParaRPr lang="en-US" dirty="0"/>
          </a:p>
        </p:txBody>
      </p:sp>
      <p:sp>
        <p:nvSpPr>
          <p:cNvPr id="3" name="Content Placeholder 2"/>
          <p:cNvSpPr>
            <a:spLocks noGrp="1"/>
          </p:cNvSpPr>
          <p:nvPr>
            <p:ph idx="1"/>
          </p:nvPr>
        </p:nvSpPr>
        <p:spPr/>
        <p:txBody>
          <a:bodyPr/>
          <a:lstStyle/>
          <a:p>
            <a:pPr fontAlgn="base"/>
            <a:r>
              <a:rPr lang="en-US" b="1" dirty="0" smtClean="0"/>
              <a:t>Unreachable objects: </a:t>
            </a:r>
            <a:r>
              <a:rPr lang="en-US" dirty="0" smtClean="0"/>
              <a:t>An object is said to be unreachable if it doesn’t contain any reference to it. </a:t>
            </a:r>
          </a:p>
          <a:p>
            <a:r>
              <a:rPr lang="en-US" dirty="0" smtClean="0"/>
              <a:t>Integer </a:t>
            </a:r>
            <a:r>
              <a:rPr lang="en-US" dirty="0" err="1" smtClean="0"/>
              <a:t>i</a:t>
            </a:r>
            <a:r>
              <a:rPr lang="en-US" dirty="0" smtClean="0"/>
              <a:t> = new Integer(4); </a:t>
            </a:r>
          </a:p>
          <a:p>
            <a:r>
              <a:rPr lang="en-US" dirty="0" smtClean="0"/>
              <a:t>// the new Integer object is reachable via the reference  in '</a:t>
            </a:r>
            <a:r>
              <a:rPr lang="en-US" dirty="0" err="1" smtClean="0"/>
              <a:t>i</a:t>
            </a:r>
            <a:r>
              <a:rPr lang="en-US" dirty="0" smtClean="0"/>
              <a:t>' </a:t>
            </a:r>
          </a:p>
          <a:p>
            <a:r>
              <a:rPr lang="en-US" dirty="0" err="1" smtClean="0"/>
              <a:t>i</a:t>
            </a:r>
            <a:r>
              <a:rPr lang="en-US" dirty="0" smtClean="0"/>
              <a:t> = null; </a:t>
            </a:r>
            <a:r>
              <a:rPr lang="en-US" sz="2400" dirty="0" smtClean="0"/>
              <a:t>// the Integer object is no longer reachable.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685800"/>
            <a:ext cx="7924800" cy="573563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Ways to make an object eligible for Garbage Collector</a:t>
            </a:r>
            <a:br>
              <a:rPr lang="en-US" b="1" dirty="0" smtClean="0"/>
            </a:br>
            <a:endParaRPr lang="en-US" dirty="0"/>
          </a:p>
        </p:txBody>
      </p:sp>
      <p:sp>
        <p:nvSpPr>
          <p:cNvPr id="3" name="Content Placeholder 2"/>
          <p:cNvSpPr>
            <a:spLocks noGrp="1"/>
          </p:cNvSpPr>
          <p:nvPr>
            <p:ph idx="1"/>
          </p:nvPr>
        </p:nvSpPr>
        <p:spPr>
          <a:xfrm>
            <a:off x="457200" y="1981200"/>
            <a:ext cx="8458200" cy="4593336"/>
          </a:xfrm>
        </p:spPr>
        <p:txBody>
          <a:bodyPr>
            <a:normAutofit/>
          </a:bodyPr>
          <a:lstStyle/>
          <a:p>
            <a:pPr fontAlgn="base"/>
            <a:r>
              <a:rPr lang="en-US" sz="2400" dirty="0" smtClean="0"/>
              <a:t>Even though the programmer is not responsible for destroying useless objects but it is highly recommended to make an object unreachable(thus eligible for GC) if it is no longer required.</a:t>
            </a:r>
          </a:p>
          <a:p>
            <a:pPr fontAlgn="base"/>
            <a:r>
              <a:rPr lang="en-US" sz="2400" dirty="0" smtClean="0"/>
              <a:t>There are generally four ways to make an object eligible for garbage collection.</a:t>
            </a:r>
          </a:p>
          <a:p>
            <a:pPr lvl="1" fontAlgn="base"/>
            <a:r>
              <a:rPr lang="en-US" dirty="0" smtClean="0"/>
              <a:t>Nullifying the reference variable</a:t>
            </a:r>
          </a:p>
          <a:p>
            <a:pPr lvl="1" fontAlgn="base"/>
            <a:r>
              <a:rPr lang="en-US" dirty="0" smtClean="0"/>
              <a:t>Re-assigning the reference variable</a:t>
            </a:r>
          </a:p>
          <a:p>
            <a:pPr lvl="1" fontAlgn="base"/>
            <a:r>
              <a:rPr lang="en-US" dirty="0" smtClean="0"/>
              <a:t>An object created inside the method</a:t>
            </a:r>
          </a:p>
          <a:p>
            <a:pPr lvl="1" fontAlgn="base"/>
            <a:r>
              <a:rPr lang="en-US" dirty="0" smtClean="0"/>
              <a:t>Island of Isolation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spcBef>
                <a:spcPct val="0"/>
              </a:spcBef>
            </a:pPr>
            <a:r>
              <a:rPr lang="en-US" dirty="0" smtClean="0"/>
              <a:t>Island of Isolation</a:t>
            </a:r>
            <a:br>
              <a:rPr lang="en-US" dirty="0" smtClean="0"/>
            </a:br>
            <a:endParaRPr lang="en-US" dirty="0"/>
          </a:p>
        </p:txBody>
      </p:sp>
      <p:sp>
        <p:nvSpPr>
          <p:cNvPr id="3" name="Content Placeholder 2"/>
          <p:cNvSpPr>
            <a:spLocks noGrp="1"/>
          </p:cNvSpPr>
          <p:nvPr>
            <p:ph idx="1"/>
          </p:nvPr>
        </p:nvSpPr>
        <p:spPr/>
        <p:txBody>
          <a:bodyPr/>
          <a:lstStyle/>
          <a:p>
            <a:pPr fontAlgn="base"/>
            <a:r>
              <a:rPr lang="en-US" dirty="0" smtClean="0"/>
              <a:t>Object 1 references Object 2 and Object 2 references Object 1. Neither Object 1 nor Object 2 is referenced by any other object. That’s an island of isolation.</a:t>
            </a:r>
          </a:p>
          <a:p>
            <a:pPr fontAlgn="base"/>
            <a:r>
              <a:rPr lang="en-US" dirty="0" smtClean="0"/>
              <a:t>Basically, an island of isolation is a group of objects that reference each other but are not referenced by any active object in the application. Strictly speaking, even a single unreferenced object is an island of isolation too</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Both the objects have external references t1 and t2.</a:t>
            </a:r>
            <a:br>
              <a:rPr lang="en-US" sz="2200" dirty="0" smtClean="0"/>
            </a:br>
            <a:r>
              <a:rPr lang="en-US" sz="2200" b="1" dirty="0" smtClean="0"/>
              <a:t>t1 = null :</a:t>
            </a:r>
            <a:r>
              <a:rPr lang="en-US" sz="2200" dirty="0" smtClean="0"/>
              <a:t> Both the objects can be reached via t2.i and t2 respectively.</a:t>
            </a:r>
            <a:br>
              <a:rPr lang="en-US" sz="2200" dirty="0" smtClean="0"/>
            </a:br>
            <a:r>
              <a:rPr lang="en-US" sz="2200" b="1" dirty="0" smtClean="0"/>
              <a:t>t2 = null: </a:t>
            </a:r>
            <a:r>
              <a:rPr lang="en-US" sz="2200" dirty="0" smtClean="0"/>
              <a:t>No way to reach any of the objects</a:t>
            </a:r>
            <a:r>
              <a:rPr lang="en-US" dirty="0" smtClean="0"/>
              <a:t>.</a:t>
            </a:r>
            <a:r>
              <a:rPr lang="en-US" i="1" dirty="0" smtClean="0"/>
              <a:t> </a:t>
            </a:r>
            <a:br>
              <a:rPr lang="en-US" i="1" dirty="0" smtClean="0"/>
            </a:br>
            <a:r>
              <a:rPr lang="en-US" sz="2200" b="1" i="1" dirty="0" smtClean="0"/>
              <a:t>Now, both the objects are eligible for garbage collection as there is no way we can call them. This is popularly known as Island of Isolation. </a:t>
            </a:r>
            <a:r>
              <a:rPr lang="en-US" dirty="0" smtClean="0"/>
              <a:t/>
            </a:r>
            <a:br>
              <a:rPr lang="en-US" dirty="0" smtClean="0"/>
            </a:br>
            <a:endParaRPr lang="en-US" dirty="0"/>
          </a:p>
        </p:txBody>
      </p:sp>
      <p:pic>
        <p:nvPicPr>
          <p:cNvPr id="4" name="Picture 2"/>
          <p:cNvPicPr>
            <a:picLocks noGrp="1" noChangeAspect="1" noChangeArrowheads="1"/>
          </p:cNvPicPr>
          <p:nvPr>
            <p:ph idx="1"/>
          </p:nvPr>
        </p:nvPicPr>
        <p:blipFill>
          <a:blip r:embed="rId2">
            <a:duotone>
              <a:prstClr val="black"/>
              <a:schemeClr val="accent2">
                <a:tint val="45000"/>
                <a:satMod val="400000"/>
              </a:schemeClr>
            </a:duotone>
          </a:blip>
          <a:srcRect/>
          <a:stretch>
            <a:fillRect/>
          </a:stretch>
        </p:blipFill>
        <p:spPr bwMode="auto">
          <a:xfrm>
            <a:off x="838200" y="3657600"/>
            <a:ext cx="7658100" cy="21367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4864"/>
            <a:ext cx="8610600" cy="6803136"/>
          </a:xfrm>
        </p:spPr>
        <p:txBody>
          <a:bodyPr>
            <a:noAutofit/>
          </a:bodyPr>
          <a:lstStyle/>
          <a:p>
            <a:pPr fontAlgn="base"/>
            <a:endParaRPr lang="en-US" sz="1800" dirty="0" smtClean="0"/>
          </a:p>
          <a:p>
            <a:pPr fontAlgn="base"/>
            <a:r>
              <a:rPr lang="en-US" sz="1800" dirty="0" smtClean="0"/>
              <a:t>public class Example {</a:t>
            </a:r>
          </a:p>
          <a:p>
            <a:pPr fontAlgn="base"/>
            <a:r>
              <a:rPr lang="en-US" sz="1800" dirty="0" smtClean="0"/>
              <a:t>    GFG </a:t>
            </a:r>
            <a:r>
              <a:rPr lang="en-US" sz="1800" dirty="0" err="1" smtClean="0"/>
              <a:t>i</a:t>
            </a:r>
            <a:r>
              <a:rPr lang="en-US" sz="1800" dirty="0" smtClean="0"/>
              <a:t>;</a:t>
            </a:r>
          </a:p>
          <a:p>
            <a:pPr fontAlgn="base"/>
            <a:r>
              <a:rPr lang="en-US" sz="1800" dirty="0" smtClean="0"/>
              <a:t>     public static void main(String[] </a:t>
            </a:r>
            <a:r>
              <a:rPr lang="en-US" sz="1800" dirty="0" err="1" smtClean="0"/>
              <a:t>args</a:t>
            </a:r>
            <a:r>
              <a:rPr lang="en-US" sz="1800" dirty="0" smtClean="0"/>
              <a:t>)</a:t>
            </a:r>
          </a:p>
          <a:p>
            <a:pPr fontAlgn="base"/>
            <a:r>
              <a:rPr lang="en-US" sz="1800" dirty="0" smtClean="0"/>
              <a:t>    {</a:t>
            </a:r>
          </a:p>
          <a:p>
            <a:pPr fontAlgn="base"/>
            <a:r>
              <a:rPr lang="en-US" sz="1800" dirty="0" smtClean="0"/>
              <a:t>          Example t1 = new Example();</a:t>
            </a:r>
          </a:p>
          <a:p>
            <a:pPr fontAlgn="base"/>
            <a:r>
              <a:rPr lang="en-US" sz="1800" dirty="0" smtClean="0"/>
              <a:t>       Example t2 = new Example();</a:t>
            </a:r>
          </a:p>
          <a:p>
            <a:pPr fontAlgn="base"/>
            <a:r>
              <a:rPr lang="en-US" sz="1800" dirty="0" smtClean="0"/>
              <a:t>        t1.i = t2;  // Object of t1 gets a copy of t2</a:t>
            </a:r>
          </a:p>
          <a:p>
            <a:pPr fontAlgn="base"/>
            <a:r>
              <a:rPr lang="en-US" sz="1800" dirty="0" smtClean="0"/>
              <a:t>         t2.i = t1;           // Object of t2 gets a copy of t1</a:t>
            </a:r>
          </a:p>
          <a:p>
            <a:pPr fontAlgn="base"/>
            <a:r>
              <a:rPr lang="en-US" sz="1800" dirty="0" smtClean="0"/>
              <a:t>      </a:t>
            </a:r>
          </a:p>
          <a:p>
            <a:pPr fontAlgn="base"/>
            <a:r>
              <a:rPr lang="en-US" sz="1800" dirty="0" smtClean="0"/>
              <a:t>        // Till now no object eligible for garbage collection</a:t>
            </a:r>
          </a:p>
          <a:p>
            <a:pPr fontAlgn="base"/>
            <a:r>
              <a:rPr lang="en-US" sz="1800" dirty="0" smtClean="0"/>
              <a:t>        t1 = null;  </a:t>
            </a:r>
          </a:p>
          <a:p>
            <a:pPr fontAlgn="base"/>
            <a:r>
              <a:rPr lang="en-US" sz="1800" dirty="0" smtClean="0"/>
              <a:t>        // Now two objects are eligible for garbage collection</a:t>
            </a:r>
          </a:p>
          <a:p>
            <a:pPr fontAlgn="base"/>
            <a:r>
              <a:rPr lang="en-US" sz="1800" dirty="0" smtClean="0"/>
              <a:t>        t2 = null;      </a:t>
            </a:r>
          </a:p>
          <a:p>
            <a:pPr fontAlgn="base"/>
            <a:r>
              <a:rPr lang="en-US" sz="1800" dirty="0" smtClean="0"/>
              <a:t>        // Calling garbage collector</a:t>
            </a:r>
          </a:p>
          <a:p>
            <a:pPr fontAlgn="base"/>
            <a:r>
              <a:rPr lang="en-US" sz="1800" dirty="0" smtClean="0"/>
              <a:t>        </a:t>
            </a:r>
            <a:r>
              <a:rPr lang="en-US" sz="1800" dirty="0" err="1" smtClean="0"/>
              <a:t>System.gc</a:t>
            </a:r>
            <a:r>
              <a:rPr lang="en-US" sz="1800" dirty="0" smtClean="0"/>
              <a:t>();</a:t>
            </a:r>
          </a:p>
          <a:p>
            <a:pPr fontAlgn="base"/>
            <a:r>
              <a:rPr lang="en-US" sz="1800" dirty="0" smtClean="0"/>
              <a:t>    }</a:t>
            </a:r>
          </a:p>
          <a:p>
            <a:pPr fontAlgn="base"/>
            <a:r>
              <a:rPr lang="en-US" sz="1800" dirty="0" smtClean="0"/>
              <a:t>     protected void finalize() throws </a:t>
            </a:r>
            <a:r>
              <a:rPr lang="en-US" sz="1800" dirty="0" err="1" smtClean="0"/>
              <a:t>Throwable</a:t>
            </a:r>
            <a:endParaRPr lang="en-US" sz="1800" dirty="0" smtClean="0"/>
          </a:p>
          <a:p>
            <a:pPr fontAlgn="base"/>
            <a:r>
              <a:rPr lang="en-US" sz="1800" dirty="0" smtClean="0"/>
              <a:t>    {</a:t>
            </a:r>
          </a:p>
          <a:p>
            <a:pPr fontAlgn="base"/>
            <a:r>
              <a:rPr lang="en-US" sz="1800" dirty="0" smtClean="0"/>
              <a:t>         </a:t>
            </a:r>
            <a:r>
              <a:rPr lang="en-US" sz="1800" dirty="0" err="1" smtClean="0"/>
              <a:t>System.out.println</a:t>
            </a:r>
            <a:r>
              <a:rPr lang="en-US" sz="1800" dirty="0" smtClean="0"/>
              <a:t>("Finalize method called"); // Print statement</a:t>
            </a:r>
          </a:p>
          <a:p>
            <a:pPr fontAlgn="base"/>
            <a:r>
              <a:rPr lang="en-US" sz="1800" dirty="0" smtClean="0"/>
              <a:t>    } }</a:t>
            </a:r>
          </a:p>
          <a:p>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Ways for requesting </a:t>
            </a:r>
            <a:r>
              <a:rPr lang="en-US" u="sng" dirty="0" smtClean="0">
                <a:hlinkClick r:id="rId2"/>
              </a:rPr>
              <a:t>JVM</a:t>
            </a:r>
            <a:r>
              <a:rPr lang="en-US" b="1" dirty="0" smtClean="0"/>
              <a:t> to run Garbage Collector</a:t>
            </a:r>
            <a:br>
              <a:rPr lang="en-US" b="1" dirty="0" smtClean="0"/>
            </a:br>
            <a:endParaRPr lang="en-US" dirty="0"/>
          </a:p>
        </p:txBody>
      </p:sp>
      <p:sp>
        <p:nvSpPr>
          <p:cNvPr id="3" name="Content Placeholder 2"/>
          <p:cNvSpPr>
            <a:spLocks noGrp="1"/>
          </p:cNvSpPr>
          <p:nvPr>
            <p:ph idx="1"/>
          </p:nvPr>
        </p:nvSpPr>
        <p:spPr/>
        <p:txBody>
          <a:bodyPr/>
          <a:lstStyle/>
          <a:p>
            <a:pPr fontAlgn="base"/>
            <a:r>
              <a:rPr lang="en-US" dirty="0" smtClean="0"/>
              <a:t>Once we make an object eligible for garbage collection, it may not destroy immediately by the garbage collector. Whenever JVM runs the Garbage Collector program, then only the object will be destroyed. But when JVM runs Garbage Collector, we can not expect.</a:t>
            </a:r>
          </a:p>
          <a:p>
            <a:pPr fontAlgn="base"/>
            <a:r>
              <a:rPr lang="en-US" dirty="0" smtClean="0"/>
              <a:t>We can also request JVM to run Garbage Collector. There are two ways to do it : </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request JVM to run Garbage Collector</a:t>
            </a: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smtClean="0"/>
              <a:t>Using </a:t>
            </a:r>
            <a:r>
              <a:rPr lang="en-US" b="1" i="1" dirty="0" err="1" smtClean="0"/>
              <a:t>System.gc</a:t>
            </a:r>
            <a:r>
              <a:rPr lang="en-US" b="1" i="1" dirty="0" smtClean="0"/>
              <a:t>()</a:t>
            </a:r>
            <a:r>
              <a:rPr lang="en-US" b="1" dirty="0" smtClean="0"/>
              <a:t> method:</a:t>
            </a:r>
            <a:r>
              <a:rPr lang="en-US" dirty="0" smtClean="0"/>
              <a:t> System class contain static method </a:t>
            </a:r>
            <a:r>
              <a:rPr lang="en-US" i="1" dirty="0" err="1" smtClean="0"/>
              <a:t>gc</a:t>
            </a:r>
            <a:r>
              <a:rPr lang="en-US" i="1" dirty="0" smtClean="0"/>
              <a:t>()</a:t>
            </a:r>
            <a:r>
              <a:rPr lang="en-US" dirty="0" smtClean="0"/>
              <a:t> for requesting JVM to run Garbage Collector.</a:t>
            </a:r>
          </a:p>
          <a:p>
            <a:pPr fontAlgn="base"/>
            <a:r>
              <a:rPr lang="en-US" b="1" dirty="0" smtClean="0"/>
              <a:t>Using </a:t>
            </a:r>
            <a:r>
              <a:rPr lang="en-US" b="1" i="1" dirty="0" err="1" smtClean="0"/>
              <a:t>Runtime.getRuntime</a:t>
            </a:r>
            <a:r>
              <a:rPr lang="en-US" b="1" i="1" dirty="0" smtClean="0"/>
              <a:t>().</a:t>
            </a:r>
            <a:r>
              <a:rPr lang="en-US" b="1" i="1" dirty="0" err="1" smtClean="0"/>
              <a:t>gc</a:t>
            </a:r>
            <a:r>
              <a:rPr lang="en-US" b="1" i="1" dirty="0" smtClean="0"/>
              <a:t>()</a:t>
            </a:r>
            <a:r>
              <a:rPr lang="en-US" b="1" dirty="0" smtClean="0"/>
              <a:t> method:</a:t>
            </a:r>
            <a:r>
              <a:rPr lang="en-US" dirty="0" smtClean="0"/>
              <a:t> </a:t>
            </a:r>
            <a:r>
              <a:rPr lang="en-US" u="sng" dirty="0" smtClean="0">
                <a:hlinkClick r:id="rId2"/>
              </a:rPr>
              <a:t>Runtime class</a:t>
            </a:r>
            <a:r>
              <a:rPr lang="en-US" dirty="0" smtClean="0"/>
              <a:t> allows the application to interface with the JVM in which the application is running. Hence by using its </a:t>
            </a:r>
            <a:r>
              <a:rPr lang="en-US" dirty="0" err="1" smtClean="0"/>
              <a:t>gc</a:t>
            </a:r>
            <a:r>
              <a:rPr lang="en-US" dirty="0" smtClean="0"/>
              <a:t>() method, we can request JVM to run Garbage Collector.</a:t>
            </a:r>
          </a:p>
          <a:p>
            <a:pPr fontAlgn="base"/>
            <a:r>
              <a:rPr lang="en-US" dirty="0" smtClean="0"/>
              <a:t>There is no guarantee that any of the above two methods will run Garbage Collector.</a:t>
            </a:r>
          </a:p>
          <a:p>
            <a:pPr fontAlgn="base"/>
            <a:r>
              <a:rPr lang="en-US" dirty="0" smtClean="0"/>
              <a:t>The call </a:t>
            </a:r>
            <a:r>
              <a:rPr lang="en-US" i="1" dirty="0" err="1" smtClean="0"/>
              <a:t>System.gc</a:t>
            </a:r>
            <a:r>
              <a:rPr lang="en-US" i="1" dirty="0" smtClean="0"/>
              <a:t>()</a:t>
            </a:r>
            <a:r>
              <a:rPr lang="en-US" dirty="0" smtClean="0"/>
              <a:t> is effectively equivalent to the call : </a:t>
            </a:r>
            <a:r>
              <a:rPr lang="en-US" i="1" dirty="0" err="1" smtClean="0"/>
              <a:t>Runtime.getRuntime</a:t>
            </a:r>
            <a:r>
              <a:rPr lang="en-US" i="1" dirty="0" smtClean="0"/>
              <a:t>().</a:t>
            </a:r>
            <a:r>
              <a:rPr lang="en-US" i="1" dirty="0" err="1" smtClean="0"/>
              <a:t>gc</a:t>
            </a:r>
            <a:r>
              <a:rPr lang="en-US" i="1" dirty="0" smtClean="0"/>
              <a:t>()</a:t>
            </a:r>
            <a:endParaRPr lang="en-US" dirty="0" smtClean="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Finalization</a:t>
            </a:r>
            <a:br>
              <a:rPr lang="en-US" b="1" dirty="0" smtClean="0"/>
            </a:br>
            <a:endParaRPr lang="en-US" dirty="0"/>
          </a:p>
        </p:txBody>
      </p:sp>
      <p:sp>
        <p:nvSpPr>
          <p:cNvPr id="3" name="Content Placeholder 2"/>
          <p:cNvSpPr>
            <a:spLocks noGrp="1"/>
          </p:cNvSpPr>
          <p:nvPr>
            <p:ph idx="1"/>
          </p:nvPr>
        </p:nvSpPr>
        <p:spPr/>
        <p:txBody>
          <a:bodyPr/>
          <a:lstStyle/>
          <a:p>
            <a:pPr fontAlgn="base"/>
            <a:r>
              <a:rPr lang="en-US" dirty="0" smtClean="0"/>
              <a:t>Just before destroying an object, Garbage Collector calls </a:t>
            </a:r>
            <a:r>
              <a:rPr lang="en-US" i="1" dirty="0" smtClean="0"/>
              <a:t>finalize()</a:t>
            </a:r>
            <a:r>
              <a:rPr lang="en-US" dirty="0" smtClean="0"/>
              <a:t> method on the object to perform cleanup activities. Once </a:t>
            </a:r>
            <a:r>
              <a:rPr lang="en-US" i="1" dirty="0" smtClean="0"/>
              <a:t>finalize()</a:t>
            </a:r>
            <a:r>
              <a:rPr lang="en-US" dirty="0" smtClean="0"/>
              <a:t> method completes, Garbage Collector destroys that object.</a:t>
            </a:r>
          </a:p>
          <a:p>
            <a:pPr fontAlgn="base"/>
            <a:r>
              <a:rPr lang="en-US" i="1" dirty="0" smtClean="0"/>
              <a:t>finalize()</a:t>
            </a:r>
            <a:r>
              <a:rPr lang="en-US" dirty="0" smtClean="0"/>
              <a:t> method is present in </a:t>
            </a:r>
            <a:r>
              <a:rPr lang="en-US" u="sng" dirty="0" smtClean="0">
                <a:hlinkClick r:id="rId2"/>
              </a:rPr>
              <a:t>Object class</a:t>
            </a:r>
            <a:r>
              <a:rPr lang="en-US" dirty="0" smtClean="0"/>
              <a:t> with the following prototype.</a:t>
            </a:r>
          </a:p>
          <a:p>
            <a:pPr fontAlgn="base"/>
            <a:r>
              <a:rPr lang="en-US" b="1" dirty="0" smtClean="0"/>
              <a:t>protected void finalize() throws </a:t>
            </a:r>
            <a:r>
              <a:rPr lang="en-US" b="1" dirty="0" err="1" smtClean="0"/>
              <a:t>Throwable</a:t>
            </a:r>
            <a:endParaRPr lang="en-US" b="1" dirty="0" smtClean="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finalize()</a:t>
            </a:r>
            <a:r>
              <a:rPr lang="en-US" dirty="0" smtClean="0"/>
              <a:t> method</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Based on our requirement, we can override </a:t>
            </a:r>
            <a:r>
              <a:rPr lang="en-US" i="1" dirty="0" smtClean="0"/>
              <a:t>finalize()</a:t>
            </a:r>
            <a:r>
              <a:rPr lang="en-US" dirty="0" smtClean="0"/>
              <a:t> method for performing our cleanup activities like closing connection from the database. </a:t>
            </a:r>
          </a:p>
          <a:p>
            <a:pPr fontAlgn="base"/>
            <a:r>
              <a:rPr lang="en-US" dirty="0" smtClean="0"/>
              <a:t>Object class </a:t>
            </a:r>
            <a:r>
              <a:rPr lang="en-US" i="1" dirty="0" smtClean="0"/>
              <a:t>finalize()</a:t>
            </a:r>
            <a:r>
              <a:rPr lang="en-US" dirty="0" smtClean="0"/>
              <a:t> method has an empty implementation. Thus, it is recommended to override the </a:t>
            </a:r>
            <a:r>
              <a:rPr lang="en-US" i="1" dirty="0" smtClean="0"/>
              <a:t>finalize()</a:t>
            </a:r>
            <a:r>
              <a:rPr lang="en-US" dirty="0" smtClean="0"/>
              <a:t> method to dispose of system resources or perform other cleanups.</a:t>
            </a:r>
          </a:p>
          <a:p>
            <a:pPr fontAlgn="base"/>
            <a:r>
              <a:rPr lang="en-US" dirty="0" smtClean="0"/>
              <a:t>The </a:t>
            </a:r>
            <a:r>
              <a:rPr lang="en-US" i="1" dirty="0" smtClean="0"/>
              <a:t>finalize() </a:t>
            </a:r>
            <a:r>
              <a:rPr lang="en-US" dirty="0" smtClean="0"/>
              <a:t>method is never invoked more than once for any object.</a:t>
            </a:r>
          </a:p>
          <a:p>
            <a:pPr fontAlgn="base"/>
            <a:r>
              <a:rPr lang="en-US" dirty="0" smtClean="0"/>
              <a:t>If an uncaught exception is thrown by the </a:t>
            </a:r>
            <a:r>
              <a:rPr lang="en-US" i="1" dirty="0" smtClean="0"/>
              <a:t>finalize()</a:t>
            </a:r>
            <a:r>
              <a:rPr lang="en-US" dirty="0" smtClean="0"/>
              <a:t> method, the exception is ignored, and the finalization of that object terminates.</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Advantages of Garbage Collection in Java</a:t>
            </a:r>
            <a:br>
              <a:rPr lang="en-US" b="1" dirty="0" smtClean="0"/>
            </a:br>
            <a:endParaRPr lang="en-US" dirty="0"/>
          </a:p>
        </p:txBody>
      </p:sp>
      <p:sp>
        <p:nvSpPr>
          <p:cNvPr id="3" name="Content Placeholder 2"/>
          <p:cNvSpPr>
            <a:spLocks noGrp="1"/>
          </p:cNvSpPr>
          <p:nvPr>
            <p:ph idx="1"/>
          </p:nvPr>
        </p:nvSpPr>
        <p:spPr/>
        <p:txBody>
          <a:bodyPr/>
          <a:lstStyle/>
          <a:p>
            <a:pPr fontAlgn="base"/>
            <a:r>
              <a:rPr lang="en-US" dirty="0" smtClean="0"/>
              <a:t>It makes java memory-efficient because the garbage collector removes the unreferenced objects from heap memory.</a:t>
            </a:r>
          </a:p>
          <a:p>
            <a:pPr fontAlgn="base"/>
            <a:r>
              <a:rPr lang="en-US" dirty="0" smtClean="0"/>
              <a:t>It is automatically done by the garbage collector(a part of JVM), so we don’t need extra effort.</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127</TotalTime>
  <Words>740</Words>
  <Application>Microsoft Office PowerPoint</Application>
  <PresentationFormat>On-screen Show (4:3)</PresentationFormat>
  <Paragraphs>90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Georgia</vt:lpstr>
      <vt:lpstr>Trebuchet MS</vt:lpstr>
      <vt:lpstr>Wingdings 2</vt:lpstr>
      <vt:lpstr>Urban</vt:lpstr>
      <vt:lpstr>Garbage Collection in Java </vt:lpstr>
      <vt:lpstr>Garbage collection</vt:lpstr>
      <vt:lpstr>What is Garbage Collection? </vt:lpstr>
      <vt:lpstr>Cont..</vt:lpstr>
      <vt:lpstr>How Does Garbage Collection in Java works? </vt:lpstr>
      <vt:lpstr>Types of Activities in Java Garbage Collection </vt:lpstr>
      <vt:lpstr>PowerPoint Presentation</vt:lpstr>
      <vt:lpstr>PowerPoint Presentation</vt:lpstr>
      <vt:lpstr>old generation</vt:lpstr>
      <vt:lpstr>Permanent Generation </vt:lpstr>
      <vt:lpstr>Important Concepts Related to Garbage Collection in Java </vt:lpstr>
      <vt:lpstr>PowerPoint Presentation</vt:lpstr>
      <vt:lpstr>Ways to make an object eligible for Garbage Collector </vt:lpstr>
      <vt:lpstr>Island of Isolation </vt:lpstr>
      <vt:lpstr>      Both the objects have external references t1 and t2. t1 = null : Both the objects can be reached via t2.i and t2 respectively. t2 = null: No way to reach any of the objects.  Now, both the objects are eligible for garbage collection as there is no way we can call them. This is popularly known as Island of Isolation.  </vt:lpstr>
      <vt:lpstr>PowerPoint Presentation</vt:lpstr>
      <vt:lpstr>Ways for requesting JVM to run Garbage Collector </vt:lpstr>
      <vt:lpstr>request JVM to run Garbage Collector</vt:lpstr>
      <vt:lpstr>Finalization </vt:lpstr>
      <vt:lpstr>finalize() method</vt:lpstr>
      <vt:lpstr>Advantages of Garbage Collection in Java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Garbage Collection in Java </dc:title>
  <dc:creator>Computer</dc:creator>
  <cp:lastModifiedBy>Windows User</cp:lastModifiedBy>
  <cp:revision>20</cp:revision>
  <dcterms:created xsi:type="dcterms:W3CDTF">2006-08-16T00:00:00Z</dcterms:created>
  <dcterms:modified xsi:type="dcterms:W3CDTF">2024-03-02T06:59:05Z</dcterms:modified>
</cp:coreProperties>
</file>
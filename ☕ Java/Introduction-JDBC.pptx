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68" r:id="rId21"/>
    <p:sldId id="276" r:id="rId22"/>
    <p:sldId id="277" r:id="rId23"/>
    <p:sldId id="280" r:id="rId24"/>
    <p:sldId id="279" r:id="rId25"/>
    <p:sldId id="27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38FD240-2F80-4A71-A7C5-76215F4366BD}" type="datetimeFigureOut">
              <a:rPr lang="en-US" smtClean="0"/>
              <a:t>5/6/2024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F2BAC-0FF0-436C-9444-07417845FB7E}" type="slidenum">
              <a:rPr lang="en-US" smtClean="0"/>
              <a:t>‹#›</a:t>
            </a:fld>
            <a:endParaRPr lang="en-US"/>
          </a:p>
        </p:txBody>
      </p:sp>
    </p:spTree>
    <p:extLst>
      <p:ext uri="{BB962C8B-B14F-4D97-AF65-F5344CB8AC3E}">
        <p14:creationId xmlns:p14="http://schemas.microsoft.com/office/powerpoint/2010/main" val="3631689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8FD240-2F80-4A71-A7C5-76215F4366BD}" type="datetimeFigureOut">
              <a:rPr lang="en-US" smtClean="0"/>
              <a:t>5/6/2024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F2BAC-0FF0-436C-9444-07417845FB7E}" type="slidenum">
              <a:rPr lang="en-US" smtClean="0"/>
              <a:t>‹#›</a:t>
            </a:fld>
            <a:endParaRPr lang="en-US"/>
          </a:p>
        </p:txBody>
      </p:sp>
    </p:spTree>
    <p:extLst>
      <p:ext uri="{BB962C8B-B14F-4D97-AF65-F5344CB8AC3E}">
        <p14:creationId xmlns:p14="http://schemas.microsoft.com/office/powerpoint/2010/main" val="3422507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38FD240-2F80-4A71-A7C5-76215F4366BD}" type="datetimeFigureOut">
              <a:rPr lang="en-US" smtClean="0"/>
              <a:t>5/6/2024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F2BAC-0FF0-436C-9444-07417845FB7E}" type="slidenum">
              <a:rPr lang="en-US" smtClean="0"/>
              <a:t>‹#›</a:t>
            </a:fld>
            <a:endParaRPr lang="en-US"/>
          </a:p>
        </p:txBody>
      </p:sp>
    </p:spTree>
    <p:extLst>
      <p:ext uri="{BB962C8B-B14F-4D97-AF65-F5344CB8AC3E}">
        <p14:creationId xmlns:p14="http://schemas.microsoft.com/office/powerpoint/2010/main" val="531331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38FD240-2F80-4A71-A7C5-76215F4366BD}" type="datetimeFigureOut">
              <a:rPr lang="en-US" smtClean="0"/>
              <a:t>5/6/2024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1F2BAC-0FF0-436C-9444-07417845FB7E}" type="slidenum">
              <a:rPr lang="en-US" smtClean="0"/>
              <a:t>‹#›</a:t>
            </a:fld>
            <a:endParaRPr lang="en-US"/>
          </a:p>
        </p:txBody>
      </p:sp>
    </p:spTree>
    <p:extLst>
      <p:ext uri="{BB962C8B-B14F-4D97-AF65-F5344CB8AC3E}">
        <p14:creationId xmlns:p14="http://schemas.microsoft.com/office/powerpoint/2010/main" val="2239303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38FD240-2F80-4A71-A7C5-76215F4366BD}" type="datetimeFigureOut">
              <a:rPr lang="en-US" smtClean="0"/>
              <a:t>5/6/2024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1F2BAC-0FF0-436C-9444-07417845FB7E}" type="slidenum">
              <a:rPr lang="en-US" smtClean="0"/>
              <a:t>‹#›</a:t>
            </a:fld>
            <a:endParaRPr lang="en-US"/>
          </a:p>
        </p:txBody>
      </p:sp>
    </p:spTree>
    <p:extLst>
      <p:ext uri="{BB962C8B-B14F-4D97-AF65-F5344CB8AC3E}">
        <p14:creationId xmlns:p14="http://schemas.microsoft.com/office/powerpoint/2010/main" val="4274535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38FD240-2F80-4A71-A7C5-76215F4366BD}" type="datetimeFigureOut">
              <a:rPr lang="en-US" smtClean="0"/>
              <a:t>5/6/2024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1F2BAC-0FF0-436C-9444-07417845FB7E}" type="slidenum">
              <a:rPr lang="en-US" smtClean="0"/>
              <a:t>‹#›</a:t>
            </a:fld>
            <a:endParaRPr lang="en-US"/>
          </a:p>
        </p:txBody>
      </p:sp>
    </p:spTree>
    <p:extLst>
      <p:ext uri="{BB962C8B-B14F-4D97-AF65-F5344CB8AC3E}">
        <p14:creationId xmlns:p14="http://schemas.microsoft.com/office/powerpoint/2010/main" val="26324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8FD240-2F80-4A71-A7C5-76215F4366BD}" type="datetimeFigureOut">
              <a:rPr lang="en-US" smtClean="0"/>
              <a:t>5/6/2024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1F2BAC-0FF0-436C-9444-07417845FB7E}" type="slidenum">
              <a:rPr lang="en-US" smtClean="0"/>
              <a:t>‹#›</a:t>
            </a:fld>
            <a:endParaRPr lang="en-US"/>
          </a:p>
        </p:txBody>
      </p:sp>
    </p:spTree>
    <p:extLst>
      <p:ext uri="{BB962C8B-B14F-4D97-AF65-F5344CB8AC3E}">
        <p14:creationId xmlns:p14="http://schemas.microsoft.com/office/powerpoint/2010/main" val="2468157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8FD240-2F80-4A71-A7C5-76215F4366BD}" type="datetimeFigureOut">
              <a:rPr lang="en-US" smtClean="0"/>
              <a:t>5/6/2024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1F2BAC-0FF0-436C-9444-07417845FB7E}" type="slidenum">
              <a:rPr lang="en-US" smtClean="0"/>
              <a:t>‹#›</a:t>
            </a:fld>
            <a:endParaRPr lang="en-US"/>
          </a:p>
        </p:txBody>
      </p:sp>
    </p:spTree>
    <p:extLst>
      <p:ext uri="{BB962C8B-B14F-4D97-AF65-F5344CB8AC3E}">
        <p14:creationId xmlns:p14="http://schemas.microsoft.com/office/powerpoint/2010/main" val="956612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8FD240-2F80-4A71-A7C5-76215F4366BD}" type="datetimeFigureOut">
              <a:rPr lang="en-US" smtClean="0"/>
              <a:t>5/6/2024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1F2BAC-0FF0-436C-9444-07417845FB7E}" type="slidenum">
              <a:rPr lang="en-US" smtClean="0"/>
              <a:t>‹#›</a:t>
            </a:fld>
            <a:endParaRPr lang="en-US"/>
          </a:p>
        </p:txBody>
      </p:sp>
    </p:spTree>
    <p:extLst>
      <p:ext uri="{BB962C8B-B14F-4D97-AF65-F5344CB8AC3E}">
        <p14:creationId xmlns:p14="http://schemas.microsoft.com/office/powerpoint/2010/main" val="3510011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8FD240-2F80-4A71-A7C5-76215F4366BD}" type="datetimeFigureOut">
              <a:rPr lang="en-US" smtClean="0"/>
              <a:t>5/6/2024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F2BAC-0FF0-436C-9444-07417845FB7E}" type="slidenum">
              <a:rPr lang="en-US" smtClean="0"/>
              <a:t>‹#›</a:t>
            </a:fld>
            <a:endParaRPr lang="en-US"/>
          </a:p>
        </p:txBody>
      </p:sp>
    </p:spTree>
    <p:extLst>
      <p:ext uri="{BB962C8B-B14F-4D97-AF65-F5344CB8AC3E}">
        <p14:creationId xmlns:p14="http://schemas.microsoft.com/office/powerpoint/2010/main" val="600029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8FD240-2F80-4A71-A7C5-76215F4366BD}" type="datetimeFigureOut">
              <a:rPr lang="en-US" smtClean="0"/>
              <a:t>5/6/2024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F2BAC-0FF0-436C-9444-07417845FB7E}" type="slidenum">
              <a:rPr lang="en-US" smtClean="0"/>
              <a:t>‹#›</a:t>
            </a:fld>
            <a:endParaRPr lang="en-US"/>
          </a:p>
        </p:txBody>
      </p:sp>
    </p:spTree>
    <p:extLst>
      <p:ext uri="{BB962C8B-B14F-4D97-AF65-F5344CB8AC3E}">
        <p14:creationId xmlns:p14="http://schemas.microsoft.com/office/powerpoint/2010/main" val="3537756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FD240-2F80-4A71-A7C5-76215F4366BD}" type="datetimeFigureOut">
              <a:rPr lang="en-US" smtClean="0"/>
              <a:t>5/6/2024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1F2BAC-0FF0-436C-9444-07417845FB7E}" type="slidenum">
              <a:rPr lang="en-US" smtClean="0"/>
              <a:t>‹#›</a:t>
            </a:fld>
            <a:endParaRPr lang="en-US"/>
          </a:p>
        </p:txBody>
      </p:sp>
    </p:spTree>
    <p:extLst>
      <p:ext uri="{BB962C8B-B14F-4D97-AF65-F5344CB8AC3E}">
        <p14:creationId xmlns:p14="http://schemas.microsoft.com/office/powerpoint/2010/main" val="444397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geeksforgeeks.org/interfaces-in-java/" TargetMode="External"/><Relationship Id="rId2" Type="http://schemas.openxmlformats.org/officeDocument/2006/relationships/hyperlink" Target="https://www.geeksforgeeks.org/classes-objects-jav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difference-odbc-jdbc/"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jdbc-driver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baeldung.com/java-jdbc-loading-drivers" TargetMode="External"/><Relationship Id="rId2" Type="http://schemas.openxmlformats.org/officeDocument/2006/relationships/hyperlink" Target="https://mvnrepository.com/artifact/mysql/mysql-connector-java"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Java JDBC</a:t>
            </a:r>
            <a:br>
              <a:rPr lang="en-US" b="1" dirty="0" smtClean="0"/>
            </a:b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4689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Introductions to JDBC</a:t>
            </a:r>
            <a:endParaRPr lang="en-US" dirty="0"/>
          </a:p>
        </p:txBody>
      </p:sp>
      <p:sp>
        <p:nvSpPr>
          <p:cNvPr id="3" name="Content Placeholder 2"/>
          <p:cNvSpPr>
            <a:spLocks noGrp="1"/>
          </p:cNvSpPr>
          <p:nvPr>
            <p:ph idx="1"/>
          </p:nvPr>
        </p:nvSpPr>
        <p:spPr/>
        <p:txBody>
          <a:bodyPr>
            <a:normAutofit lnSpcReduction="10000"/>
          </a:bodyPr>
          <a:lstStyle/>
          <a:p>
            <a:r>
              <a:rPr lang="en-US" b="1" dirty="0" smtClean="0"/>
              <a:t>JDBC </a:t>
            </a:r>
            <a:r>
              <a:rPr lang="en-US" dirty="0" smtClean="0"/>
              <a:t>stands for </a:t>
            </a:r>
            <a:r>
              <a:rPr lang="en-US" b="1" dirty="0" smtClean="0"/>
              <a:t>Java Database Connectivity. </a:t>
            </a:r>
          </a:p>
          <a:p>
            <a:r>
              <a:rPr lang="en-US" b="1" dirty="0" smtClean="0"/>
              <a:t>JDBC </a:t>
            </a:r>
            <a:r>
              <a:rPr lang="en-US" dirty="0" smtClean="0"/>
              <a:t>is a </a:t>
            </a:r>
            <a:r>
              <a:rPr lang="en-US" b="1" dirty="0" smtClean="0"/>
              <a:t>Java API</a:t>
            </a:r>
            <a:r>
              <a:rPr lang="en-US" dirty="0" smtClean="0"/>
              <a:t> to connect and execute the query with the database. </a:t>
            </a:r>
          </a:p>
          <a:p>
            <a:r>
              <a:rPr lang="en-US" dirty="0" smtClean="0"/>
              <a:t>It is a specification from Sun Microsystems that provides a standard abstraction(API or Protocol) for Java applications to communicate with various databases. </a:t>
            </a:r>
          </a:p>
          <a:p>
            <a:r>
              <a:rPr lang="en-US" dirty="0" smtClean="0"/>
              <a:t>It is used to write programs required to access databases. JDBC, along with the database driver, can access databases</a:t>
            </a:r>
          </a:p>
          <a:p>
            <a:r>
              <a:rPr lang="en-US" dirty="0" smtClean="0"/>
              <a:t>The enterprise data stored in a relational database(RDB) can be accessed with the help of JDBC APIs.</a:t>
            </a:r>
            <a:endParaRPr lang="en-US" dirty="0"/>
          </a:p>
        </p:txBody>
      </p:sp>
    </p:spTree>
    <p:extLst>
      <p:ext uri="{BB962C8B-B14F-4D97-AF65-F5344CB8AC3E}">
        <p14:creationId xmlns:p14="http://schemas.microsoft.com/office/powerpoint/2010/main" val="2989329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Definition of JDBC(Java Database Connectivity) </a:t>
            </a:r>
            <a:br>
              <a:rPr lang="en-US" b="1" dirty="0" smtClean="0"/>
            </a:br>
            <a:endParaRPr lang="en-US" dirty="0"/>
          </a:p>
        </p:txBody>
      </p:sp>
      <p:sp>
        <p:nvSpPr>
          <p:cNvPr id="3" name="Content Placeholder 2"/>
          <p:cNvSpPr>
            <a:spLocks noGrp="1"/>
          </p:cNvSpPr>
          <p:nvPr>
            <p:ph idx="1"/>
          </p:nvPr>
        </p:nvSpPr>
        <p:spPr/>
        <p:txBody>
          <a:bodyPr/>
          <a:lstStyle/>
          <a:p>
            <a:r>
              <a:rPr lang="en-US" dirty="0" smtClean="0"/>
              <a:t>JDBC is an API(Application programming interface) used in Java programming to interact with databases. The </a:t>
            </a:r>
            <a:r>
              <a:rPr lang="en-US" i="1" dirty="0" smtClean="0">
                <a:hlinkClick r:id="rId2"/>
              </a:rPr>
              <a:t>classes</a:t>
            </a:r>
            <a:r>
              <a:rPr lang="en-US" i="1" dirty="0" smtClean="0"/>
              <a:t> and </a:t>
            </a:r>
            <a:r>
              <a:rPr lang="en-US" i="1" dirty="0" smtClean="0">
                <a:hlinkClick r:id="rId3"/>
              </a:rPr>
              <a:t>interfaces</a:t>
            </a:r>
            <a:r>
              <a:rPr lang="en-US" i="1" dirty="0" smtClean="0"/>
              <a:t> </a:t>
            </a:r>
            <a:r>
              <a:rPr lang="en-US" dirty="0" smtClean="0"/>
              <a:t>of JDBC</a:t>
            </a:r>
            <a:r>
              <a:rPr lang="en-US" i="1" dirty="0" smtClean="0"/>
              <a:t> </a:t>
            </a:r>
            <a:r>
              <a:rPr lang="en-US" dirty="0" smtClean="0"/>
              <a:t>allow</a:t>
            </a:r>
            <a:r>
              <a:rPr lang="en-US" i="1" dirty="0" smtClean="0"/>
              <a:t> </a:t>
            </a:r>
            <a:r>
              <a:rPr lang="en-US" dirty="0" smtClean="0"/>
              <a:t>the application</a:t>
            </a:r>
            <a:r>
              <a:rPr lang="en-US" i="1" dirty="0" smtClean="0"/>
              <a:t> </a:t>
            </a:r>
            <a:r>
              <a:rPr lang="en-US" dirty="0" smtClean="0"/>
              <a:t>to</a:t>
            </a:r>
            <a:r>
              <a:rPr lang="en-US" i="1" dirty="0" smtClean="0"/>
              <a:t> </a:t>
            </a:r>
            <a:r>
              <a:rPr lang="en-US" dirty="0" smtClean="0"/>
              <a:t>send</a:t>
            </a:r>
            <a:r>
              <a:rPr lang="en-US" i="1" dirty="0" smtClean="0"/>
              <a:t> </a:t>
            </a:r>
            <a:r>
              <a:rPr lang="en-US" dirty="0" smtClean="0"/>
              <a:t>requests</a:t>
            </a:r>
            <a:r>
              <a:rPr lang="en-US" i="1" dirty="0" smtClean="0"/>
              <a:t> </a:t>
            </a:r>
            <a:r>
              <a:rPr lang="en-US" dirty="0" smtClean="0"/>
              <a:t>made by users to the specified database. The current version of JDBC is </a:t>
            </a:r>
            <a:r>
              <a:rPr lang="en-US" i="1" dirty="0" smtClean="0"/>
              <a:t>JDBC 4.3, released on 21st September 2017.</a:t>
            </a:r>
            <a:endParaRPr lang="en-US" dirty="0" smtClean="0"/>
          </a:p>
          <a:p>
            <a:endParaRPr lang="en-US" dirty="0"/>
          </a:p>
        </p:txBody>
      </p:sp>
    </p:spTree>
    <p:extLst>
      <p:ext uri="{BB962C8B-B14F-4D97-AF65-F5344CB8AC3E}">
        <p14:creationId xmlns:p14="http://schemas.microsoft.com/office/powerpoint/2010/main" val="1323193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Purpose of JDBC</a:t>
            </a:r>
            <a:endParaRPr lang="en-US" b="1" dirty="0"/>
          </a:p>
        </p:txBody>
      </p:sp>
      <p:sp>
        <p:nvSpPr>
          <p:cNvPr id="3" name="Content Placeholder 2"/>
          <p:cNvSpPr>
            <a:spLocks noGrp="1"/>
          </p:cNvSpPr>
          <p:nvPr>
            <p:ph idx="1"/>
          </p:nvPr>
        </p:nvSpPr>
        <p:spPr/>
        <p:txBody>
          <a:bodyPr/>
          <a:lstStyle/>
          <a:p>
            <a:r>
              <a:rPr lang="en-US" dirty="0" smtClean="0"/>
              <a:t>Enterprise applications created using the JAVA EE technology need to interact with databases to store application-specific information. </a:t>
            </a:r>
          </a:p>
          <a:p>
            <a:r>
              <a:rPr lang="en-US" dirty="0" smtClean="0"/>
              <a:t>So, interacting with a database requires efficient database connectivity, which can be achieved by using the </a:t>
            </a:r>
            <a:r>
              <a:rPr lang="en-US" dirty="0" smtClean="0">
                <a:hlinkClick r:id="rId2"/>
              </a:rPr>
              <a:t>ODBC</a:t>
            </a:r>
            <a:r>
              <a:rPr lang="en-US" dirty="0" smtClean="0"/>
              <a:t>(Open database connectivity) driver. </a:t>
            </a:r>
          </a:p>
          <a:p>
            <a:r>
              <a:rPr lang="en-US" dirty="0" smtClean="0"/>
              <a:t>This driver is used with JDBC to interact or communicate with various kinds of databases such as Oracle, MS Access, </a:t>
            </a:r>
            <a:r>
              <a:rPr lang="en-US" dirty="0" err="1" smtClean="0"/>
              <a:t>Mysql</a:t>
            </a:r>
            <a:r>
              <a:rPr lang="en-US" dirty="0" smtClean="0"/>
              <a:t>, and SQL server database.</a:t>
            </a:r>
          </a:p>
          <a:p>
            <a:endParaRPr lang="en-US" dirty="0"/>
          </a:p>
        </p:txBody>
      </p:sp>
    </p:spTree>
    <p:extLst>
      <p:ext uri="{BB962C8B-B14F-4D97-AF65-F5344CB8AC3E}">
        <p14:creationId xmlns:p14="http://schemas.microsoft.com/office/powerpoint/2010/main" val="187992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Components of JDBC </a:t>
            </a:r>
            <a:br>
              <a:rPr lang="en-US" b="1" dirty="0" smtClean="0"/>
            </a:br>
            <a:endParaRPr lang="en-US" dirty="0"/>
          </a:p>
        </p:txBody>
      </p:sp>
      <p:sp>
        <p:nvSpPr>
          <p:cNvPr id="3" name="Content Placeholder 2"/>
          <p:cNvSpPr>
            <a:spLocks noGrp="1"/>
          </p:cNvSpPr>
          <p:nvPr>
            <p:ph idx="1"/>
          </p:nvPr>
        </p:nvSpPr>
        <p:spPr/>
        <p:txBody>
          <a:bodyPr/>
          <a:lstStyle/>
          <a:p>
            <a:r>
              <a:rPr lang="en-US" dirty="0" smtClean="0"/>
              <a:t>There are generally four main components of JDBC through which it can interact with a database. They are as mentioned below: </a:t>
            </a:r>
          </a:p>
          <a:p>
            <a:r>
              <a:rPr lang="en-US" b="1" dirty="0" smtClean="0"/>
              <a:t>1. JDBC API</a:t>
            </a:r>
          </a:p>
          <a:p>
            <a:r>
              <a:rPr lang="en-US" b="1" dirty="0" smtClean="0"/>
              <a:t>2.JDBC Driver manager</a:t>
            </a:r>
          </a:p>
          <a:p>
            <a:r>
              <a:rPr lang="en-US" b="1" dirty="0" smtClean="0"/>
              <a:t>3.JDBC Test suite</a:t>
            </a:r>
          </a:p>
          <a:p>
            <a:r>
              <a:rPr lang="en-US" b="1" dirty="0" smtClean="0"/>
              <a:t>4.JDBC-ODBC Bridge Drivers</a:t>
            </a:r>
            <a:endParaRPr lang="en-US" dirty="0"/>
          </a:p>
        </p:txBody>
      </p:sp>
    </p:spTree>
    <p:extLst>
      <p:ext uri="{BB962C8B-B14F-4D97-AF65-F5344CB8AC3E}">
        <p14:creationId xmlns:p14="http://schemas.microsoft.com/office/powerpoint/2010/main" val="3847738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endParaRPr lang="en-US" dirty="0"/>
          </a:p>
        </p:txBody>
      </p:sp>
      <p:sp>
        <p:nvSpPr>
          <p:cNvPr id="3" name="Content Placeholder 2"/>
          <p:cNvSpPr>
            <a:spLocks noGrp="1"/>
          </p:cNvSpPr>
          <p:nvPr>
            <p:ph idx="1"/>
          </p:nvPr>
        </p:nvSpPr>
        <p:spPr>
          <a:xfrm>
            <a:off x="838200" y="365125"/>
            <a:ext cx="10515600" cy="5811838"/>
          </a:xfrm>
        </p:spPr>
        <p:txBody>
          <a:bodyPr>
            <a:normAutofit lnSpcReduction="10000"/>
          </a:bodyPr>
          <a:lstStyle/>
          <a:p>
            <a:r>
              <a:rPr lang="en-US" b="1" dirty="0" smtClean="0"/>
              <a:t>JDBC API:  </a:t>
            </a:r>
            <a:r>
              <a:rPr lang="en-US" dirty="0" smtClean="0"/>
              <a:t>It provides various methods and interfaces for easy communication with the database. It provides two packages as follows, which contain the java SE and Java EE platforms to exhibit WORA(write once run anywhere) capabilities. The </a:t>
            </a:r>
            <a:r>
              <a:rPr lang="en-US" b="1" dirty="0" err="1" smtClean="0"/>
              <a:t>java.sql</a:t>
            </a:r>
            <a:r>
              <a:rPr lang="en-US" b="1" dirty="0" smtClean="0"/>
              <a:t> </a:t>
            </a:r>
            <a:r>
              <a:rPr lang="en-US" dirty="0" smtClean="0"/>
              <a:t>package contains interfaces and classes of JDBC API. </a:t>
            </a:r>
          </a:p>
          <a:p>
            <a:r>
              <a:rPr lang="en-US" b="1" dirty="0" smtClean="0"/>
              <a:t>JDBC Driver manager: </a:t>
            </a:r>
            <a:r>
              <a:rPr lang="en-US" dirty="0" smtClean="0"/>
              <a:t>It loads a database-specific driver in an application to establish a connection with a database. It is used to make a database-specific call to the database to process the user request.</a:t>
            </a:r>
          </a:p>
          <a:p>
            <a:r>
              <a:rPr lang="en-US" b="1" dirty="0" smtClean="0"/>
              <a:t>3. JDBC Test suite:</a:t>
            </a:r>
            <a:r>
              <a:rPr lang="en-US" dirty="0" smtClean="0"/>
              <a:t> It is used to test the operation(such as insertion, deletion, </a:t>
            </a:r>
            <a:r>
              <a:rPr lang="en-US" dirty="0" err="1" smtClean="0"/>
              <a:t>updation</a:t>
            </a:r>
            <a:r>
              <a:rPr lang="en-US" dirty="0" smtClean="0"/>
              <a:t>) being performed by JDBC Drivers.</a:t>
            </a:r>
          </a:p>
          <a:p>
            <a:r>
              <a:rPr lang="en-US" b="1" dirty="0" smtClean="0"/>
              <a:t>4. JDBC-ODBC Bridge Drivers</a:t>
            </a:r>
            <a:r>
              <a:rPr lang="en-US" dirty="0" smtClean="0"/>
              <a:t>: It connects database drivers to the database. This bridge translates the JDBC method call to the ODBC function call. It makes use of the </a:t>
            </a:r>
            <a:r>
              <a:rPr lang="en-US" b="1" dirty="0" err="1" smtClean="0"/>
              <a:t>sun.jdbc.odbc</a:t>
            </a:r>
            <a:r>
              <a:rPr lang="en-US" b="1" dirty="0" smtClean="0"/>
              <a:t> </a:t>
            </a:r>
            <a:r>
              <a:rPr lang="en-US" dirty="0" smtClean="0"/>
              <a:t>package which includes a native library to access ODBC characteristics.</a:t>
            </a:r>
          </a:p>
          <a:p>
            <a:endParaRPr lang="en-US" dirty="0" smtClean="0"/>
          </a:p>
          <a:p>
            <a:endParaRPr lang="en-US" dirty="0"/>
          </a:p>
        </p:txBody>
      </p:sp>
    </p:spTree>
    <p:extLst>
      <p:ext uri="{BB962C8B-B14F-4D97-AF65-F5344CB8AC3E}">
        <p14:creationId xmlns:p14="http://schemas.microsoft.com/office/powerpoint/2010/main" val="4228704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0" y="-109182"/>
            <a:ext cx="10577015" cy="7545372"/>
          </a:xfrm>
          <a:prstGeom prst="rect">
            <a:avLst/>
          </a:prstGeom>
        </p:spPr>
      </p:pic>
    </p:spTree>
    <p:extLst>
      <p:ext uri="{BB962C8B-B14F-4D97-AF65-F5344CB8AC3E}">
        <p14:creationId xmlns:p14="http://schemas.microsoft.com/office/powerpoint/2010/main" val="3843831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API?</a:t>
            </a:r>
            <a:br>
              <a:rPr lang="en-US" b="1" dirty="0" smtClean="0"/>
            </a:br>
            <a:endParaRPr lang="en-US" dirty="0"/>
          </a:p>
        </p:txBody>
      </p:sp>
      <p:sp>
        <p:nvSpPr>
          <p:cNvPr id="3" name="Content Placeholder 2"/>
          <p:cNvSpPr>
            <a:spLocks noGrp="1"/>
          </p:cNvSpPr>
          <p:nvPr>
            <p:ph idx="1"/>
          </p:nvPr>
        </p:nvSpPr>
        <p:spPr/>
        <p:txBody>
          <a:bodyPr/>
          <a:lstStyle/>
          <a:p>
            <a:r>
              <a:rPr lang="en-US" dirty="0" smtClean="0"/>
              <a:t>API stands for </a:t>
            </a:r>
            <a:r>
              <a:rPr lang="en-US" b="1" dirty="0" smtClean="0"/>
              <a:t>Application Programming Interface</a:t>
            </a:r>
            <a:r>
              <a:rPr lang="en-US" dirty="0" smtClean="0"/>
              <a:t>. It is essentially a set of rules and protocols which transfers data between different software applications and allow different software applications to communicate with each other. </a:t>
            </a:r>
          </a:p>
          <a:p>
            <a:r>
              <a:rPr lang="en-US" dirty="0" smtClean="0"/>
              <a:t>Through an API one application can request information or perform a function from another application without having direct access to it’s underlying code or the application data.</a:t>
            </a:r>
          </a:p>
          <a:p>
            <a:r>
              <a:rPr lang="en-US" dirty="0" smtClean="0"/>
              <a:t>JDBC API uses JDBC Drivers to connect with the database.</a:t>
            </a:r>
          </a:p>
          <a:p>
            <a:endParaRPr lang="en-US" dirty="0"/>
          </a:p>
        </p:txBody>
      </p:sp>
    </p:spTree>
    <p:extLst>
      <p:ext uri="{BB962C8B-B14F-4D97-AF65-F5344CB8AC3E}">
        <p14:creationId xmlns:p14="http://schemas.microsoft.com/office/powerpoint/2010/main" val="2182096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JDBC Drivers</a:t>
            </a:r>
            <a:br>
              <a:rPr lang="en-US" b="1" dirty="0" smtClean="0"/>
            </a:br>
            <a:endParaRPr lang="en-US" dirty="0"/>
          </a:p>
        </p:txBody>
      </p:sp>
      <p:sp>
        <p:nvSpPr>
          <p:cNvPr id="3" name="Content Placeholder 2"/>
          <p:cNvSpPr>
            <a:spLocks noGrp="1"/>
          </p:cNvSpPr>
          <p:nvPr>
            <p:ph idx="1"/>
          </p:nvPr>
        </p:nvSpPr>
        <p:spPr>
          <a:xfrm>
            <a:off x="838200" y="1201002"/>
            <a:ext cx="10515600" cy="5308979"/>
          </a:xfrm>
        </p:spPr>
        <p:txBody>
          <a:bodyPr>
            <a:normAutofit lnSpcReduction="10000"/>
          </a:bodyPr>
          <a:lstStyle/>
          <a:p>
            <a:r>
              <a:rPr lang="en-US" dirty="0" smtClean="0">
                <a:hlinkClick r:id="rId2"/>
              </a:rPr>
              <a:t>JDBC drivers</a:t>
            </a:r>
            <a:r>
              <a:rPr lang="en-US" dirty="0" smtClean="0"/>
              <a:t> are client-side adapters (installed on the client machine, not on the server) that convert requests from Java programs to a protocol that the DBMS can understand. There are 4 types of JDBC drivers:</a:t>
            </a:r>
          </a:p>
          <a:p>
            <a:r>
              <a:rPr lang="en-US" dirty="0" smtClean="0"/>
              <a:t>Type-1 driver or JDBC-ODBC bridge driver</a:t>
            </a:r>
          </a:p>
          <a:p>
            <a:r>
              <a:rPr lang="en-US" dirty="0" smtClean="0"/>
              <a:t>Type-2 driver or Native-API driver (partially java driver)</a:t>
            </a:r>
          </a:p>
          <a:p>
            <a:r>
              <a:rPr lang="en-US" dirty="0" smtClean="0"/>
              <a:t>Type-3 driver or Network Protocol driver (fully java driver)</a:t>
            </a:r>
          </a:p>
          <a:p>
            <a:r>
              <a:rPr lang="en-US" dirty="0" smtClean="0"/>
              <a:t>Type-4 driver or Thin driver (fully java driver)</a:t>
            </a:r>
          </a:p>
          <a:p>
            <a:endParaRPr lang="en-US" dirty="0" smtClean="0"/>
          </a:p>
          <a:p>
            <a:r>
              <a:rPr lang="en-US" dirty="0" smtClean="0"/>
              <a:t>The most commonly used type is type 4, as it has the advantage of being </a:t>
            </a:r>
            <a:r>
              <a:rPr lang="en-US" b="1" dirty="0" smtClean="0"/>
              <a:t>platform-independent</a:t>
            </a:r>
            <a:r>
              <a:rPr lang="en-US" dirty="0" smtClean="0"/>
              <a:t>. Connecting directly to a database server provides better performance compared to other types.</a:t>
            </a:r>
            <a:endParaRPr lang="en-US" dirty="0"/>
          </a:p>
        </p:txBody>
      </p:sp>
    </p:spTree>
    <p:extLst>
      <p:ext uri="{BB962C8B-B14F-4D97-AF65-F5344CB8AC3E}">
        <p14:creationId xmlns:p14="http://schemas.microsoft.com/office/powerpoint/2010/main" val="2837380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Interfaces of JDBC API</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 list of popular </a:t>
            </a:r>
            <a:r>
              <a:rPr lang="en-US" i="1" dirty="0" smtClean="0"/>
              <a:t>interfaces</a:t>
            </a:r>
            <a:r>
              <a:rPr lang="en-US" dirty="0" smtClean="0"/>
              <a:t> of JDBC API is given below:</a:t>
            </a:r>
          </a:p>
          <a:p>
            <a:r>
              <a:rPr lang="en-US" dirty="0" smtClean="0"/>
              <a:t>Driver interface</a:t>
            </a:r>
          </a:p>
          <a:p>
            <a:r>
              <a:rPr lang="en-US" dirty="0" smtClean="0"/>
              <a:t>Connection interface</a:t>
            </a:r>
          </a:p>
          <a:p>
            <a:r>
              <a:rPr lang="en-US" dirty="0" smtClean="0"/>
              <a:t>Statement interface</a:t>
            </a:r>
          </a:p>
          <a:p>
            <a:r>
              <a:rPr lang="en-US" dirty="0" err="1" smtClean="0"/>
              <a:t>PreparedStatement</a:t>
            </a:r>
            <a:r>
              <a:rPr lang="en-US" dirty="0" smtClean="0"/>
              <a:t> interface</a:t>
            </a:r>
          </a:p>
          <a:p>
            <a:r>
              <a:rPr lang="en-US" dirty="0" err="1" smtClean="0"/>
              <a:t>CallableStatement</a:t>
            </a:r>
            <a:r>
              <a:rPr lang="en-US" dirty="0" smtClean="0"/>
              <a:t> interface</a:t>
            </a:r>
          </a:p>
          <a:p>
            <a:r>
              <a:rPr lang="en-US" dirty="0" err="1" smtClean="0"/>
              <a:t>ResultSet</a:t>
            </a:r>
            <a:r>
              <a:rPr lang="en-US" dirty="0" smtClean="0"/>
              <a:t> interface</a:t>
            </a:r>
          </a:p>
          <a:p>
            <a:r>
              <a:rPr lang="en-US" dirty="0" err="1" smtClean="0"/>
              <a:t>ResultSetMetaData</a:t>
            </a:r>
            <a:r>
              <a:rPr lang="en-US" dirty="0" smtClean="0"/>
              <a:t> interface</a:t>
            </a:r>
          </a:p>
          <a:p>
            <a:r>
              <a:rPr lang="en-US" dirty="0" err="1" smtClean="0"/>
              <a:t>DatabaseMetaData</a:t>
            </a:r>
            <a:r>
              <a:rPr lang="en-US" dirty="0" smtClean="0"/>
              <a:t> interface</a:t>
            </a:r>
          </a:p>
          <a:p>
            <a:r>
              <a:rPr lang="en-US" dirty="0" err="1" smtClean="0"/>
              <a:t>RowSet</a:t>
            </a:r>
            <a:r>
              <a:rPr lang="en-US" dirty="0" smtClean="0"/>
              <a:t> interface</a:t>
            </a:r>
            <a:endParaRPr lang="en-US" dirty="0"/>
          </a:p>
        </p:txBody>
      </p:sp>
    </p:spTree>
    <p:extLst>
      <p:ext uri="{BB962C8B-B14F-4D97-AF65-F5344CB8AC3E}">
        <p14:creationId xmlns:p14="http://schemas.microsoft.com/office/powerpoint/2010/main" val="4200889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Classes of JDBC API</a:t>
            </a:r>
            <a:br>
              <a:rPr lang="en-US" b="1" dirty="0" smtClean="0"/>
            </a:br>
            <a:endParaRPr lang="en-US" dirty="0"/>
          </a:p>
        </p:txBody>
      </p:sp>
      <p:sp>
        <p:nvSpPr>
          <p:cNvPr id="3" name="Content Placeholder 2"/>
          <p:cNvSpPr>
            <a:spLocks noGrp="1"/>
          </p:cNvSpPr>
          <p:nvPr>
            <p:ph idx="1"/>
          </p:nvPr>
        </p:nvSpPr>
        <p:spPr/>
        <p:txBody>
          <a:bodyPr/>
          <a:lstStyle/>
          <a:p>
            <a:r>
              <a:rPr lang="en-US" dirty="0" smtClean="0">
                <a:effectLst/>
              </a:rPr>
              <a:t>A list of popular </a:t>
            </a:r>
            <a:r>
              <a:rPr lang="en-US" i="1" dirty="0" smtClean="0">
                <a:effectLst/>
              </a:rPr>
              <a:t>classes</a:t>
            </a:r>
            <a:r>
              <a:rPr lang="en-US" dirty="0" smtClean="0">
                <a:effectLst/>
              </a:rPr>
              <a:t> of JDBC API is given below:</a:t>
            </a:r>
          </a:p>
          <a:p>
            <a:r>
              <a:rPr lang="en-US" dirty="0" err="1" smtClean="0"/>
              <a:t>DriverManager</a:t>
            </a:r>
            <a:r>
              <a:rPr lang="en-US" dirty="0" smtClean="0"/>
              <a:t> class</a:t>
            </a:r>
          </a:p>
          <a:p>
            <a:r>
              <a:rPr lang="en-US" dirty="0" smtClean="0"/>
              <a:t>Blob class</a:t>
            </a:r>
          </a:p>
          <a:p>
            <a:r>
              <a:rPr lang="en-US" dirty="0" err="1" smtClean="0"/>
              <a:t>Clob</a:t>
            </a:r>
            <a:r>
              <a:rPr lang="en-US" dirty="0" smtClean="0"/>
              <a:t> class</a:t>
            </a:r>
          </a:p>
          <a:p>
            <a:r>
              <a:rPr lang="en-US" dirty="0" smtClean="0"/>
              <a:t>Types class</a:t>
            </a:r>
          </a:p>
          <a:p>
            <a:endParaRPr lang="en-US" dirty="0"/>
          </a:p>
        </p:txBody>
      </p:sp>
    </p:spTree>
    <p:extLst>
      <p:ext uri="{BB962C8B-B14F-4D97-AF65-F5344CB8AC3E}">
        <p14:creationId xmlns:p14="http://schemas.microsoft.com/office/powerpoint/2010/main" val="3411396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Working of JDBC </a:t>
            </a:r>
            <a:br>
              <a:rPr lang="en-US" b="1" dirty="0" smtClean="0"/>
            </a:br>
            <a:endParaRPr lang="en-US" dirty="0"/>
          </a:p>
        </p:txBody>
      </p:sp>
      <p:sp>
        <p:nvSpPr>
          <p:cNvPr id="3" name="Content Placeholder 2"/>
          <p:cNvSpPr>
            <a:spLocks noGrp="1"/>
          </p:cNvSpPr>
          <p:nvPr>
            <p:ph idx="1"/>
          </p:nvPr>
        </p:nvSpPr>
        <p:spPr/>
        <p:txBody>
          <a:bodyPr/>
          <a:lstStyle/>
          <a:p>
            <a:r>
              <a:rPr lang="en-US" dirty="0" smtClean="0"/>
              <a:t>Java application that needs to communicate with the database has to be programmed using JDBC API. JDBC Driver supporting data sources such as Oracle and SQL server has to be added in java application for JDBC support which can be done dynamically at run time. </a:t>
            </a:r>
          </a:p>
          <a:p>
            <a:r>
              <a:rPr lang="en-US" dirty="0" smtClean="0"/>
              <a:t>This JDBC driver intelligently communicates the respective data source. </a:t>
            </a:r>
          </a:p>
          <a:p>
            <a:endParaRPr lang="en-US" dirty="0"/>
          </a:p>
        </p:txBody>
      </p:sp>
    </p:spTree>
    <p:extLst>
      <p:ext uri="{BB962C8B-B14F-4D97-AF65-F5344CB8AC3E}">
        <p14:creationId xmlns:p14="http://schemas.microsoft.com/office/powerpoint/2010/main" val="2651621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Connecting to a Database</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To connect to a database, we simply have to initialize the driver and open a database connection.</a:t>
            </a:r>
          </a:p>
          <a:p>
            <a:r>
              <a:rPr lang="en-US" b="1" dirty="0" smtClean="0"/>
              <a:t>1. Registering the Driver</a:t>
            </a:r>
          </a:p>
          <a:p>
            <a:r>
              <a:rPr lang="en-US" dirty="0" smtClean="0"/>
              <a:t>For our example, we will use a type 4 database protocol driver.</a:t>
            </a:r>
          </a:p>
          <a:p>
            <a:r>
              <a:rPr lang="en-US" dirty="0" smtClean="0"/>
              <a:t>Since we’re using a MySQL database, we need the </a:t>
            </a:r>
            <a:r>
              <a:rPr lang="en-US" i="1" dirty="0" err="1" smtClean="0">
                <a:hlinkClick r:id="rId2"/>
              </a:rPr>
              <a:t>mysql</a:t>
            </a:r>
            <a:r>
              <a:rPr lang="en-US" i="1" dirty="0" smtClean="0">
                <a:hlinkClick r:id="rId2"/>
              </a:rPr>
              <a:t>-connector-java</a:t>
            </a:r>
            <a:r>
              <a:rPr lang="en-US" dirty="0" smtClean="0"/>
              <a:t> dependency:</a:t>
            </a:r>
          </a:p>
          <a:p>
            <a:r>
              <a:rPr lang="en-US" dirty="0" smtClean="0"/>
              <a:t>Next, let’s register the driver using the </a:t>
            </a:r>
            <a:r>
              <a:rPr lang="en-US" i="1" dirty="0" err="1" smtClean="0"/>
              <a:t>Class.forName</a:t>
            </a:r>
            <a:r>
              <a:rPr lang="en-US" i="1" dirty="0" smtClean="0"/>
              <a:t>()</a:t>
            </a:r>
            <a:r>
              <a:rPr lang="en-US" dirty="0" smtClean="0"/>
              <a:t> method, which dynamically loads the driver class:</a:t>
            </a:r>
          </a:p>
          <a:p>
            <a:r>
              <a:rPr lang="en-US" dirty="0" smtClean="0"/>
              <a:t>In older versions of JDBC, before obtaining a connection, we first had to initialize the JDBC driver by calling the </a:t>
            </a:r>
            <a:r>
              <a:rPr lang="en-US" i="1" dirty="0" err="1" smtClean="0"/>
              <a:t>Class.forName</a:t>
            </a:r>
            <a:r>
              <a:rPr lang="en-US" dirty="0" smtClean="0"/>
              <a:t> method. </a:t>
            </a:r>
            <a:r>
              <a:rPr lang="en-US" dirty="0" smtClean="0">
                <a:hlinkClick r:id="rId3"/>
              </a:rPr>
              <a:t>As of JDBC 4.0</a:t>
            </a:r>
            <a:r>
              <a:rPr lang="en-US" dirty="0" smtClean="0"/>
              <a:t>, </a:t>
            </a:r>
            <a:r>
              <a:rPr lang="en-US" b="1" dirty="0" smtClean="0"/>
              <a:t>all drivers that are found in the </a:t>
            </a:r>
            <a:r>
              <a:rPr lang="en-US" b="1" dirty="0" err="1" smtClean="0"/>
              <a:t>classpath</a:t>
            </a:r>
            <a:r>
              <a:rPr lang="en-US" b="1" dirty="0" smtClean="0"/>
              <a:t> are automatically loaded</a:t>
            </a:r>
            <a:r>
              <a:rPr lang="en-US" dirty="0" smtClean="0"/>
              <a:t>. Therefore, we won’t need this </a:t>
            </a:r>
            <a:r>
              <a:rPr lang="en-US" i="1" dirty="0" err="1" smtClean="0"/>
              <a:t>Class.forName</a:t>
            </a:r>
            <a:r>
              <a:rPr lang="en-US" i="1" dirty="0" smtClean="0"/>
              <a:t> </a:t>
            </a:r>
            <a:r>
              <a:rPr lang="en-US" dirty="0" smtClean="0"/>
              <a:t>part in modern environments.</a:t>
            </a:r>
          </a:p>
          <a:p>
            <a:endParaRPr lang="en-US" dirty="0"/>
          </a:p>
        </p:txBody>
      </p:sp>
    </p:spTree>
    <p:extLst>
      <p:ext uri="{BB962C8B-B14F-4D97-AF65-F5344CB8AC3E}">
        <p14:creationId xmlns:p14="http://schemas.microsoft.com/office/powerpoint/2010/main" val="4108795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Creating the Connection</a:t>
            </a:r>
            <a:br>
              <a:rPr lang="en-US" b="1" dirty="0" smtClean="0"/>
            </a:br>
            <a:endParaRPr lang="en-US" dirty="0"/>
          </a:p>
        </p:txBody>
      </p:sp>
      <p:sp>
        <p:nvSpPr>
          <p:cNvPr id="3" name="Content Placeholder 2"/>
          <p:cNvSpPr>
            <a:spLocks noGrp="1"/>
          </p:cNvSpPr>
          <p:nvPr>
            <p:ph idx="1"/>
          </p:nvPr>
        </p:nvSpPr>
        <p:spPr>
          <a:xfrm>
            <a:off x="838200" y="1009934"/>
            <a:ext cx="10515600" cy="5848066"/>
          </a:xfrm>
        </p:spPr>
        <p:txBody>
          <a:bodyPr>
            <a:normAutofit fontScale="77500" lnSpcReduction="20000"/>
          </a:bodyPr>
          <a:lstStyle/>
          <a:p>
            <a:r>
              <a:rPr lang="en-US" dirty="0" smtClean="0"/>
              <a:t>To open a connection, we can use the </a:t>
            </a:r>
            <a:r>
              <a:rPr lang="en-US" i="1" dirty="0" err="1" smtClean="0"/>
              <a:t>getConnection</a:t>
            </a:r>
            <a:r>
              <a:rPr lang="en-US" i="1" dirty="0" smtClean="0"/>
              <a:t>()</a:t>
            </a:r>
            <a:r>
              <a:rPr lang="en-US" dirty="0" smtClean="0"/>
              <a:t> method of </a:t>
            </a:r>
            <a:r>
              <a:rPr lang="en-US" i="1" dirty="0" err="1" smtClean="0"/>
              <a:t>DriverManager</a:t>
            </a:r>
            <a:r>
              <a:rPr lang="en-US" dirty="0" smtClean="0"/>
              <a:t> class. This method requires a connection URL </a:t>
            </a:r>
            <a:r>
              <a:rPr lang="en-US" i="1" dirty="0" smtClean="0"/>
              <a:t>String </a:t>
            </a:r>
            <a:r>
              <a:rPr lang="en-US" dirty="0" smtClean="0"/>
              <a:t>parameter:</a:t>
            </a:r>
          </a:p>
          <a:p>
            <a:r>
              <a:rPr lang="en-US" dirty="0" smtClean="0"/>
              <a:t>try (Connection con = </a:t>
            </a:r>
            <a:r>
              <a:rPr lang="en-US" dirty="0" err="1" smtClean="0"/>
              <a:t>DriverManager</a:t>
            </a:r>
            <a:endParaRPr lang="en-US" dirty="0" smtClean="0"/>
          </a:p>
          <a:p>
            <a:r>
              <a:rPr lang="en-US" dirty="0" smtClean="0"/>
              <a:t>  .</a:t>
            </a:r>
            <a:r>
              <a:rPr lang="en-US" dirty="0" err="1" smtClean="0"/>
              <a:t>getConnection</a:t>
            </a:r>
            <a:r>
              <a:rPr lang="en-US" dirty="0" smtClean="0"/>
              <a:t>("</a:t>
            </a:r>
            <a:r>
              <a:rPr lang="en-US" dirty="0" err="1" smtClean="0"/>
              <a:t>jdbc:mysql</a:t>
            </a:r>
            <a:r>
              <a:rPr lang="en-US" dirty="0" smtClean="0"/>
              <a:t>://localhost:3306/</a:t>
            </a:r>
            <a:r>
              <a:rPr lang="en-US" dirty="0" err="1" smtClean="0"/>
              <a:t>myDb</a:t>
            </a:r>
            <a:r>
              <a:rPr lang="en-US" dirty="0" smtClean="0"/>
              <a:t>", "user1", "pass")) {</a:t>
            </a:r>
          </a:p>
          <a:p>
            <a:r>
              <a:rPr lang="en-US" dirty="0" smtClean="0"/>
              <a:t>    // use con here</a:t>
            </a:r>
          </a:p>
          <a:p>
            <a:r>
              <a:rPr lang="en-US" dirty="0" smtClean="0"/>
              <a:t>}</a:t>
            </a:r>
          </a:p>
          <a:p>
            <a:r>
              <a:rPr lang="en-US" dirty="0" smtClean="0"/>
              <a:t>Since the Connection is an </a:t>
            </a:r>
            <a:r>
              <a:rPr lang="en-US" dirty="0" err="1" smtClean="0"/>
              <a:t>AutoCloseable</a:t>
            </a:r>
            <a:r>
              <a:rPr lang="en-US" dirty="0" smtClean="0"/>
              <a:t> resource, we should use it inside a try-with-resources block.</a:t>
            </a:r>
          </a:p>
          <a:p>
            <a:endParaRPr lang="en-US" dirty="0" smtClean="0"/>
          </a:p>
          <a:p>
            <a:r>
              <a:rPr lang="en-US" dirty="0" smtClean="0"/>
              <a:t>The syntax of the connection URL depends on the type of database used. Let’s take a look at a few examples:</a:t>
            </a:r>
          </a:p>
          <a:p>
            <a:endParaRPr lang="en-US" dirty="0" smtClean="0"/>
          </a:p>
          <a:p>
            <a:r>
              <a:rPr lang="en-US" dirty="0" err="1" smtClean="0"/>
              <a:t>jdbc:mysql</a:t>
            </a:r>
            <a:r>
              <a:rPr lang="en-US" dirty="0" smtClean="0"/>
              <a:t>://localhost:3306/</a:t>
            </a:r>
            <a:r>
              <a:rPr lang="en-US" dirty="0" err="1" smtClean="0"/>
              <a:t>myDb?user</a:t>
            </a:r>
            <a:r>
              <a:rPr lang="en-US" dirty="0" smtClean="0"/>
              <a:t>=user1&amp;password=pass</a:t>
            </a:r>
          </a:p>
          <a:p>
            <a:endParaRPr lang="en-US" dirty="0" smtClean="0"/>
          </a:p>
          <a:p>
            <a:r>
              <a:rPr lang="en-US" dirty="0" err="1" smtClean="0"/>
              <a:t>jdbc:postgresql</a:t>
            </a:r>
            <a:r>
              <a:rPr lang="en-US" dirty="0" smtClean="0"/>
              <a:t>://</a:t>
            </a:r>
            <a:r>
              <a:rPr lang="en-US" dirty="0" err="1" smtClean="0"/>
              <a:t>localhost</a:t>
            </a:r>
            <a:r>
              <a:rPr lang="en-US" dirty="0" smtClean="0"/>
              <a:t>/</a:t>
            </a:r>
            <a:r>
              <a:rPr lang="en-US" dirty="0" err="1" smtClean="0"/>
              <a:t>myDb</a:t>
            </a:r>
            <a:endParaRPr lang="en-US" dirty="0" smtClean="0"/>
          </a:p>
          <a:p>
            <a:endParaRPr lang="en-US" dirty="0" smtClean="0"/>
          </a:p>
          <a:p>
            <a:r>
              <a:rPr lang="en-US" dirty="0" err="1" smtClean="0"/>
              <a:t>jdbc:hsqldb:mem:myDb</a:t>
            </a:r>
            <a:endParaRPr lang="en-US" dirty="0"/>
          </a:p>
        </p:txBody>
      </p:sp>
    </p:spTree>
    <p:extLst>
      <p:ext uri="{BB962C8B-B14F-4D97-AF65-F5344CB8AC3E}">
        <p14:creationId xmlns:p14="http://schemas.microsoft.com/office/powerpoint/2010/main" val="2369088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a:t>
            </a:r>
            <a:r>
              <a:rPr lang="en-US" baseline="30000" dirty="0" smtClean="0"/>
              <a:t>nd</a:t>
            </a:r>
            <a:r>
              <a:rPr lang="en-US" dirty="0" smtClean="0"/>
              <a:t> cont..</a:t>
            </a:r>
            <a:endParaRPr lang="en-US" dirty="0"/>
          </a:p>
        </p:txBody>
      </p:sp>
      <p:sp>
        <p:nvSpPr>
          <p:cNvPr id="3" name="Content Placeholder 2"/>
          <p:cNvSpPr>
            <a:spLocks noGrp="1"/>
          </p:cNvSpPr>
          <p:nvPr>
            <p:ph idx="1"/>
          </p:nvPr>
        </p:nvSpPr>
        <p:spPr/>
        <p:txBody>
          <a:bodyPr/>
          <a:lstStyle/>
          <a:p>
            <a:r>
              <a:rPr lang="en-US" dirty="0" smtClean="0"/>
              <a:t>To connect to the specified </a:t>
            </a:r>
            <a:r>
              <a:rPr lang="en-US" dirty="0" err="1" smtClean="0"/>
              <a:t>myDb</a:t>
            </a:r>
            <a:r>
              <a:rPr lang="en-US" dirty="0" smtClean="0"/>
              <a:t> database, we will have to create the database and a user, and add grant necessary access:</a:t>
            </a:r>
          </a:p>
          <a:p>
            <a:endParaRPr lang="en-US" dirty="0" smtClean="0"/>
          </a:p>
          <a:p>
            <a:r>
              <a:rPr lang="en-US" dirty="0" smtClean="0"/>
              <a:t>CREATE DATABASE </a:t>
            </a:r>
            <a:r>
              <a:rPr lang="en-US" dirty="0" err="1" smtClean="0"/>
              <a:t>myDb</a:t>
            </a:r>
            <a:r>
              <a:rPr lang="en-US" dirty="0" smtClean="0"/>
              <a:t>;</a:t>
            </a:r>
          </a:p>
          <a:p>
            <a:r>
              <a:rPr lang="en-US" dirty="0" smtClean="0"/>
              <a:t>CREATE USER 'user1' IDENTIFIED BY 'pass';</a:t>
            </a:r>
          </a:p>
          <a:p>
            <a:r>
              <a:rPr lang="en-US" dirty="0" smtClean="0"/>
              <a:t>GRANT ALL on myDb.* TO 'user1';</a:t>
            </a:r>
            <a:endParaRPr lang="en-US" dirty="0"/>
          </a:p>
        </p:txBody>
      </p:sp>
    </p:spTree>
    <p:extLst>
      <p:ext uri="{BB962C8B-B14F-4D97-AF65-F5344CB8AC3E}">
        <p14:creationId xmlns:p14="http://schemas.microsoft.com/office/powerpoint/2010/main" val="744632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Executing SQL Statements</a:t>
            </a:r>
            <a:br>
              <a:rPr lang="en-US" b="1" dirty="0" smtClean="0"/>
            </a:br>
            <a:endParaRPr lang="en-US" dirty="0"/>
          </a:p>
        </p:txBody>
      </p:sp>
      <p:sp>
        <p:nvSpPr>
          <p:cNvPr id="3" name="Content Placeholder 2"/>
          <p:cNvSpPr>
            <a:spLocks noGrp="1"/>
          </p:cNvSpPr>
          <p:nvPr>
            <p:ph idx="1"/>
          </p:nvPr>
        </p:nvSpPr>
        <p:spPr>
          <a:xfrm>
            <a:off x="838200" y="1825624"/>
            <a:ext cx="10515600" cy="4820835"/>
          </a:xfrm>
        </p:spPr>
        <p:txBody>
          <a:bodyPr>
            <a:normAutofit fontScale="70000" lnSpcReduction="20000"/>
          </a:bodyPr>
          <a:lstStyle/>
          <a:p>
            <a:r>
              <a:rPr lang="en-US" dirty="0" smtClean="0"/>
              <a:t>The send SQL instructions to the database, we can use instances of type </a:t>
            </a:r>
            <a:r>
              <a:rPr lang="en-US" i="1" dirty="0" smtClean="0"/>
              <a:t>Statement</a:t>
            </a:r>
            <a:r>
              <a:rPr lang="en-US" dirty="0" smtClean="0"/>
              <a:t>, </a:t>
            </a:r>
            <a:r>
              <a:rPr lang="en-US" i="1" dirty="0" err="1" smtClean="0"/>
              <a:t>PreparedStatement</a:t>
            </a:r>
            <a:r>
              <a:rPr lang="en-US" i="1" dirty="0" smtClean="0"/>
              <a:t>,</a:t>
            </a:r>
            <a:r>
              <a:rPr lang="en-US" dirty="0" smtClean="0"/>
              <a:t> or </a:t>
            </a:r>
            <a:r>
              <a:rPr lang="en-US" i="1" dirty="0" err="1" smtClean="0"/>
              <a:t>CallableStatement</a:t>
            </a:r>
            <a:r>
              <a:rPr lang="en-US" i="1" dirty="0" smtClean="0"/>
              <a:t>, </a:t>
            </a:r>
            <a:r>
              <a:rPr lang="en-US" dirty="0" smtClean="0"/>
              <a:t>which we can obtain using the </a:t>
            </a:r>
            <a:r>
              <a:rPr lang="en-US" i="1" dirty="0" smtClean="0"/>
              <a:t>Connection</a:t>
            </a:r>
            <a:r>
              <a:rPr lang="en-US" dirty="0" smtClean="0"/>
              <a:t> object.</a:t>
            </a:r>
          </a:p>
          <a:p>
            <a:r>
              <a:rPr lang="en-US" b="1" i="1" dirty="0" smtClean="0"/>
              <a:t>Statement</a:t>
            </a:r>
            <a:endParaRPr lang="en-US" b="1" dirty="0" smtClean="0"/>
          </a:p>
          <a:p>
            <a:r>
              <a:rPr lang="en-US" dirty="0" smtClean="0"/>
              <a:t>The </a:t>
            </a:r>
            <a:r>
              <a:rPr lang="en-US" i="1" dirty="0" smtClean="0"/>
              <a:t>Statement</a:t>
            </a:r>
            <a:r>
              <a:rPr lang="en-US" dirty="0" smtClean="0"/>
              <a:t> interface contains the essential functions for executing SQL commands.</a:t>
            </a:r>
          </a:p>
          <a:p>
            <a:r>
              <a:rPr lang="en-US" dirty="0" smtClean="0"/>
              <a:t>First, let’s create a Statement object:</a:t>
            </a:r>
          </a:p>
          <a:p>
            <a:endParaRPr lang="en-US" dirty="0" smtClean="0"/>
          </a:p>
          <a:p>
            <a:r>
              <a:rPr lang="en-US" dirty="0" smtClean="0"/>
              <a:t>try (Statement </a:t>
            </a:r>
            <a:r>
              <a:rPr lang="en-US" dirty="0" err="1" smtClean="0"/>
              <a:t>stmt</a:t>
            </a:r>
            <a:r>
              <a:rPr lang="en-US" dirty="0" smtClean="0"/>
              <a:t> = </a:t>
            </a:r>
            <a:r>
              <a:rPr lang="en-US" dirty="0" err="1" smtClean="0"/>
              <a:t>con.createStatement</a:t>
            </a:r>
            <a:r>
              <a:rPr lang="en-US" dirty="0" smtClean="0"/>
              <a:t>()) {</a:t>
            </a:r>
          </a:p>
          <a:p>
            <a:r>
              <a:rPr lang="en-US" dirty="0" smtClean="0"/>
              <a:t>    // use </a:t>
            </a:r>
            <a:r>
              <a:rPr lang="en-US" dirty="0" err="1" smtClean="0"/>
              <a:t>stmt</a:t>
            </a:r>
            <a:r>
              <a:rPr lang="en-US" dirty="0" smtClean="0"/>
              <a:t> here</a:t>
            </a:r>
          </a:p>
          <a:p>
            <a:r>
              <a:rPr lang="en-US" dirty="0" smtClean="0"/>
              <a:t>}</a:t>
            </a:r>
          </a:p>
          <a:p>
            <a:r>
              <a:rPr lang="en-US" dirty="0" smtClean="0"/>
              <a:t>Again, we should work with Statements inside a try-with-resources block for automatic resource management.</a:t>
            </a:r>
          </a:p>
          <a:p>
            <a:r>
              <a:rPr lang="en-US" dirty="0" smtClean="0"/>
              <a:t>Anyway, executing SQL instructions can be done through the use of three methods:</a:t>
            </a:r>
          </a:p>
          <a:p>
            <a:r>
              <a:rPr lang="en-US" dirty="0" smtClean="0"/>
              <a:t>    </a:t>
            </a:r>
            <a:r>
              <a:rPr lang="en-US" dirty="0" err="1" smtClean="0"/>
              <a:t>executeQuery</a:t>
            </a:r>
            <a:r>
              <a:rPr lang="en-US" dirty="0" smtClean="0"/>
              <a:t>() for SELECT instructions</a:t>
            </a:r>
          </a:p>
          <a:p>
            <a:r>
              <a:rPr lang="en-US" dirty="0" smtClean="0"/>
              <a:t>    </a:t>
            </a:r>
            <a:r>
              <a:rPr lang="en-US" dirty="0" err="1" smtClean="0"/>
              <a:t>executeUpdate</a:t>
            </a:r>
            <a:r>
              <a:rPr lang="en-US" dirty="0" smtClean="0"/>
              <a:t>() for updating the data or the database structure</a:t>
            </a:r>
          </a:p>
          <a:p>
            <a:r>
              <a:rPr lang="en-US" dirty="0" smtClean="0"/>
              <a:t>    execute() can be used for both cases above when the result is unknown</a:t>
            </a:r>
          </a:p>
          <a:p>
            <a:endParaRPr lang="en-US" dirty="0"/>
          </a:p>
        </p:txBody>
      </p:sp>
    </p:spTree>
    <p:extLst>
      <p:ext uri="{BB962C8B-B14F-4D97-AF65-F5344CB8AC3E}">
        <p14:creationId xmlns:p14="http://schemas.microsoft.com/office/powerpoint/2010/main" val="2722969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r>
              <a:rPr lang="en-US" dirty="0" smtClean="0"/>
              <a:t>Let’s use the execute() method to add a students table to our database:</a:t>
            </a:r>
          </a:p>
          <a:p>
            <a:endParaRPr lang="en-US" dirty="0" smtClean="0"/>
          </a:p>
          <a:p>
            <a:r>
              <a:rPr lang="en-US" dirty="0" smtClean="0"/>
              <a:t>String </a:t>
            </a:r>
            <a:r>
              <a:rPr lang="en-US" dirty="0" err="1" smtClean="0"/>
              <a:t>tableSql</a:t>
            </a:r>
            <a:r>
              <a:rPr lang="en-US" dirty="0" smtClean="0"/>
              <a:t> = "CREATE TABLE IF NOT EXISTS employees" </a:t>
            </a:r>
          </a:p>
          <a:p>
            <a:r>
              <a:rPr lang="en-US" dirty="0" smtClean="0"/>
              <a:t>  + "(</a:t>
            </a:r>
            <a:r>
              <a:rPr lang="en-US" dirty="0" err="1" smtClean="0"/>
              <a:t>emp_id</a:t>
            </a:r>
            <a:r>
              <a:rPr lang="en-US" dirty="0" smtClean="0"/>
              <a:t> </a:t>
            </a:r>
            <a:r>
              <a:rPr lang="en-US" dirty="0" err="1" smtClean="0"/>
              <a:t>int</a:t>
            </a:r>
            <a:r>
              <a:rPr lang="en-US" dirty="0" smtClean="0"/>
              <a:t> PRIMARY KEY AUTO_INCREMENT, name </a:t>
            </a:r>
            <a:r>
              <a:rPr lang="en-US" dirty="0" err="1" smtClean="0"/>
              <a:t>varchar</a:t>
            </a:r>
            <a:r>
              <a:rPr lang="en-US" dirty="0" smtClean="0"/>
              <a:t>(30),"</a:t>
            </a:r>
          </a:p>
          <a:p>
            <a:r>
              <a:rPr lang="en-US" dirty="0" smtClean="0"/>
              <a:t>  + "position </a:t>
            </a:r>
            <a:r>
              <a:rPr lang="en-US" dirty="0" err="1" smtClean="0"/>
              <a:t>varchar</a:t>
            </a:r>
            <a:r>
              <a:rPr lang="en-US" dirty="0" smtClean="0"/>
              <a:t>(30), salary double)";</a:t>
            </a:r>
          </a:p>
          <a:p>
            <a:r>
              <a:rPr lang="en-US" dirty="0" err="1" smtClean="0"/>
              <a:t>stmt.execute</a:t>
            </a:r>
            <a:r>
              <a:rPr lang="en-US" dirty="0" smtClean="0"/>
              <a:t>(</a:t>
            </a:r>
            <a:r>
              <a:rPr lang="en-US" dirty="0" err="1" smtClean="0"/>
              <a:t>tableSql</a:t>
            </a:r>
            <a:r>
              <a:rPr lang="en-US" dirty="0" smtClean="0"/>
              <a:t>);</a:t>
            </a:r>
            <a:endParaRPr lang="en-US" dirty="0"/>
          </a:p>
        </p:txBody>
      </p:sp>
    </p:spTree>
    <p:extLst>
      <p:ext uri="{BB962C8B-B14F-4D97-AF65-F5344CB8AC3E}">
        <p14:creationId xmlns:p14="http://schemas.microsoft.com/office/powerpoint/2010/main" val="2109384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b="1" dirty="0" smtClean="0"/>
              <a:t>When using the </a:t>
            </a:r>
            <a:r>
              <a:rPr lang="en-US" b="1" i="1" dirty="0" smtClean="0"/>
              <a:t>execute()</a:t>
            </a:r>
            <a:r>
              <a:rPr lang="en-US" b="1" dirty="0" smtClean="0"/>
              <a:t> method to update the data, then the </a:t>
            </a:r>
            <a:r>
              <a:rPr lang="en-US" b="1" i="1" dirty="0" err="1" smtClean="0"/>
              <a:t>stmt.getUpdateCount</a:t>
            </a:r>
            <a:r>
              <a:rPr lang="en-US" b="1" i="1" dirty="0" smtClean="0"/>
              <a:t>()</a:t>
            </a:r>
            <a:r>
              <a:rPr lang="en-US" b="1" dirty="0" smtClean="0"/>
              <a:t> method returns the number of rows affected.</a:t>
            </a:r>
            <a:endParaRPr lang="en-US" dirty="0" smtClean="0"/>
          </a:p>
          <a:p>
            <a:r>
              <a:rPr lang="en-US" dirty="0" smtClean="0"/>
              <a:t>If the result is 0 then either no rows were affected, or it was a database structure update command.</a:t>
            </a:r>
          </a:p>
          <a:p>
            <a:r>
              <a:rPr lang="en-US" dirty="0" smtClean="0"/>
              <a:t>If the value is -1, then the command was a SELECT query; we can then obtain the result using </a:t>
            </a:r>
            <a:r>
              <a:rPr lang="en-US" i="1" dirty="0" err="1" smtClean="0"/>
              <a:t>stmt.getResultSet</a:t>
            </a:r>
            <a:r>
              <a:rPr lang="en-US" i="1" dirty="0" smtClean="0"/>
              <a:t>()</a:t>
            </a:r>
            <a:r>
              <a:rPr lang="en-US" dirty="0" smtClean="0"/>
              <a:t>.</a:t>
            </a:r>
          </a:p>
          <a:p>
            <a:r>
              <a:rPr lang="en-US" dirty="0" smtClean="0"/>
              <a:t>Next, let’s add a record to our table using the </a:t>
            </a:r>
            <a:r>
              <a:rPr lang="en-US" i="1" dirty="0" err="1" smtClean="0"/>
              <a:t>executeUpdate</a:t>
            </a:r>
            <a:r>
              <a:rPr lang="en-US" i="1" dirty="0" smtClean="0"/>
              <a:t>()</a:t>
            </a:r>
            <a:r>
              <a:rPr lang="en-US" dirty="0" smtClean="0"/>
              <a:t> method</a:t>
            </a:r>
          </a:p>
          <a:p>
            <a:endParaRPr lang="en-US" dirty="0"/>
          </a:p>
        </p:txBody>
      </p:sp>
    </p:spTree>
    <p:extLst>
      <p:ext uri="{BB962C8B-B14F-4D97-AF65-F5344CB8AC3E}">
        <p14:creationId xmlns:p14="http://schemas.microsoft.com/office/powerpoint/2010/main" val="366549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CallableStatement</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To create a </a:t>
            </a:r>
            <a:r>
              <a:rPr lang="en-US" dirty="0" err="1" smtClean="0"/>
              <a:t>CallableStatement</a:t>
            </a:r>
            <a:r>
              <a:rPr lang="en-US" dirty="0" smtClean="0"/>
              <a:t> object, we can use the </a:t>
            </a:r>
            <a:r>
              <a:rPr lang="en-US" dirty="0" err="1" smtClean="0"/>
              <a:t>prepareCall</a:t>
            </a:r>
            <a:r>
              <a:rPr lang="en-US" dirty="0" smtClean="0"/>
              <a:t>() method of Connection:</a:t>
            </a:r>
          </a:p>
          <a:p>
            <a:endParaRPr lang="en-US" dirty="0" smtClean="0"/>
          </a:p>
          <a:p>
            <a:r>
              <a:rPr lang="en-US" dirty="0" smtClean="0"/>
              <a:t>String </a:t>
            </a:r>
            <a:r>
              <a:rPr lang="en-US" dirty="0" err="1" smtClean="0"/>
              <a:t>preparedSql</a:t>
            </a:r>
            <a:r>
              <a:rPr lang="en-US" dirty="0" smtClean="0"/>
              <a:t> = "{call </a:t>
            </a:r>
            <a:r>
              <a:rPr lang="en-US" dirty="0" err="1" smtClean="0"/>
              <a:t>insertEmployee</a:t>
            </a:r>
            <a:r>
              <a:rPr lang="en-US" dirty="0" smtClean="0"/>
              <a:t>(?,?,?,?)}";</a:t>
            </a:r>
          </a:p>
          <a:p>
            <a:r>
              <a:rPr lang="en-US" dirty="0" smtClean="0"/>
              <a:t>try (</a:t>
            </a:r>
            <a:r>
              <a:rPr lang="en-US" dirty="0" err="1" smtClean="0"/>
              <a:t>CallableStatement</a:t>
            </a:r>
            <a:r>
              <a:rPr lang="en-US" dirty="0" smtClean="0"/>
              <a:t> </a:t>
            </a:r>
            <a:r>
              <a:rPr lang="en-US" dirty="0" err="1" smtClean="0"/>
              <a:t>cstmt</a:t>
            </a:r>
            <a:r>
              <a:rPr lang="en-US" dirty="0" smtClean="0"/>
              <a:t> = </a:t>
            </a:r>
            <a:r>
              <a:rPr lang="en-US" dirty="0" err="1" smtClean="0"/>
              <a:t>con.prepareCall</a:t>
            </a:r>
            <a:r>
              <a:rPr lang="en-US" dirty="0" smtClean="0"/>
              <a:t>(</a:t>
            </a:r>
            <a:r>
              <a:rPr lang="en-US" dirty="0" err="1" smtClean="0"/>
              <a:t>preparedSql</a:t>
            </a:r>
            <a:r>
              <a:rPr lang="en-US" dirty="0" smtClean="0"/>
              <a:t>)) {</a:t>
            </a:r>
          </a:p>
          <a:p>
            <a:r>
              <a:rPr lang="en-US" dirty="0" smtClean="0"/>
              <a:t>    // use </a:t>
            </a:r>
            <a:r>
              <a:rPr lang="en-US" dirty="0" err="1" smtClean="0"/>
              <a:t>cstmt</a:t>
            </a:r>
            <a:r>
              <a:rPr lang="en-US" dirty="0" smtClean="0"/>
              <a:t> here</a:t>
            </a:r>
          </a:p>
          <a:p>
            <a:r>
              <a:rPr lang="en-US" dirty="0" smtClean="0"/>
              <a:t>}</a:t>
            </a:r>
          </a:p>
          <a:p>
            <a:r>
              <a:rPr lang="en-US" dirty="0" smtClean="0"/>
              <a:t>Setting input parameter values for the stored procedure is done like in the </a:t>
            </a:r>
            <a:r>
              <a:rPr lang="en-US" dirty="0" err="1" smtClean="0"/>
              <a:t>PreparedStatement</a:t>
            </a:r>
            <a:r>
              <a:rPr lang="en-US" dirty="0" smtClean="0"/>
              <a:t> interface, using </a:t>
            </a:r>
            <a:r>
              <a:rPr lang="en-US" dirty="0" err="1" smtClean="0"/>
              <a:t>setX</a:t>
            </a:r>
            <a:r>
              <a:rPr lang="en-US" dirty="0" smtClean="0"/>
              <a:t>() methods:</a:t>
            </a:r>
          </a:p>
          <a:p>
            <a:r>
              <a:rPr lang="en-US" dirty="0" err="1" smtClean="0"/>
              <a:t>cstmt.setString</a:t>
            </a:r>
            <a:r>
              <a:rPr lang="en-US" dirty="0" smtClean="0"/>
              <a:t>(2, "</a:t>
            </a:r>
            <a:r>
              <a:rPr lang="en-US" dirty="0" err="1" smtClean="0"/>
              <a:t>ana</a:t>
            </a:r>
            <a:r>
              <a:rPr lang="en-US" dirty="0" smtClean="0"/>
              <a:t>");</a:t>
            </a:r>
          </a:p>
          <a:p>
            <a:r>
              <a:rPr lang="en-US" dirty="0" err="1" smtClean="0"/>
              <a:t>cstmt.setString</a:t>
            </a:r>
            <a:r>
              <a:rPr lang="en-US" dirty="0" smtClean="0"/>
              <a:t>(3, "tester");</a:t>
            </a:r>
          </a:p>
          <a:p>
            <a:r>
              <a:rPr lang="en-US" dirty="0" err="1" smtClean="0"/>
              <a:t>cstmt.setDouble</a:t>
            </a:r>
            <a:r>
              <a:rPr lang="en-US" dirty="0" smtClean="0"/>
              <a:t>(4, 2000);</a:t>
            </a:r>
            <a:endParaRPr lang="en-US" dirty="0"/>
          </a:p>
        </p:txBody>
      </p:sp>
    </p:spTree>
    <p:extLst>
      <p:ext uri="{BB962C8B-B14F-4D97-AF65-F5344CB8AC3E}">
        <p14:creationId xmlns:p14="http://schemas.microsoft.com/office/powerpoint/2010/main" val="1907304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854" y="174245"/>
            <a:ext cx="10515600" cy="1325563"/>
          </a:xfrm>
        </p:spPr>
        <p:txBody>
          <a:bodyPr/>
          <a:lstStyle/>
          <a:p>
            <a:r>
              <a:rPr lang="en-US" dirty="0" smtClean="0"/>
              <a:t>Example </a:t>
            </a:r>
            <a:endParaRPr lang="en-US" dirty="0"/>
          </a:p>
        </p:txBody>
      </p:sp>
      <p:sp>
        <p:nvSpPr>
          <p:cNvPr id="3" name="Content Placeholder 2"/>
          <p:cNvSpPr>
            <a:spLocks noGrp="1"/>
          </p:cNvSpPr>
          <p:nvPr>
            <p:ph idx="1"/>
          </p:nvPr>
        </p:nvSpPr>
        <p:spPr>
          <a:xfrm>
            <a:off x="205854" y="1289060"/>
            <a:ext cx="5890146" cy="5071494"/>
          </a:xfrm>
        </p:spPr>
        <p:style>
          <a:lnRef idx="2">
            <a:schemeClr val="accent2"/>
          </a:lnRef>
          <a:fillRef idx="1">
            <a:schemeClr val="lt1"/>
          </a:fillRef>
          <a:effectRef idx="0">
            <a:schemeClr val="accent2"/>
          </a:effectRef>
          <a:fontRef idx="minor">
            <a:schemeClr val="dk1"/>
          </a:fontRef>
        </p:style>
        <p:txBody>
          <a:bodyPr>
            <a:normAutofit fontScale="70000" lnSpcReduction="20000"/>
          </a:bodyPr>
          <a:lstStyle/>
          <a:p>
            <a:r>
              <a:rPr lang="en-US" dirty="0" smtClean="0"/>
              <a:t>import </a:t>
            </a:r>
            <a:r>
              <a:rPr lang="en-US" dirty="0" err="1" smtClean="0"/>
              <a:t>java.sql</a:t>
            </a:r>
            <a:r>
              <a:rPr lang="en-US" dirty="0" smtClean="0"/>
              <a:t>.*;</a:t>
            </a:r>
          </a:p>
          <a:p>
            <a:r>
              <a:rPr lang="en-US" dirty="0" smtClean="0"/>
              <a:t> </a:t>
            </a:r>
          </a:p>
          <a:p>
            <a:r>
              <a:rPr lang="en-US" dirty="0" smtClean="0"/>
              <a:t>public class </a:t>
            </a:r>
            <a:r>
              <a:rPr lang="en-US" dirty="0" err="1" smtClean="0"/>
              <a:t>JDBCDemo</a:t>
            </a:r>
            <a:r>
              <a:rPr lang="en-US" dirty="0" smtClean="0"/>
              <a:t> {</a:t>
            </a:r>
          </a:p>
          <a:p>
            <a:r>
              <a:rPr lang="en-US" dirty="0" smtClean="0"/>
              <a:t>   </a:t>
            </a:r>
          </a:p>
          <a:p>
            <a:r>
              <a:rPr lang="en-US" dirty="0" smtClean="0"/>
              <a:t>    public static void main(String </a:t>
            </a:r>
            <a:r>
              <a:rPr lang="en-US" dirty="0" err="1" smtClean="0"/>
              <a:t>args</a:t>
            </a:r>
            <a:r>
              <a:rPr lang="en-US" dirty="0" smtClean="0"/>
              <a:t>[])</a:t>
            </a:r>
          </a:p>
          <a:p>
            <a:r>
              <a:rPr lang="en-US" dirty="0" smtClean="0"/>
              <a:t>        throws </a:t>
            </a:r>
            <a:r>
              <a:rPr lang="en-US" dirty="0" err="1" smtClean="0"/>
              <a:t>SQLException</a:t>
            </a:r>
            <a:r>
              <a:rPr lang="en-US" dirty="0" smtClean="0"/>
              <a:t>, </a:t>
            </a:r>
            <a:r>
              <a:rPr lang="en-US" dirty="0" err="1" smtClean="0"/>
              <a:t>ClassNotFoundException</a:t>
            </a:r>
            <a:endParaRPr lang="en-US" dirty="0" smtClean="0"/>
          </a:p>
          <a:p>
            <a:r>
              <a:rPr lang="en-US" dirty="0" smtClean="0"/>
              <a:t>    {</a:t>
            </a:r>
          </a:p>
          <a:p>
            <a:r>
              <a:rPr lang="en-US" dirty="0" smtClean="0"/>
              <a:t>        String </a:t>
            </a:r>
            <a:r>
              <a:rPr lang="en-US" dirty="0" err="1" smtClean="0"/>
              <a:t>driverClassName</a:t>
            </a:r>
            <a:endParaRPr lang="en-US" dirty="0" smtClean="0"/>
          </a:p>
          <a:p>
            <a:r>
              <a:rPr lang="en-US" dirty="0" smtClean="0"/>
              <a:t>            = "</a:t>
            </a:r>
            <a:r>
              <a:rPr lang="en-US" dirty="0" err="1" smtClean="0"/>
              <a:t>sun.jdbc.odbc.JdbcOdbcDriver</a:t>
            </a:r>
            <a:r>
              <a:rPr lang="en-US" dirty="0" smtClean="0"/>
              <a:t>";</a:t>
            </a:r>
          </a:p>
          <a:p>
            <a:r>
              <a:rPr lang="en-US" dirty="0" smtClean="0"/>
              <a:t>        String </a:t>
            </a:r>
            <a:r>
              <a:rPr lang="en-US" dirty="0" err="1" smtClean="0"/>
              <a:t>url</a:t>
            </a:r>
            <a:r>
              <a:rPr lang="en-US" dirty="0" smtClean="0"/>
              <a:t> = "</a:t>
            </a:r>
            <a:r>
              <a:rPr lang="en-US" dirty="0" err="1" smtClean="0"/>
              <a:t>jdbc:odbc:XE</a:t>
            </a:r>
            <a:r>
              <a:rPr lang="en-US" dirty="0" smtClean="0"/>
              <a:t>";</a:t>
            </a:r>
          </a:p>
          <a:p>
            <a:r>
              <a:rPr lang="en-US" dirty="0" smtClean="0"/>
              <a:t>        String username = "</a:t>
            </a:r>
            <a:r>
              <a:rPr lang="en-US" dirty="0" err="1" smtClean="0"/>
              <a:t>scott</a:t>
            </a:r>
            <a:r>
              <a:rPr lang="en-US" dirty="0" smtClean="0"/>
              <a:t>";</a:t>
            </a:r>
          </a:p>
          <a:p>
            <a:r>
              <a:rPr lang="en-US" dirty="0" smtClean="0"/>
              <a:t>        String password = "tiger";</a:t>
            </a:r>
          </a:p>
          <a:p>
            <a:r>
              <a:rPr lang="en-US" dirty="0" smtClean="0"/>
              <a:t>        String query</a:t>
            </a:r>
          </a:p>
          <a:p>
            <a:r>
              <a:rPr lang="en-US" dirty="0" smtClean="0"/>
              <a:t>            = "insert into students values(109, '</a:t>
            </a:r>
            <a:r>
              <a:rPr lang="en-US" dirty="0" err="1" smtClean="0"/>
              <a:t>bhatt</a:t>
            </a:r>
            <a:r>
              <a:rPr lang="en-US" dirty="0" smtClean="0"/>
              <a:t>')";</a:t>
            </a:r>
          </a:p>
          <a:p>
            <a:r>
              <a:rPr lang="en-US" dirty="0" smtClean="0"/>
              <a:t> </a:t>
            </a:r>
          </a:p>
        </p:txBody>
      </p:sp>
      <p:sp>
        <p:nvSpPr>
          <p:cNvPr id="4" name="TextBox 3"/>
          <p:cNvSpPr txBox="1"/>
          <p:nvPr/>
        </p:nvSpPr>
        <p:spPr>
          <a:xfrm>
            <a:off x="6096000" y="451244"/>
            <a:ext cx="5909480" cy="59093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smtClean="0"/>
              <a:t> // Load driver class</a:t>
            </a:r>
          </a:p>
          <a:p>
            <a:r>
              <a:rPr lang="en-US" dirty="0" smtClean="0"/>
              <a:t>        </a:t>
            </a:r>
            <a:r>
              <a:rPr lang="en-US" dirty="0" err="1" smtClean="0"/>
              <a:t>Class.forName</a:t>
            </a:r>
            <a:r>
              <a:rPr lang="en-US" dirty="0" smtClean="0"/>
              <a:t>(</a:t>
            </a:r>
            <a:r>
              <a:rPr lang="en-US" dirty="0" err="1" smtClean="0"/>
              <a:t>driverClassName</a:t>
            </a:r>
            <a:r>
              <a:rPr lang="en-US" dirty="0" smtClean="0"/>
              <a:t>);</a:t>
            </a:r>
          </a:p>
          <a:p>
            <a:r>
              <a:rPr lang="en-US" dirty="0" smtClean="0"/>
              <a:t> </a:t>
            </a:r>
          </a:p>
          <a:p>
            <a:r>
              <a:rPr lang="en-US" dirty="0" smtClean="0"/>
              <a:t>        // Obtain a connection</a:t>
            </a:r>
          </a:p>
          <a:p>
            <a:r>
              <a:rPr lang="en-US" dirty="0" smtClean="0"/>
              <a:t>        Connection con = </a:t>
            </a:r>
            <a:r>
              <a:rPr lang="en-US" dirty="0" err="1" smtClean="0"/>
              <a:t>DriverManager.getConnection</a:t>
            </a:r>
            <a:r>
              <a:rPr lang="en-US" dirty="0" smtClean="0"/>
              <a:t>(</a:t>
            </a:r>
          </a:p>
          <a:p>
            <a:r>
              <a:rPr lang="en-US" dirty="0" smtClean="0"/>
              <a:t>            </a:t>
            </a:r>
            <a:r>
              <a:rPr lang="en-US" dirty="0" err="1" smtClean="0"/>
              <a:t>url</a:t>
            </a:r>
            <a:r>
              <a:rPr lang="en-US" dirty="0" smtClean="0"/>
              <a:t>, username, password);</a:t>
            </a:r>
          </a:p>
          <a:p>
            <a:r>
              <a:rPr lang="en-US" dirty="0" smtClean="0"/>
              <a:t> </a:t>
            </a:r>
          </a:p>
          <a:p>
            <a:r>
              <a:rPr lang="en-US" dirty="0" smtClean="0"/>
              <a:t>        // Obtain a statement</a:t>
            </a:r>
          </a:p>
          <a:p>
            <a:r>
              <a:rPr lang="en-US" dirty="0" smtClean="0"/>
              <a:t>        Statement </a:t>
            </a:r>
            <a:r>
              <a:rPr lang="en-US" dirty="0" err="1" smtClean="0"/>
              <a:t>st</a:t>
            </a:r>
            <a:r>
              <a:rPr lang="en-US" dirty="0" smtClean="0"/>
              <a:t> = </a:t>
            </a:r>
            <a:r>
              <a:rPr lang="en-US" dirty="0" err="1" smtClean="0"/>
              <a:t>con.createStatement</a:t>
            </a:r>
            <a:r>
              <a:rPr lang="en-US" dirty="0" smtClean="0"/>
              <a:t>();</a:t>
            </a:r>
          </a:p>
          <a:p>
            <a:r>
              <a:rPr lang="en-US" dirty="0" smtClean="0"/>
              <a:t> </a:t>
            </a:r>
          </a:p>
          <a:p>
            <a:r>
              <a:rPr lang="en-US" dirty="0" smtClean="0"/>
              <a:t>        // Execute the query</a:t>
            </a:r>
          </a:p>
          <a:p>
            <a:r>
              <a:rPr lang="en-US" dirty="0" smtClean="0"/>
              <a:t>        </a:t>
            </a:r>
            <a:r>
              <a:rPr lang="en-US" dirty="0" err="1" smtClean="0"/>
              <a:t>int</a:t>
            </a:r>
            <a:r>
              <a:rPr lang="en-US" dirty="0" smtClean="0"/>
              <a:t> count = </a:t>
            </a:r>
            <a:r>
              <a:rPr lang="en-US" dirty="0" err="1" smtClean="0"/>
              <a:t>st.executeUpdate</a:t>
            </a:r>
            <a:r>
              <a:rPr lang="en-US" dirty="0" smtClean="0"/>
              <a:t>(query);</a:t>
            </a:r>
          </a:p>
          <a:p>
            <a:r>
              <a:rPr lang="en-US" dirty="0" smtClean="0"/>
              <a:t>        </a:t>
            </a:r>
            <a:r>
              <a:rPr lang="en-US" dirty="0" err="1" smtClean="0"/>
              <a:t>System.out.println</a:t>
            </a:r>
            <a:r>
              <a:rPr lang="en-US" dirty="0" smtClean="0"/>
              <a:t>(</a:t>
            </a:r>
          </a:p>
          <a:p>
            <a:r>
              <a:rPr lang="en-US" dirty="0" smtClean="0"/>
              <a:t>            "number of rows affected by this query= "</a:t>
            </a:r>
          </a:p>
          <a:p>
            <a:r>
              <a:rPr lang="en-US" dirty="0" smtClean="0"/>
              <a:t>            + count);</a:t>
            </a:r>
          </a:p>
          <a:p>
            <a:r>
              <a:rPr lang="en-US" dirty="0" smtClean="0"/>
              <a:t> </a:t>
            </a:r>
          </a:p>
          <a:p>
            <a:r>
              <a:rPr lang="en-US" dirty="0" smtClean="0"/>
              <a:t>        // Closing the connection as per the</a:t>
            </a:r>
          </a:p>
          <a:p>
            <a:r>
              <a:rPr lang="en-US" dirty="0" smtClean="0"/>
              <a:t>        // requirement with connection is completed</a:t>
            </a:r>
          </a:p>
          <a:p>
            <a:r>
              <a:rPr lang="en-US" dirty="0" smtClean="0"/>
              <a:t>        </a:t>
            </a:r>
            <a:r>
              <a:rPr lang="en-US" dirty="0" err="1" smtClean="0"/>
              <a:t>con.close</a:t>
            </a:r>
            <a:r>
              <a:rPr lang="en-US" dirty="0" smtClean="0"/>
              <a:t>();</a:t>
            </a:r>
          </a:p>
          <a:p>
            <a:r>
              <a:rPr lang="en-US" dirty="0" smtClean="0"/>
              <a:t>    }</a:t>
            </a:r>
          </a:p>
          <a:p>
            <a:r>
              <a:rPr lang="en-US" dirty="0" smtClean="0"/>
              <a:t>} // class</a:t>
            </a:r>
            <a:endParaRPr lang="en-US" dirty="0"/>
          </a:p>
        </p:txBody>
      </p:sp>
    </p:spTree>
    <p:extLst>
      <p:ext uri="{BB962C8B-B14F-4D97-AF65-F5344CB8AC3E}">
        <p14:creationId xmlns:p14="http://schemas.microsoft.com/office/powerpoint/2010/main" val="239771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Java Database Connectivity with Oracle</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To connect java application with the oracle database, we need to follow 5 following steps. In this example, we are using Oracle 10g as the database. So we need to know following information for the oracle database: </a:t>
            </a:r>
            <a:r>
              <a:rPr lang="en-US" b="1" dirty="0" smtClean="0"/>
              <a:t>Driver class: </a:t>
            </a:r>
            <a:r>
              <a:rPr lang="en-US" dirty="0" smtClean="0"/>
              <a:t>The driver class for the oracle database is </a:t>
            </a:r>
            <a:r>
              <a:rPr lang="en-US" b="1" dirty="0" err="1" smtClean="0"/>
              <a:t>oracle.jdbc.driver.OracleDriver</a:t>
            </a:r>
            <a:r>
              <a:rPr lang="en-US" dirty="0" smtClean="0"/>
              <a:t>.</a:t>
            </a:r>
          </a:p>
          <a:p>
            <a:r>
              <a:rPr lang="en-US" b="1" dirty="0" smtClean="0"/>
              <a:t>Connection URL: </a:t>
            </a:r>
            <a:r>
              <a:rPr lang="en-US" dirty="0" smtClean="0"/>
              <a:t>The connection URL for the oracle10G database is </a:t>
            </a:r>
            <a:r>
              <a:rPr lang="en-US" b="1" dirty="0" err="1" smtClean="0"/>
              <a:t>jdbc:oracle:thin</a:t>
            </a:r>
            <a:r>
              <a:rPr lang="en-US" b="1" dirty="0" smtClean="0"/>
              <a:t>:@localhost:1521:xe</a:t>
            </a:r>
            <a:r>
              <a:rPr lang="en-US" dirty="0" smtClean="0"/>
              <a:t> where </a:t>
            </a:r>
            <a:r>
              <a:rPr lang="en-US" dirty="0" err="1" smtClean="0"/>
              <a:t>jdbc</a:t>
            </a:r>
            <a:r>
              <a:rPr lang="en-US" dirty="0" smtClean="0"/>
              <a:t> is the API, oracle is the database, thin is the driver, </a:t>
            </a:r>
            <a:r>
              <a:rPr lang="en-US" dirty="0" err="1" smtClean="0"/>
              <a:t>localhost</a:t>
            </a:r>
            <a:r>
              <a:rPr lang="en-US" dirty="0" smtClean="0"/>
              <a:t> is the server name on which oracle is running, we may also use IP address, 1521 is the port number and XE is the Oracle service name. You may get all these information from the </a:t>
            </a:r>
            <a:r>
              <a:rPr lang="en-US" dirty="0" err="1" smtClean="0"/>
              <a:t>tnsnames.ora</a:t>
            </a:r>
            <a:r>
              <a:rPr lang="en-US" dirty="0" smtClean="0"/>
              <a:t> file. </a:t>
            </a:r>
          </a:p>
          <a:p>
            <a:r>
              <a:rPr lang="en-US" b="1" dirty="0" smtClean="0"/>
              <a:t>Username: </a:t>
            </a:r>
            <a:r>
              <a:rPr lang="en-US" dirty="0" smtClean="0"/>
              <a:t>The default username for the oracle database is </a:t>
            </a:r>
            <a:r>
              <a:rPr lang="en-US" b="1" dirty="0" smtClean="0"/>
              <a:t>system</a:t>
            </a:r>
            <a:r>
              <a:rPr lang="en-US" dirty="0" smtClean="0"/>
              <a:t>.</a:t>
            </a:r>
          </a:p>
          <a:p>
            <a:r>
              <a:rPr lang="en-US" b="1" dirty="0" smtClean="0"/>
              <a:t>Password: </a:t>
            </a:r>
            <a:r>
              <a:rPr lang="en-US" dirty="0" smtClean="0"/>
              <a:t>It is the password given by the user at the time of installing the oracle database.</a:t>
            </a:r>
          </a:p>
          <a:p>
            <a:endParaRPr lang="en-US" dirty="0"/>
          </a:p>
        </p:txBody>
      </p:sp>
    </p:spTree>
    <p:extLst>
      <p:ext uri="{BB962C8B-B14F-4D97-AF65-F5344CB8AC3E}">
        <p14:creationId xmlns:p14="http://schemas.microsoft.com/office/powerpoint/2010/main" val="76067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Create a Table</a:t>
            </a:r>
            <a:br>
              <a:rPr lang="en-US" b="1" dirty="0" smtClean="0"/>
            </a:br>
            <a:endParaRPr lang="en-US" dirty="0"/>
          </a:p>
        </p:txBody>
      </p:sp>
      <p:sp>
        <p:nvSpPr>
          <p:cNvPr id="3" name="Content Placeholder 2"/>
          <p:cNvSpPr>
            <a:spLocks noGrp="1"/>
          </p:cNvSpPr>
          <p:nvPr>
            <p:ph idx="1"/>
          </p:nvPr>
        </p:nvSpPr>
        <p:spPr>
          <a:xfrm>
            <a:off x="838200" y="1269242"/>
            <a:ext cx="10515600" cy="4907721"/>
          </a:xfrm>
        </p:spPr>
        <p:txBody>
          <a:bodyPr>
            <a:normAutofit fontScale="92500" lnSpcReduction="10000"/>
          </a:bodyPr>
          <a:lstStyle/>
          <a:p>
            <a:r>
              <a:rPr lang="en-US" dirty="0" smtClean="0"/>
              <a:t>Before establishing connection, let's first create a table in oracle database. Following is the SQL query to create a table.</a:t>
            </a:r>
          </a:p>
          <a:p>
            <a:r>
              <a:rPr lang="en-US" dirty="0" smtClean="0"/>
              <a:t>    create table </a:t>
            </a:r>
            <a:r>
              <a:rPr lang="en-US" dirty="0" err="1" smtClean="0"/>
              <a:t>emp</a:t>
            </a:r>
            <a:r>
              <a:rPr lang="en-US" dirty="0" smtClean="0"/>
              <a:t>(id number(10),name varchar2(40),age number(3)); </a:t>
            </a:r>
          </a:p>
          <a:p>
            <a:r>
              <a:rPr lang="en-US" b="1" dirty="0" smtClean="0"/>
              <a:t>Example</a:t>
            </a:r>
          </a:p>
          <a:p>
            <a:r>
              <a:rPr lang="en-US" dirty="0" smtClean="0"/>
              <a:t>The following example creates a table called "Persons" that contains five columns: </a:t>
            </a:r>
            <a:r>
              <a:rPr lang="en-US" dirty="0" err="1" smtClean="0"/>
              <a:t>PersonID</a:t>
            </a:r>
            <a:r>
              <a:rPr lang="en-US" dirty="0" smtClean="0"/>
              <a:t>, </a:t>
            </a:r>
            <a:r>
              <a:rPr lang="en-US" dirty="0" err="1" smtClean="0"/>
              <a:t>LastName</a:t>
            </a:r>
            <a:r>
              <a:rPr lang="en-US" dirty="0" smtClean="0"/>
              <a:t>, </a:t>
            </a:r>
            <a:r>
              <a:rPr lang="en-US" dirty="0" err="1" smtClean="0"/>
              <a:t>FirstName</a:t>
            </a:r>
            <a:r>
              <a:rPr lang="en-US" dirty="0" smtClean="0"/>
              <a:t>, Address, and City: </a:t>
            </a:r>
          </a:p>
          <a:p>
            <a:r>
              <a:rPr lang="en-US" dirty="0" smtClean="0"/>
              <a:t>CREATE </a:t>
            </a:r>
            <a:r>
              <a:rPr lang="en-US" dirty="0"/>
              <a:t>TABLE Persons (</a:t>
            </a:r>
            <a:br>
              <a:rPr lang="en-US" dirty="0"/>
            </a:br>
            <a:r>
              <a:rPr lang="en-US" dirty="0"/>
              <a:t>    </a:t>
            </a:r>
            <a:r>
              <a:rPr lang="en-US" dirty="0" err="1"/>
              <a:t>PersonID</a:t>
            </a:r>
            <a:r>
              <a:rPr lang="en-US" dirty="0"/>
              <a:t> </a:t>
            </a:r>
            <a:r>
              <a:rPr lang="en-US" dirty="0" err="1"/>
              <a:t>int</a:t>
            </a:r>
            <a:r>
              <a:rPr lang="en-US" dirty="0"/>
              <a:t>,</a:t>
            </a:r>
            <a:br>
              <a:rPr lang="en-US" dirty="0"/>
            </a:br>
            <a:r>
              <a:rPr lang="en-US" dirty="0"/>
              <a:t>    </a:t>
            </a:r>
            <a:r>
              <a:rPr lang="en-US" dirty="0" err="1"/>
              <a:t>LastName</a:t>
            </a:r>
            <a:r>
              <a:rPr lang="en-US" dirty="0"/>
              <a:t> </a:t>
            </a:r>
            <a:r>
              <a:rPr lang="en-US" dirty="0" err="1"/>
              <a:t>varchar</a:t>
            </a:r>
            <a:r>
              <a:rPr lang="en-US" dirty="0"/>
              <a:t>(255),</a:t>
            </a:r>
            <a:br>
              <a:rPr lang="en-US" dirty="0"/>
            </a:br>
            <a:r>
              <a:rPr lang="en-US" dirty="0"/>
              <a:t>    </a:t>
            </a:r>
            <a:r>
              <a:rPr lang="en-US" dirty="0" err="1"/>
              <a:t>FirstName</a:t>
            </a:r>
            <a:r>
              <a:rPr lang="en-US" dirty="0"/>
              <a:t> </a:t>
            </a:r>
            <a:r>
              <a:rPr lang="en-US" dirty="0" err="1"/>
              <a:t>varchar</a:t>
            </a:r>
            <a:r>
              <a:rPr lang="en-US" dirty="0"/>
              <a:t>(255</a:t>
            </a:r>
            <a:r>
              <a:rPr lang="en-US" dirty="0" smtClean="0"/>
              <a:t>),</a:t>
            </a:r>
            <a:r>
              <a:rPr lang="en-US" dirty="0"/>
              <a:t/>
            </a:r>
            <a:br>
              <a:rPr lang="en-US" dirty="0"/>
            </a:br>
            <a:r>
              <a:rPr lang="en-US" dirty="0"/>
              <a:t>    Address </a:t>
            </a:r>
            <a:r>
              <a:rPr lang="en-US" dirty="0" err="1"/>
              <a:t>varchar</a:t>
            </a:r>
            <a:r>
              <a:rPr lang="en-US" dirty="0"/>
              <a:t>(255),</a:t>
            </a:r>
            <a:br>
              <a:rPr lang="en-US" dirty="0"/>
            </a:br>
            <a:r>
              <a:rPr lang="en-US" dirty="0"/>
              <a:t>    City </a:t>
            </a:r>
            <a:r>
              <a:rPr lang="en-US" dirty="0" err="1"/>
              <a:t>varchar</a:t>
            </a:r>
            <a:r>
              <a:rPr lang="en-US" dirty="0"/>
              <a:t>(255) </a:t>
            </a:r>
            <a:br>
              <a:rPr lang="en-US" dirty="0"/>
            </a:br>
            <a:r>
              <a:rPr lang="en-US" dirty="0"/>
              <a:t>);</a:t>
            </a:r>
          </a:p>
        </p:txBody>
      </p:sp>
    </p:spTree>
    <p:extLst>
      <p:ext uri="{BB962C8B-B14F-4D97-AF65-F5344CB8AC3E}">
        <p14:creationId xmlns:p14="http://schemas.microsoft.com/office/powerpoint/2010/main" val="2601486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TABLE </a:t>
            </a:r>
            <a:endParaRPr lang="en-US" dirty="0"/>
          </a:p>
        </p:txBody>
      </p:sp>
      <p:sp>
        <p:nvSpPr>
          <p:cNvPr id="3" name="Content Placeholder 2"/>
          <p:cNvSpPr>
            <a:spLocks noGrp="1"/>
          </p:cNvSpPr>
          <p:nvPr>
            <p:ph idx="1"/>
          </p:nvPr>
        </p:nvSpPr>
        <p:spPr/>
        <p:txBody>
          <a:bodyPr/>
          <a:lstStyle/>
          <a:p>
            <a:r>
              <a:rPr lang="en-US" dirty="0" smtClean="0"/>
              <a:t>Syntax</a:t>
            </a:r>
          </a:p>
          <a:p>
            <a:r>
              <a:rPr lang="en-US" dirty="0" smtClean="0"/>
              <a:t>CREATE TABLE </a:t>
            </a:r>
            <a:r>
              <a:rPr lang="en-US" dirty="0" err="1" smtClean="0"/>
              <a:t>table_name</a:t>
            </a:r>
            <a:r>
              <a:rPr lang="en-US" dirty="0" smtClean="0"/>
              <a:t> (</a:t>
            </a:r>
          </a:p>
          <a:p>
            <a:r>
              <a:rPr lang="en-US" dirty="0" smtClean="0"/>
              <a:t>    column1 </a:t>
            </a:r>
            <a:r>
              <a:rPr lang="en-US" dirty="0" err="1" smtClean="0"/>
              <a:t>datatype</a:t>
            </a:r>
            <a:r>
              <a:rPr lang="en-US" dirty="0" smtClean="0"/>
              <a:t>,</a:t>
            </a:r>
          </a:p>
          <a:p>
            <a:r>
              <a:rPr lang="en-US" dirty="0" smtClean="0"/>
              <a:t>    column2 </a:t>
            </a:r>
            <a:r>
              <a:rPr lang="en-US" dirty="0" err="1" smtClean="0"/>
              <a:t>datatype</a:t>
            </a:r>
            <a:r>
              <a:rPr lang="en-US" dirty="0" smtClean="0"/>
              <a:t>,</a:t>
            </a:r>
          </a:p>
          <a:p>
            <a:r>
              <a:rPr lang="en-US" dirty="0" smtClean="0"/>
              <a:t>    column3 </a:t>
            </a:r>
            <a:r>
              <a:rPr lang="en-US" dirty="0" err="1" smtClean="0"/>
              <a:t>datatype</a:t>
            </a:r>
            <a:r>
              <a:rPr lang="en-US" dirty="0" smtClean="0"/>
              <a:t>,</a:t>
            </a:r>
          </a:p>
          <a:p>
            <a:r>
              <a:rPr lang="en-US" dirty="0" smtClean="0"/>
              <a:t>   ....</a:t>
            </a:r>
          </a:p>
          <a:p>
            <a:r>
              <a:rPr lang="en-US" dirty="0" smtClean="0"/>
              <a:t>);</a:t>
            </a:r>
          </a:p>
          <a:p>
            <a:endParaRPr lang="en-US" dirty="0"/>
          </a:p>
        </p:txBody>
      </p:sp>
    </p:spTree>
    <p:extLst>
      <p:ext uri="{BB962C8B-B14F-4D97-AF65-F5344CB8AC3E}">
        <p14:creationId xmlns:p14="http://schemas.microsoft.com/office/powerpoint/2010/main" val="370899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 Data  into Table</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effectLst/>
              </a:rPr>
              <a:t>To add data to the table, we use INSERT INTO, the syntax is as shown below:</a:t>
            </a:r>
          </a:p>
          <a:p>
            <a:r>
              <a:rPr lang="en-US" b="1" dirty="0" smtClean="0"/>
              <a:t>Insert into</a:t>
            </a:r>
            <a:r>
              <a:rPr lang="en-US" dirty="0" smtClean="0"/>
              <a:t> </a:t>
            </a:r>
            <a:r>
              <a:rPr lang="en-US" dirty="0" err="1" smtClean="0"/>
              <a:t>Table_name</a:t>
            </a:r>
            <a:r>
              <a:rPr lang="en-US" dirty="0" smtClean="0"/>
              <a:t>(Column1, Column2, Column3)</a:t>
            </a:r>
          </a:p>
          <a:p>
            <a:r>
              <a:rPr lang="en-US" dirty="0" smtClean="0"/>
              <a:t>Values (Value1, value2, value3);</a:t>
            </a:r>
          </a:p>
          <a:p>
            <a:r>
              <a:rPr lang="en-US" dirty="0" smtClean="0"/>
              <a:t>-- Insert some sample data into the Customers table</a:t>
            </a:r>
          </a:p>
          <a:p>
            <a:r>
              <a:rPr lang="en-US" dirty="0" smtClean="0"/>
              <a:t>INSERT INTO Customer (</a:t>
            </a:r>
            <a:r>
              <a:rPr lang="en-US" dirty="0" err="1" smtClean="0"/>
              <a:t>CustomerID</a:t>
            </a:r>
            <a:r>
              <a:rPr lang="en-US" dirty="0" smtClean="0"/>
              <a:t>, </a:t>
            </a:r>
            <a:r>
              <a:rPr lang="en-US" dirty="0" err="1" smtClean="0"/>
              <a:t>CustomerName</a:t>
            </a:r>
            <a:r>
              <a:rPr lang="en-US" dirty="0" smtClean="0"/>
              <a:t>, </a:t>
            </a:r>
            <a:r>
              <a:rPr lang="en-US" dirty="0" err="1" smtClean="0"/>
              <a:t>LastName</a:t>
            </a:r>
            <a:r>
              <a:rPr lang="en-US" dirty="0" smtClean="0"/>
              <a:t>, Country, Age, Phone)</a:t>
            </a:r>
          </a:p>
          <a:p>
            <a:r>
              <a:rPr lang="en-US" dirty="0" smtClean="0"/>
              <a:t>VALUES (1, '</a:t>
            </a:r>
            <a:r>
              <a:rPr lang="en-US" dirty="0" err="1" smtClean="0"/>
              <a:t>Shubham</a:t>
            </a:r>
            <a:r>
              <a:rPr lang="en-US" dirty="0" smtClean="0"/>
              <a:t>', 'Thakur', 'India','23','xxxxxxxxxx'),</a:t>
            </a:r>
          </a:p>
          <a:p>
            <a:r>
              <a:rPr lang="en-US" dirty="0" smtClean="0"/>
              <a:t>       (2, '</a:t>
            </a:r>
            <a:r>
              <a:rPr lang="en-US" dirty="0" err="1" smtClean="0"/>
              <a:t>Aman</a:t>
            </a:r>
            <a:r>
              <a:rPr lang="en-US" dirty="0" smtClean="0"/>
              <a:t> ', 'Chopra', 'Australia','21','xxxxxxxxxx'),</a:t>
            </a:r>
          </a:p>
          <a:p>
            <a:r>
              <a:rPr lang="en-US" dirty="0" smtClean="0"/>
              <a:t>       (3, 'Naveen', '</a:t>
            </a:r>
            <a:r>
              <a:rPr lang="en-US" dirty="0" err="1" smtClean="0"/>
              <a:t>Tulasi</a:t>
            </a:r>
            <a:r>
              <a:rPr lang="en-US" dirty="0" smtClean="0"/>
              <a:t>', 'Sri lanka','24','xxxxxxxxxx'),</a:t>
            </a:r>
          </a:p>
          <a:p>
            <a:r>
              <a:rPr lang="en-US" dirty="0" smtClean="0"/>
              <a:t>       (4, 'Aditya', 'Arpan', 'Austria','21','xxxxxxxxxx'),</a:t>
            </a:r>
          </a:p>
          <a:p>
            <a:r>
              <a:rPr lang="en-US" dirty="0" smtClean="0"/>
              <a:t>       (5, '</a:t>
            </a:r>
            <a:r>
              <a:rPr lang="en-US" dirty="0" err="1" smtClean="0"/>
              <a:t>Nishant</a:t>
            </a:r>
            <a:r>
              <a:rPr lang="en-US" dirty="0" smtClean="0"/>
              <a:t>. </a:t>
            </a:r>
            <a:r>
              <a:rPr lang="en-US" dirty="0" err="1" smtClean="0"/>
              <a:t>Salchichas</a:t>
            </a:r>
            <a:r>
              <a:rPr lang="en-US" dirty="0" smtClean="0"/>
              <a:t> S.A.', 'Jain', 'Spain','22','xxxxxxxxxx');</a:t>
            </a:r>
            <a:endParaRPr lang="en-US" dirty="0"/>
          </a:p>
        </p:txBody>
      </p:sp>
    </p:spTree>
    <p:extLst>
      <p:ext uri="{BB962C8B-B14F-4D97-AF65-F5344CB8AC3E}">
        <p14:creationId xmlns:p14="http://schemas.microsoft.com/office/powerpoint/2010/main" val="7239602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715370" y="321285"/>
            <a:ext cx="7619394"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import </a:t>
            </a:r>
            <a:r>
              <a:rPr kumimoji="0" lang="en-US" sz="1800" b="0" i="0" u="none" strike="noStrike" cap="none" normalizeH="0" baseline="0" dirty="0" err="1" smtClean="0">
                <a:ln>
                  <a:noFill/>
                </a:ln>
                <a:solidFill>
                  <a:schemeClr val="tx1"/>
                </a:solidFill>
                <a:effectLst/>
                <a:latin typeface="Arial" panose="020B0604020202020204" pitchFamily="34" charset="0"/>
              </a:rPr>
              <a:t>java.sql</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class </a:t>
            </a:r>
            <a:r>
              <a:rPr kumimoji="0" lang="en-US" sz="1800" b="0" i="0" u="none" strike="noStrike" cap="none" normalizeH="0" baseline="0" dirty="0" err="1" smtClean="0">
                <a:ln>
                  <a:noFill/>
                </a:ln>
                <a:solidFill>
                  <a:schemeClr val="tx1"/>
                </a:solidFill>
                <a:effectLst/>
                <a:latin typeface="Arial" panose="020B0604020202020204" pitchFamily="34" charset="0"/>
              </a:rPr>
              <a:t>OracleCon</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public static void main(String </a:t>
            </a:r>
            <a:r>
              <a:rPr kumimoji="0" lang="en-US" sz="1800" b="0" i="0" u="none" strike="noStrike" cap="none" normalizeH="0" baseline="0" dirty="0" err="1" smtClean="0">
                <a:ln>
                  <a:noFill/>
                </a:ln>
                <a:solidFill>
                  <a:schemeClr val="tx1"/>
                </a:solidFill>
                <a:effectLst/>
                <a:latin typeface="Arial" panose="020B0604020202020204" pitchFamily="34" charset="0"/>
              </a:rPr>
              <a:t>args</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//step1 load the driver class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err="1" smtClean="0">
                <a:ln>
                  <a:noFill/>
                </a:ln>
                <a:solidFill>
                  <a:schemeClr val="tx1"/>
                </a:solidFill>
                <a:effectLst/>
                <a:latin typeface="Arial" panose="020B0604020202020204" pitchFamily="34" charset="0"/>
              </a:rPr>
              <a:t>Class.forName</a:t>
            </a:r>
            <a:r>
              <a:rPr kumimoji="0" lang="en-US" sz="1800" b="0" i="0" u="none" strike="noStrike" cap="none" normalizeH="0" baseline="0" dirty="0" smtClean="0">
                <a:ln>
                  <a:noFill/>
                </a:ln>
                <a:solidFill>
                  <a:schemeClr val="tx1"/>
                </a:solidFill>
                <a:effectLst/>
                <a:latin typeface="Arial" panose="020B0604020202020204" pitchFamily="34" charset="0"/>
              </a:rPr>
              <a:t>("</a:t>
            </a:r>
            <a:r>
              <a:rPr kumimoji="0" lang="en-US" sz="1800" b="0" i="0" u="none" strike="noStrike" cap="none" normalizeH="0" baseline="0" dirty="0" err="1" smtClean="0">
                <a:ln>
                  <a:noFill/>
                </a:ln>
                <a:solidFill>
                  <a:schemeClr val="tx1"/>
                </a:solidFill>
                <a:effectLst/>
                <a:latin typeface="Arial" panose="020B0604020202020204" pitchFamily="34" charset="0"/>
              </a:rPr>
              <a:t>oracle.jdbc.driver.OracleDriver</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//step2 create  the connection object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Connection con=</a:t>
            </a:r>
            <a:r>
              <a:rPr kumimoji="0" lang="en-US" sz="1800" b="0" i="0" u="none" strike="noStrike" cap="none" normalizeH="0" baseline="0" dirty="0" err="1" smtClean="0">
                <a:ln>
                  <a:noFill/>
                </a:ln>
                <a:solidFill>
                  <a:schemeClr val="tx1"/>
                </a:solidFill>
                <a:effectLst/>
                <a:latin typeface="Arial" panose="020B0604020202020204" pitchFamily="34" charset="0"/>
              </a:rPr>
              <a:t>DriverManager.getConnection</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a:t>
            </a:r>
            <a:r>
              <a:rPr kumimoji="0" lang="en-US" sz="1800" b="0" i="0" u="none" strike="noStrike" cap="none" normalizeH="0" baseline="0" dirty="0" err="1" smtClean="0">
                <a:ln>
                  <a:noFill/>
                </a:ln>
                <a:solidFill>
                  <a:schemeClr val="tx1"/>
                </a:solidFill>
                <a:effectLst/>
                <a:latin typeface="Arial" panose="020B0604020202020204" pitchFamily="34" charset="0"/>
              </a:rPr>
              <a:t>jdbc:oracle:thin</a:t>
            </a:r>
            <a:r>
              <a:rPr kumimoji="0" lang="en-US" sz="1800" b="0" i="0" u="none" strike="noStrike" cap="none" normalizeH="0" baseline="0" dirty="0" smtClean="0">
                <a:ln>
                  <a:noFill/>
                </a:ln>
                <a:solidFill>
                  <a:schemeClr val="tx1"/>
                </a:solidFill>
                <a:effectLst/>
                <a:latin typeface="Arial" panose="020B0604020202020204" pitchFamily="34" charset="0"/>
              </a:rPr>
              <a:t>:@localhost:1521:xe","system","oracle");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//step3 create the statement object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Statement </a:t>
            </a:r>
            <a:r>
              <a:rPr kumimoji="0" lang="en-US" sz="1800" b="0" i="0" u="none" strike="noStrike" cap="none" normalizeH="0" baseline="0" dirty="0" err="1" smtClean="0">
                <a:ln>
                  <a:noFill/>
                </a:ln>
                <a:solidFill>
                  <a:schemeClr val="tx1"/>
                </a:solidFill>
                <a:effectLst/>
                <a:latin typeface="Arial" panose="020B0604020202020204" pitchFamily="34" charset="0"/>
              </a:rPr>
              <a:t>stmt</a:t>
            </a:r>
            <a:r>
              <a:rPr kumimoji="0" lang="en-US" sz="1800" b="0" i="0" u="none" strike="noStrike" cap="none" normalizeH="0" baseline="0" dirty="0" smtClean="0">
                <a:ln>
                  <a:noFill/>
                </a:ln>
                <a:solidFill>
                  <a:schemeClr val="tx1"/>
                </a:solidFill>
                <a:effectLst/>
                <a:latin typeface="Arial" panose="020B0604020202020204" pitchFamily="34" charset="0"/>
              </a:rPr>
              <a:t>=</a:t>
            </a:r>
            <a:r>
              <a:rPr kumimoji="0" lang="en-US" sz="1800" b="0" i="0" u="none" strike="noStrike" cap="none" normalizeH="0" baseline="0" dirty="0" err="1" smtClean="0">
                <a:ln>
                  <a:noFill/>
                </a:ln>
                <a:solidFill>
                  <a:schemeClr val="tx1"/>
                </a:solidFill>
                <a:effectLst/>
                <a:latin typeface="Arial" panose="020B0604020202020204" pitchFamily="34" charset="0"/>
              </a:rPr>
              <a:t>con.createStatement</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//step4 execute query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err="1" smtClean="0">
                <a:ln>
                  <a:noFill/>
                </a:ln>
                <a:solidFill>
                  <a:schemeClr val="tx1"/>
                </a:solidFill>
                <a:effectLst/>
                <a:latin typeface="Arial" panose="020B0604020202020204" pitchFamily="34" charset="0"/>
              </a:rPr>
              <a:t>ResultSet</a:t>
            </a:r>
            <a:r>
              <a:rPr kumimoji="0" lang="en-US" sz="1800" b="0" i="0" u="none" strike="noStrike" cap="none" normalizeH="0" baseline="0" dirty="0" smtClean="0">
                <a:ln>
                  <a:noFill/>
                </a:ln>
                <a:solidFill>
                  <a:schemeClr val="tx1"/>
                </a:solidFill>
                <a:effectLst/>
                <a:latin typeface="Arial" panose="020B0604020202020204" pitchFamily="34" charset="0"/>
              </a:rPr>
              <a:t> </a:t>
            </a:r>
            <a:r>
              <a:rPr kumimoji="0" lang="en-US" sz="1800" b="0" i="0" u="none" strike="noStrike" cap="none" normalizeH="0" baseline="0" dirty="0" err="1" smtClean="0">
                <a:ln>
                  <a:noFill/>
                </a:ln>
                <a:solidFill>
                  <a:schemeClr val="tx1"/>
                </a:solidFill>
                <a:effectLst/>
                <a:latin typeface="Arial" panose="020B0604020202020204" pitchFamily="34" charset="0"/>
              </a:rPr>
              <a:t>rs</a:t>
            </a:r>
            <a:r>
              <a:rPr kumimoji="0" lang="en-US" sz="1800" b="0" i="0" u="none" strike="noStrike" cap="none" normalizeH="0" baseline="0" dirty="0" smtClean="0">
                <a:ln>
                  <a:noFill/>
                </a:ln>
                <a:solidFill>
                  <a:schemeClr val="tx1"/>
                </a:solidFill>
                <a:effectLst/>
                <a:latin typeface="Arial" panose="020B0604020202020204" pitchFamily="34" charset="0"/>
              </a:rPr>
              <a:t>=</a:t>
            </a:r>
            <a:r>
              <a:rPr kumimoji="0" lang="en-US" sz="1800" b="0" i="0" u="none" strike="noStrike" cap="none" normalizeH="0" baseline="0" dirty="0" err="1" smtClean="0">
                <a:ln>
                  <a:noFill/>
                </a:ln>
                <a:solidFill>
                  <a:schemeClr val="tx1"/>
                </a:solidFill>
                <a:effectLst/>
                <a:latin typeface="Arial" panose="020B0604020202020204" pitchFamily="34" charset="0"/>
              </a:rPr>
              <a:t>stmt.executeQuery</a:t>
            </a:r>
            <a:r>
              <a:rPr kumimoji="0" lang="en-US" sz="1800" b="0" i="0" u="none" strike="noStrike" cap="none" normalizeH="0" baseline="0" dirty="0" smtClean="0">
                <a:ln>
                  <a:noFill/>
                </a:ln>
                <a:solidFill>
                  <a:schemeClr val="tx1"/>
                </a:solidFill>
                <a:effectLst/>
                <a:latin typeface="Arial" panose="020B0604020202020204" pitchFamily="34" charset="0"/>
              </a:rPr>
              <a:t>("select * from </a:t>
            </a:r>
            <a:r>
              <a:rPr kumimoji="0" lang="en-US" sz="1800" b="0" i="0" u="none" strike="noStrike" cap="none" normalizeH="0" baseline="0" dirty="0" err="1" smtClean="0">
                <a:ln>
                  <a:noFill/>
                </a:ln>
                <a:solidFill>
                  <a:schemeClr val="tx1"/>
                </a:solidFill>
                <a:effectLst/>
                <a:latin typeface="Arial" panose="020B0604020202020204" pitchFamily="34" charset="0"/>
              </a:rPr>
              <a:t>emp</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while(</a:t>
            </a:r>
            <a:r>
              <a:rPr kumimoji="0" lang="en-US" sz="1800" b="0" i="0" u="none" strike="noStrike" cap="none" normalizeH="0" baseline="0" dirty="0" err="1" smtClean="0">
                <a:ln>
                  <a:noFill/>
                </a:ln>
                <a:solidFill>
                  <a:schemeClr val="tx1"/>
                </a:solidFill>
                <a:effectLst/>
                <a:latin typeface="Arial" panose="020B0604020202020204" pitchFamily="34" charset="0"/>
              </a:rPr>
              <a:t>rs.next</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err="1" smtClean="0">
                <a:ln>
                  <a:noFill/>
                </a:ln>
                <a:solidFill>
                  <a:schemeClr val="tx1"/>
                </a:solidFill>
                <a:effectLst/>
                <a:latin typeface="Arial" panose="020B0604020202020204" pitchFamily="34" charset="0"/>
              </a:rPr>
              <a:t>System.out.println</a:t>
            </a:r>
            <a:r>
              <a:rPr kumimoji="0" lang="en-US" sz="1800" b="0" i="0" u="none" strike="noStrike" cap="none" normalizeH="0" baseline="0" dirty="0" smtClean="0">
                <a:ln>
                  <a:noFill/>
                </a:ln>
                <a:solidFill>
                  <a:schemeClr val="tx1"/>
                </a:solidFill>
                <a:effectLst/>
                <a:latin typeface="Arial" panose="020B0604020202020204" pitchFamily="34" charset="0"/>
              </a:rPr>
              <a:t>(</a:t>
            </a:r>
            <a:r>
              <a:rPr kumimoji="0" lang="en-US" sz="1800" b="0" i="0" u="none" strike="noStrike" cap="none" normalizeH="0" baseline="0" dirty="0" err="1" smtClean="0">
                <a:ln>
                  <a:noFill/>
                </a:ln>
                <a:solidFill>
                  <a:schemeClr val="tx1"/>
                </a:solidFill>
                <a:effectLst/>
                <a:latin typeface="Arial" panose="020B0604020202020204" pitchFamily="34" charset="0"/>
              </a:rPr>
              <a:t>rs.getInt</a:t>
            </a:r>
            <a:r>
              <a:rPr kumimoji="0" lang="en-US" sz="1800" b="0" i="0" u="none" strike="noStrike" cap="none" normalizeH="0" baseline="0" dirty="0" smtClean="0">
                <a:ln>
                  <a:noFill/>
                </a:ln>
                <a:solidFill>
                  <a:schemeClr val="tx1"/>
                </a:solidFill>
                <a:effectLst/>
                <a:latin typeface="Arial" panose="020B0604020202020204" pitchFamily="34" charset="0"/>
              </a:rPr>
              <a:t>(1)+"  "+</a:t>
            </a:r>
            <a:r>
              <a:rPr kumimoji="0" lang="en-US" sz="1800" b="0" i="0" u="none" strike="noStrike" cap="none" normalizeH="0" baseline="0" dirty="0" err="1" smtClean="0">
                <a:ln>
                  <a:noFill/>
                </a:ln>
                <a:solidFill>
                  <a:schemeClr val="tx1"/>
                </a:solidFill>
                <a:effectLst/>
                <a:latin typeface="Arial" panose="020B0604020202020204" pitchFamily="34" charset="0"/>
              </a:rPr>
              <a:t>rs.getString</a:t>
            </a:r>
            <a:r>
              <a:rPr kumimoji="0" lang="en-US" sz="1800" b="0" i="0" u="none" strike="noStrike" cap="none" normalizeH="0" baseline="0" dirty="0" smtClean="0">
                <a:ln>
                  <a:noFill/>
                </a:ln>
                <a:solidFill>
                  <a:schemeClr val="tx1"/>
                </a:solidFill>
                <a:effectLst/>
                <a:latin typeface="Arial" panose="020B0604020202020204" pitchFamily="34" charset="0"/>
              </a:rPr>
              <a:t>(2)+"  "+</a:t>
            </a:r>
            <a:r>
              <a:rPr kumimoji="0" lang="en-US" sz="1800" b="0" i="0" u="none" strike="noStrike" cap="none" normalizeH="0" baseline="0" dirty="0" err="1" smtClean="0">
                <a:ln>
                  <a:noFill/>
                </a:ln>
                <a:solidFill>
                  <a:schemeClr val="tx1"/>
                </a:solidFill>
                <a:effectLst/>
                <a:latin typeface="Arial" panose="020B0604020202020204" pitchFamily="34" charset="0"/>
              </a:rPr>
              <a:t>rs.getString</a:t>
            </a:r>
            <a:r>
              <a:rPr kumimoji="0" lang="en-US" sz="1800" b="0" i="0" u="none" strike="noStrike" cap="none" normalizeH="0" baseline="0" dirty="0" smtClean="0">
                <a:ln>
                  <a:noFill/>
                </a:ln>
                <a:solidFill>
                  <a:schemeClr val="tx1"/>
                </a:solidFill>
                <a:effectLst/>
                <a:latin typeface="Arial" panose="020B0604020202020204" pitchFamily="34" charset="0"/>
              </a:rPr>
              <a:t>(3));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//step5 close the connection object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err="1" smtClean="0">
                <a:ln>
                  <a:noFill/>
                </a:ln>
                <a:solidFill>
                  <a:schemeClr val="tx1"/>
                </a:solidFill>
                <a:effectLst/>
                <a:latin typeface="Arial" panose="020B0604020202020204" pitchFamily="34" charset="0"/>
              </a:rPr>
              <a:t>con.close</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}catch(Exception e){ </a:t>
            </a:r>
            <a:r>
              <a:rPr kumimoji="0" lang="en-US" sz="1800" b="0" i="0" u="none" strike="noStrike" cap="none" normalizeH="0" baseline="0" dirty="0" err="1" smtClean="0">
                <a:ln>
                  <a:noFill/>
                </a:ln>
                <a:solidFill>
                  <a:schemeClr val="tx1"/>
                </a:solidFill>
                <a:effectLst/>
                <a:latin typeface="Arial" panose="020B0604020202020204" pitchFamily="34" charset="0"/>
              </a:rPr>
              <a:t>System.out.println</a:t>
            </a:r>
            <a:r>
              <a:rPr kumimoji="0" lang="en-US" sz="1800" b="0" i="0" u="none" strike="noStrike" cap="none" normalizeH="0" baseline="0" dirty="0" smtClean="0">
                <a:ln>
                  <a:noFill/>
                </a:ln>
                <a:solidFill>
                  <a:schemeClr val="tx1"/>
                </a:solidFill>
                <a:effectLst/>
                <a:latin typeface="Arial" panose="020B0604020202020204" pitchFamily="34" charset="0"/>
              </a:rPr>
              <a: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  </a:t>
            </a:r>
          </a:p>
        </p:txBody>
      </p:sp>
    </p:spTree>
    <p:extLst>
      <p:ext uri="{BB962C8B-B14F-4D97-AF65-F5344CB8AC3E}">
        <p14:creationId xmlns:p14="http://schemas.microsoft.com/office/powerpoint/2010/main" val="3218680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TotalTime>
  <Words>1854</Words>
  <Application>Microsoft Office PowerPoint</Application>
  <PresentationFormat>Widescreen</PresentationFormat>
  <Paragraphs>210</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Java JDBC </vt:lpstr>
      <vt:lpstr>Introductions to JDBC</vt:lpstr>
      <vt:lpstr>Definition of JDBC(Java Database Connectivity)  </vt:lpstr>
      <vt:lpstr>Purpose of JDBC</vt:lpstr>
      <vt:lpstr>Components of JDBC  </vt:lpstr>
      <vt:lpstr> </vt:lpstr>
      <vt:lpstr>PowerPoint Presentation</vt:lpstr>
      <vt:lpstr>What is API? </vt:lpstr>
      <vt:lpstr>JDBC Drivers </vt:lpstr>
      <vt:lpstr>Interfaces of JDBC API </vt:lpstr>
      <vt:lpstr>Classes of JDBC API </vt:lpstr>
      <vt:lpstr>Working of JDBC  </vt:lpstr>
      <vt:lpstr>Connecting to a Database </vt:lpstr>
      <vt:lpstr>2. Creating the Connection </vt:lpstr>
      <vt:lpstr>2nd cont..</vt:lpstr>
      <vt:lpstr>Executing SQL Statements </vt:lpstr>
      <vt:lpstr>Cont…</vt:lpstr>
      <vt:lpstr>Cont..</vt:lpstr>
      <vt:lpstr>CallableStatement</vt:lpstr>
      <vt:lpstr>Example </vt:lpstr>
      <vt:lpstr>Java Database Connectivity with Oracle </vt:lpstr>
      <vt:lpstr>Create a Table </vt:lpstr>
      <vt:lpstr>CREATE TABLE </vt:lpstr>
      <vt:lpstr>Insert Data  into Table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JDBC </dc:title>
  <dc:creator>Windows User</dc:creator>
  <cp:lastModifiedBy>Windows User</cp:lastModifiedBy>
  <cp:revision>24</cp:revision>
  <dcterms:created xsi:type="dcterms:W3CDTF">2024-05-02T04:20:18Z</dcterms:created>
  <dcterms:modified xsi:type="dcterms:W3CDTF">2024-05-06T04:33:16Z</dcterms:modified>
</cp:coreProperties>
</file>
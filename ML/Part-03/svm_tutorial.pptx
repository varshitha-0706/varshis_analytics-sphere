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834" r:id="rId1"/>
  </p:sldMasterIdLst>
  <p:notesMasterIdLst>
    <p:notesMasterId r:id="rId36"/>
  </p:notesMasterIdLst>
  <p:sldIdLst>
    <p:sldId id="256" r:id="rId2"/>
    <p:sldId id="286" r:id="rId3"/>
    <p:sldId id="386" r:id="rId4"/>
    <p:sldId id="293" r:id="rId5"/>
    <p:sldId id="296" r:id="rId6"/>
    <p:sldId id="298" r:id="rId7"/>
    <p:sldId id="306" r:id="rId8"/>
    <p:sldId id="310" r:id="rId9"/>
    <p:sldId id="383" r:id="rId10"/>
    <p:sldId id="384" r:id="rId11"/>
    <p:sldId id="348" r:id="rId12"/>
    <p:sldId id="387" r:id="rId13"/>
    <p:sldId id="349" r:id="rId14"/>
    <p:sldId id="375" r:id="rId15"/>
    <p:sldId id="350" r:id="rId16"/>
    <p:sldId id="399" r:id="rId17"/>
    <p:sldId id="353" r:id="rId18"/>
    <p:sldId id="354" r:id="rId19"/>
    <p:sldId id="356" r:id="rId20"/>
    <p:sldId id="357" r:id="rId21"/>
    <p:sldId id="358" r:id="rId22"/>
    <p:sldId id="373" r:id="rId23"/>
    <p:sldId id="374" r:id="rId24"/>
    <p:sldId id="397" r:id="rId25"/>
    <p:sldId id="379" r:id="rId26"/>
    <p:sldId id="380" r:id="rId27"/>
    <p:sldId id="370" r:id="rId28"/>
    <p:sldId id="382" r:id="rId29"/>
    <p:sldId id="390" r:id="rId30"/>
    <p:sldId id="392" r:id="rId31"/>
    <p:sldId id="394" r:id="rId32"/>
    <p:sldId id="393" r:id="rId33"/>
    <p:sldId id="395" r:id="rId34"/>
    <p:sldId id="396" r:id="rId35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3CC33"/>
    <a:srgbClr val="CC0000"/>
    <a:srgbClr val="FF0000"/>
    <a:srgbClr val="FF9900"/>
    <a:srgbClr val="EAEAEA"/>
    <a:srgbClr val="DDDDDD"/>
    <a:srgbClr val="808080"/>
    <a:srgbClr val="747E2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138" autoAdjust="0"/>
    <p:restoredTop sz="91935" autoAdjust="0"/>
  </p:normalViewPr>
  <p:slideViewPr>
    <p:cSldViewPr>
      <p:cViewPr>
        <p:scale>
          <a:sx n="66" d="100"/>
          <a:sy n="66" d="100"/>
        </p:scale>
        <p:origin x="-138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3AD5C-E5A9-4F5C-BB49-7043C1615129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657A7-06ED-4841-8243-6005D00037E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26118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657A7-06ED-4841-8243-6005D00037E7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85535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657A7-06ED-4841-8243-6005D00037E7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37369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Complementary slackness condition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657A7-06ED-4841-8243-6005D00037E7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91105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345273-7E77-4770-8576-9B79FF1A5E94}" type="slidenum">
              <a:rPr lang="en-US" sz="1200">
                <a:solidFill>
                  <a:srgbClr val="000000"/>
                </a:solidFill>
              </a:rPr>
              <a:pPr/>
              <a:t>10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18436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30788" cy="4116388"/>
          </a:xfrm>
          <a:noFill/>
        </p:spPr>
        <p:txBody>
          <a:bodyPr>
            <a:spAutoFit/>
          </a:bodyPr>
          <a:lstStyle/>
          <a:p>
            <a:pPr defTabSz="449263">
              <a:lnSpc>
                <a:spcPct val="93000"/>
              </a:lnSpc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rPr>
              <a:t>As the quadratic term is negative, so the original minimization problem become maximization problem</a:t>
            </a:r>
          </a:p>
        </p:txBody>
      </p:sp>
    </p:spTree>
    <p:extLst>
      <p:ext uri="{BB962C8B-B14F-4D97-AF65-F5344CB8AC3E}">
        <p14:creationId xmlns:p14="http://schemas.microsoft.com/office/powerpoint/2010/main" xmlns="" val="156870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 smtClean="0">
                <a:latin typeface="Times New Roman" panose="02020603050405020304" pitchFamily="18" charset="0"/>
              </a:rPr>
              <a:t>Mercer’s theorem: 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1200" b="1" i="1" dirty="0" smtClean="0">
                <a:latin typeface="Times New Roman" panose="02020603050405020304" pitchFamily="18" charset="0"/>
                <a:hlinkClick r:id="rId3" action="ppaction://hlinksldjump"/>
              </a:rPr>
              <a:t>Every semi-positive definite symmetric function </a:t>
            </a:r>
            <a:r>
              <a:rPr lang="en-US" altLang="zh-CN" sz="1200" b="1" i="1" dirty="0" smtClean="0">
                <a:latin typeface="Times New Roman" panose="02020603050405020304" pitchFamily="18" charset="0"/>
              </a:rPr>
              <a:t>is a kernel</a:t>
            </a:r>
          </a:p>
          <a:p>
            <a:r>
              <a:rPr lang="en-US" altLang="zh-CN" sz="1200" b="1" dirty="0" smtClean="0">
                <a:latin typeface="Times New Roman" panose="02020603050405020304" pitchFamily="18" charset="0"/>
              </a:rPr>
              <a:t>Semi-positive definite symmetric functions correspond to a semi-positive definite symmetric Gram matrix: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657A7-06ED-4841-8243-6005D00037E7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8578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858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8710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2090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2280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2B55C66-1DF3-48FD-A609-5FA93B36B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2715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46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69987"/>
            <a:ext cx="7886700" cy="5006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68279-BFE1-4B75-9966-061C88B41671}" type="datetimeFigureOut">
              <a:rPr lang="en-IN" smtClean="0"/>
              <a:pPr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82E23-5C29-4FC7-9BD4-8C8E244EEED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8650" y="914400"/>
            <a:ext cx="78867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8458200" y="392112"/>
            <a:ext cx="0" cy="52228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3436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41" r:id="rId3"/>
    <p:sldLayoutId id="2147483843" r:id="rId4"/>
    <p:sldLayoutId id="2147483844" r:id="rId5"/>
    <p:sldLayoutId id="214748384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4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slide" Target="slide30.xml"/><Relationship Id="rId3" Type="http://schemas.openxmlformats.org/officeDocument/2006/relationships/tags" Target="../tags/tag2.xml"/><Relationship Id="rId7" Type="http://schemas.openxmlformats.org/officeDocument/2006/relationships/notesSlide" Target="../notesSlides/notesSlide3.xml"/><Relationship Id="rId12" Type="http://schemas.openxmlformats.org/officeDocument/2006/relationships/slide" Target="slide29.xml"/><Relationship Id="rId2" Type="http://schemas.openxmlformats.org/officeDocument/2006/relationships/tags" Target="../tags/tag1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5" Type="http://schemas.openxmlformats.org/officeDocument/2006/relationships/tags" Target="../tags/tag4.xml"/><Relationship Id="rId10" Type="http://schemas.openxmlformats.org/officeDocument/2006/relationships/image" Target="../media/image18.png"/><Relationship Id="rId4" Type="http://schemas.openxmlformats.org/officeDocument/2006/relationships/tags" Target="../tags/tag3.xml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uality_(optimization)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ernel-machines.or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mathworld.wolfram.com/Permutation.html" TargetMode="External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gif"/><Relationship Id="rId5" Type="http://schemas.openxmlformats.org/officeDocument/2006/relationships/image" Target="../media/image33.gif"/><Relationship Id="rId4" Type="http://schemas.openxmlformats.org/officeDocument/2006/relationships/image" Target="../media/image32.gi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143000"/>
            <a:ext cx="7391400" cy="1600200"/>
          </a:xfrm>
        </p:spPr>
        <p:txBody>
          <a:bodyPr/>
          <a:lstStyle/>
          <a:p>
            <a:r>
              <a:rPr lang="en-US" altLang="zh-CN" sz="3000" dirty="0">
                <a:solidFill>
                  <a:schemeClr val="tx1"/>
                </a:solidFill>
                <a:latin typeface="time (Headings)"/>
              </a:rPr>
              <a:t>Support Vector Machine &amp; Its </a:t>
            </a:r>
            <a:r>
              <a:rPr lang="en-US" altLang="zh-CN" sz="3000" dirty="0" smtClean="0">
                <a:solidFill>
                  <a:schemeClr val="tx1"/>
                </a:solidFill>
                <a:latin typeface="time (Headings)"/>
              </a:rPr>
              <a:t>implementation with R</a:t>
            </a:r>
            <a:endParaRPr lang="en-US" altLang="zh-CN" sz="3000" dirty="0">
              <a:solidFill>
                <a:schemeClr val="tx1"/>
              </a:solidFill>
              <a:latin typeface="time (Headings)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33800" y="4191000"/>
            <a:ext cx="46482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 dirty="0"/>
              <a:t>                </a:t>
            </a:r>
            <a:r>
              <a:rPr lang="en-US" altLang="zh-CN" sz="2400" b="1" dirty="0" smtClean="0"/>
              <a:t>K </a:t>
            </a:r>
            <a:r>
              <a:rPr lang="en-US" altLang="zh-CN" sz="2400" b="1" dirty="0" err="1" smtClean="0"/>
              <a:t>K</a:t>
            </a:r>
            <a:r>
              <a:rPr lang="en-US" altLang="zh-CN" sz="2400" b="1" dirty="0" smtClean="0"/>
              <a:t> Singh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 smtClean="0"/>
              <a:t>RGUKT NUZVID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endParaRPr lang="en-US" altLang="zh-CN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2514590" cy="446088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Overview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169987"/>
            <a:ext cx="7886700" cy="2473327"/>
          </a:xfrm>
        </p:spPr>
        <p:txBody>
          <a:bodyPr/>
          <a:lstStyle/>
          <a:p>
            <a:r>
              <a:rPr lang="en-US" altLang="zh-CN" dirty="0" smtClean="0"/>
              <a:t>Introduction </a:t>
            </a:r>
            <a:r>
              <a:rPr lang="en-US" altLang="zh-CN" dirty="0"/>
              <a:t>to Support Vector Machines (SVM</a:t>
            </a:r>
            <a:r>
              <a:rPr lang="en-US" altLang="zh-CN" dirty="0" smtClean="0"/>
              <a:t>)</a:t>
            </a:r>
          </a:p>
          <a:p>
            <a:r>
              <a:rPr lang="en-US" altLang="zh-CN" dirty="0"/>
              <a:t>Linear </a:t>
            </a:r>
            <a:r>
              <a:rPr lang="en-US" altLang="zh-CN" dirty="0" smtClean="0"/>
              <a:t>SVM</a:t>
            </a:r>
            <a:endParaRPr lang="en-US" altLang="zh-CN" dirty="0"/>
          </a:p>
          <a:p>
            <a:r>
              <a:rPr lang="en-US" altLang="zh-CN" dirty="0">
                <a:latin typeface="time (Headings)"/>
              </a:rPr>
              <a:t>Linear </a:t>
            </a:r>
            <a:r>
              <a:rPr lang="en-US" altLang="zh-CN" dirty="0" smtClean="0">
                <a:latin typeface="time (Headings)"/>
              </a:rPr>
              <a:t>SVM, Estimation </a:t>
            </a:r>
            <a:r>
              <a:rPr lang="en-US" altLang="zh-CN" dirty="0">
                <a:latin typeface="time (Headings)"/>
              </a:rPr>
              <a:t>of </a:t>
            </a:r>
            <a:r>
              <a:rPr lang="en-US" altLang="zh-CN" dirty="0" smtClean="0">
                <a:latin typeface="time (Headings)"/>
              </a:rPr>
              <a:t>parameters</a:t>
            </a:r>
          </a:p>
          <a:p>
            <a:r>
              <a:rPr lang="en-US" altLang="zh-CN" dirty="0" smtClean="0"/>
              <a:t>Discussion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886700" cy="446088"/>
          </a:xfrm>
        </p:spPr>
        <p:txBody>
          <a:bodyPr>
            <a:normAutofit fontScale="90000"/>
          </a:bodyPr>
          <a:lstStyle/>
          <a:p>
            <a:r>
              <a:rPr lang="en-US" altLang="zh-CN" sz="3300" b="1" dirty="0" smtClean="0"/>
              <a:t/>
            </a:r>
            <a:br>
              <a:rPr lang="en-US" altLang="zh-CN" sz="3300" b="1" dirty="0" smtClean="0"/>
            </a:br>
            <a:r>
              <a:rPr lang="en-US" altLang="zh-CN" sz="3300" b="1" dirty="0" smtClean="0"/>
              <a:t>Introduction </a:t>
            </a:r>
            <a:r>
              <a:rPr lang="en-US" altLang="zh-CN" sz="3300" b="1" dirty="0"/>
              <a:t>to Support Vector Machines (SVM)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IN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99256" y="990600"/>
            <a:ext cx="8307388" cy="5029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0663" indent="-220663" defTabSz="449263" fontAlgn="auto">
              <a:spcAft>
                <a:spcPts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can represent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linear and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non-linear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functions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and it has an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efficient training algorithm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0663" indent="-220663" defTabSz="449263" fontAlgn="auto">
              <a:spcAft>
                <a:spcPts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erived from statistical learning theory by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Vapnik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Chervonenk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(COLT-92)</a:t>
            </a:r>
          </a:p>
          <a:p>
            <a:pPr marL="220663" indent="-220663" defTabSz="449263" fontAlgn="auto">
              <a:spcAft>
                <a:spcPts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 into mainstream because of their exceptional performance in Handwritten Digit Recognition.</a:t>
            </a:r>
          </a:p>
          <a:p>
            <a:pPr marL="741363" lvl="2" indent="-107950" defTabSz="449263" fontAlgn="auto">
              <a:spcAft>
                <a:spcPts val="0"/>
              </a:spcAft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831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2" name="Rectangle 4"/>
          <p:cNvSpPr>
            <a:spLocks noChangeArrowheads="1"/>
          </p:cNvSpPr>
          <p:nvPr/>
        </p:nvSpPr>
        <p:spPr bwMode="auto">
          <a:xfrm>
            <a:off x="152400" y="304800"/>
            <a:ext cx="4648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 Linear </a:t>
            </a:r>
            <a:r>
              <a:rPr lang="en-US" altLang="zh-CN" dirty="0" smtClean="0">
                <a:solidFill>
                  <a:schemeClr val="tx1"/>
                </a:solidFill>
              </a:rPr>
              <a:t>SVM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505200" y="943370"/>
            <a:ext cx="5638800" cy="659663"/>
            <a:chOff x="3505200" y="762000"/>
            <a:chExt cx="5638800" cy="671222"/>
          </a:xfrm>
        </p:grpSpPr>
        <p:sp>
          <p:nvSpPr>
            <p:cNvPr id="237573" name="Rectangle 5"/>
            <p:cNvSpPr>
              <a:spLocks noChangeArrowheads="1"/>
            </p:cNvSpPr>
            <p:nvPr/>
          </p:nvSpPr>
          <p:spPr bwMode="auto">
            <a:xfrm>
              <a:off x="5334000" y="776288"/>
              <a:ext cx="1600200" cy="65405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3600" i="1" dirty="0">
                  <a:latin typeface="Tahoma" panose="020B0604030504040204" pitchFamily="34" charset="0"/>
                </a:rPr>
                <a:t>f </a:t>
              </a:r>
              <a:r>
                <a:rPr lang="en-US" altLang="zh-CN" sz="2000" dirty="0">
                  <a:latin typeface="Tahoma" panose="020B0604030504040204" pitchFamily="34" charset="0"/>
                </a:rPr>
                <a:t>        </a:t>
              </a:r>
            </a:p>
          </p:txBody>
        </p:sp>
        <p:sp>
          <p:nvSpPr>
            <p:cNvPr id="237574" name="Line 6"/>
            <p:cNvSpPr>
              <a:spLocks noChangeShapeType="1"/>
            </p:cNvSpPr>
            <p:nvPr/>
          </p:nvSpPr>
          <p:spPr bwMode="auto">
            <a:xfrm>
              <a:off x="3962400" y="10668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37575" name="Text Box 7"/>
            <p:cNvSpPr txBox="1">
              <a:spLocks noChangeArrowheads="1"/>
            </p:cNvSpPr>
            <p:nvPr/>
          </p:nvSpPr>
          <p:spPr bwMode="auto">
            <a:xfrm>
              <a:off x="3505200" y="762000"/>
              <a:ext cx="609600" cy="532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800" b="1" i="1" dirty="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37578" name="Line 10"/>
            <p:cNvSpPr>
              <a:spLocks noChangeShapeType="1"/>
            </p:cNvSpPr>
            <p:nvPr/>
          </p:nvSpPr>
          <p:spPr bwMode="auto">
            <a:xfrm>
              <a:off x="6934200" y="10668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37579" name="Text Box 11"/>
            <p:cNvSpPr txBox="1">
              <a:spLocks noChangeArrowheads="1"/>
            </p:cNvSpPr>
            <p:nvPr/>
          </p:nvSpPr>
          <p:spPr bwMode="auto">
            <a:xfrm>
              <a:off x="8305800" y="838200"/>
              <a:ext cx="838200" cy="595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chemeClr val="tx1"/>
                </a:buClr>
              </a:pPr>
              <a:r>
                <a:rPr lang="en-US" altLang="zh-CN" sz="3200">
                  <a:latin typeface="Tahoma" panose="020B0604030504040204" pitchFamily="34" charset="0"/>
                </a:rPr>
                <a:t>y</a:t>
              </a:r>
              <a:r>
                <a:rPr lang="en-US" altLang="zh-CN" sz="3200" baseline="30000">
                  <a:latin typeface="Tahoma" panose="020B0604030504040204" pitchFamily="34" charset="0"/>
                </a:rPr>
                <a:t>est</a:t>
              </a:r>
            </a:p>
          </p:txBody>
        </p:sp>
      </p:grpSp>
      <p:sp>
        <p:nvSpPr>
          <p:cNvPr id="237581" name="Oval 13"/>
          <p:cNvSpPr>
            <a:spLocks noChangeAspect="1" noChangeArrowheads="1"/>
          </p:cNvSpPr>
          <p:nvPr/>
        </p:nvSpPr>
        <p:spPr bwMode="auto">
          <a:xfrm rot="4777107">
            <a:off x="381794" y="19804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7582" name="Oval 14"/>
          <p:cNvSpPr>
            <a:spLocks noChangeAspect="1" noChangeArrowheads="1"/>
          </p:cNvSpPr>
          <p:nvPr/>
        </p:nvSpPr>
        <p:spPr bwMode="auto">
          <a:xfrm rot="5895381">
            <a:off x="382588" y="24368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7621" name="Text Box 53"/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tx1"/>
              </a:buClr>
            </a:pPr>
            <a:endParaRPr lang="en-US" sz="2000">
              <a:latin typeface="Tahoma" panose="020B0604030504040204" pitchFamily="34" charset="0"/>
            </a:endParaRPr>
          </a:p>
        </p:txBody>
      </p:sp>
      <p:sp>
        <p:nvSpPr>
          <p:cNvPr id="237622" name="Text Box 54"/>
          <p:cNvSpPr txBox="1">
            <a:spLocks noChangeArrowheads="1"/>
          </p:cNvSpPr>
          <p:nvPr/>
        </p:nvSpPr>
        <p:spPr bwMode="auto">
          <a:xfrm>
            <a:off x="4718078" y="2013972"/>
            <a:ext cx="419732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000" dirty="0" smtClean="0">
                <a:latin typeface="Tahoma" panose="020B0604030504040204" pitchFamily="34" charset="0"/>
              </a:rPr>
              <a:t>Let n training examples (tuple </a:t>
            </a:r>
          </a:p>
          <a:p>
            <a:pPr algn="l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dirty="0" smtClean="0">
                <a:latin typeface="Tahoma" panose="020B0604030504040204" pitchFamily="34" charset="0"/>
              </a:rPr>
              <a:t>   &lt;</a:t>
            </a:r>
            <a:r>
              <a:rPr lang="en-AU" sz="2000" dirty="0" smtClean="0"/>
              <a:t> </a:t>
            </a:r>
            <a:r>
              <a:rPr lang="en-AU" sz="2000" dirty="0"/>
              <a:t>x</a:t>
            </a:r>
            <a:r>
              <a:rPr lang="en-AU" sz="2000" baseline="-25000" dirty="0"/>
              <a:t>i</a:t>
            </a:r>
            <a:r>
              <a:rPr lang="en-US" altLang="zh-CN" sz="2000" dirty="0" smtClean="0">
                <a:latin typeface="Tahoma" panose="020B0604030504040204" pitchFamily="34" charset="0"/>
              </a:rPr>
              <a:t> </a:t>
            </a:r>
            <a:r>
              <a:rPr lang="en-AU" altLang="zh-CN" sz="2000" dirty="0" err="1" smtClean="0"/>
              <a:t>y</a:t>
            </a:r>
            <a:r>
              <a:rPr lang="en-AU" sz="2000" baseline="-25000" dirty="0" err="1" smtClean="0"/>
              <a:t>i</a:t>
            </a:r>
            <a:r>
              <a:rPr lang="en-AU" sz="2000" baseline="-25000" dirty="0" smtClean="0"/>
              <a:t> </a:t>
            </a:r>
            <a:r>
              <a:rPr lang="en-US" altLang="zh-CN" sz="2000" dirty="0" smtClean="0">
                <a:latin typeface="Tahoma" panose="020B0604030504040204" pitchFamily="34" charset="0"/>
              </a:rPr>
              <a:t>&gt;) are there.</a:t>
            </a:r>
          </a:p>
          <a:p>
            <a:pPr marL="342900" indent="-342900" algn="l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000" dirty="0" smtClean="0">
                <a:latin typeface="Tahoma" panose="020B0604030504040204" pitchFamily="34" charset="0"/>
              </a:rPr>
              <a:t>By default a vector is a column vector</a:t>
            </a:r>
          </a:p>
          <a:p>
            <a:pPr marL="342900" indent="-342900" algn="l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AU" sz="2000" dirty="0" smtClean="0"/>
              <a:t>So, x</a:t>
            </a:r>
            <a:r>
              <a:rPr lang="en-AU" sz="2000" baseline="-25000" dirty="0" smtClean="0"/>
              <a:t>i</a:t>
            </a:r>
            <a:r>
              <a:rPr lang="en-US" altLang="zh-CN" sz="2000" dirty="0" smtClean="0">
                <a:latin typeface="Tahoma" panose="020B0604030504040204" pitchFamily="34" charset="0"/>
              </a:rPr>
              <a:t>=(</a:t>
            </a:r>
            <a:r>
              <a:rPr lang="en-AU" sz="2000" dirty="0"/>
              <a:t>x</a:t>
            </a:r>
            <a:r>
              <a:rPr lang="en-AU" sz="2000" baseline="-25000" dirty="0"/>
              <a:t>i1</a:t>
            </a:r>
            <a:r>
              <a:rPr lang="en-US" altLang="zh-CN" sz="2000" dirty="0" smtClean="0">
                <a:latin typeface="Tahoma" panose="020B0604030504040204" pitchFamily="34" charset="0"/>
              </a:rPr>
              <a:t>, </a:t>
            </a:r>
            <a:r>
              <a:rPr lang="en-AU" sz="2000" dirty="0" smtClean="0"/>
              <a:t>x</a:t>
            </a:r>
            <a:r>
              <a:rPr lang="en-AU" sz="2000" baseline="-25000" dirty="0" smtClean="0"/>
              <a:t>i2</a:t>
            </a:r>
            <a:r>
              <a:rPr lang="en-US" altLang="zh-CN" sz="2000" dirty="0" smtClean="0">
                <a:latin typeface="Tahoma" panose="020B0604030504040204" pitchFamily="34" charset="0"/>
              </a:rPr>
              <a:t>,…</a:t>
            </a:r>
            <a:r>
              <a:rPr lang="en-AU" sz="2000" dirty="0" err="1" smtClean="0"/>
              <a:t>x</a:t>
            </a:r>
            <a:r>
              <a:rPr lang="en-AU" sz="2000" baseline="-25000" dirty="0" err="1" smtClean="0"/>
              <a:t>id</a:t>
            </a:r>
            <a:r>
              <a:rPr lang="en-US" altLang="zh-CN" sz="2000" dirty="0" smtClean="0">
                <a:latin typeface="Tahoma" panose="020B0604030504040204" pitchFamily="34" charset="0"/>
              </a:rPr>
              <a:t>)</a:t>
            </a:r>
            <a:r>
              <a:rPr lang="en-AU" sz="2000" dirty="0"/>
              <a:t> </a:t>
            </a:r>
            <a:r>
              <a:rPr lang="en-AU" sz="2000" baseline="30000" dirty="0" smtClean="0"/>
              <a:t>T</a:t>
            </a:r>
            <a:endParaRPr lang="en-IN" sz="2000" dirty="0"/>
          </a:p>
          <a:p>
            <a:pPr algn="l">
              <a:spcBef>
                <a:spcPct val="50000"/>
              </a:spcBef>
              <a:buClr>
                <a:schemeClr val="tx1"/>
              </a:buClr>
            </a:pPr>
            <a:r>
              <a:rPr lang="en-AU" sz="2000" dirty="0" smtClean="0"/>
              <a:t>     </a:t>
            </a:r>
            <a:r>
              <a:rPr lang="en-AU" sz="2000" dirty="0" err="1" smtClean="0"/>
              <a:t>y</a:t>
            </a:r>
            <a:r>
              <a:rPr lang="en-AU" sz="2000" baseline="-25000" dirty="0" err="1" smtClean="0"/>
              <a:t>i</a:t>
            </a:r>
            <a:r>
              <a:rPr lang="en-AU" sz="2000" baseline="-25000" dirty="0" smtClean="0"/>
              <a:t> </a:t>
            </a:r>
            <a:r>
              <a:rPr lang="en-IN" sz="2000" dirty="0"/>
              <a:t>∈ </a:t>
            </a:r>
            <a:r>
              <a:rPr lang="en-IN" sz="2000" dirty="0" smtClean="0"/>
              <a:t>(-1,1)</a:t>
            </a:r>
          </a:p>
          <a:p>
            <a:pPr marL="342900" indent="-342900" algn="l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altLang="zh-CN" sz="2000" dirty="0" smtClean="0">
                <a:latin typeface="Tahoma" panose="020B0604030504040204" pitchFamily="34" charset="0"/>
              </a:rPr>
              <a:t>w are vector, b is intercept</a:t>
            </a:r>
            <a:endParaRPr lang="en-US" altLang="zh-CN" sz="2000" dirty="0" smtClean="0">
              <a:latin typeface="Tahoma" panose="020B0604030504040204" pitchFamily="34" charset="0"/>
            </a:endParaRPr>
          </a:p>
          <a:p>
            <a:pPr marL="342900" indent="-342900" algn="l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sz="2000" dirty="0" smtClean="0">
                <a:latin typeface="Tahoma" panose="020B0604030504040204" pitchFamily="34" charset="0"/>
              </a:rPr>
              <a:t> How </a:t>
            </a:r>
            <a:r>
              <a:rPr lang="en-US" altLang="zh-CN" sz="2000" dirty="0">
                <a:latin typeface="Tahoma" panose="020B0604030504040204" pitchFamily="34" charset="0"/>
              </a:rPr>
              <a:t>would you </a:t>
            </a:r>
            <a:r>
              <a:rPr lang="en-US" altLang="zh-CN" sz="2000" dirty="0" smtClean="0">
                <a:latin typeface="Tahoma" panose="020B0604030504040204" pitchFamily="34" charset="0"/>
              </a:rPr>
              <a:t>find </a:t>
            </a:r>
            <a:r>
              <a:rPr lang="en-US" altLang="zh-CN" sz="2000" i="1" dirty="0">
                <a:latin typeface="Tahoma" panose="020B0604030504040204" pitchFamily="34" charset="0"/>
              </a:rPr>
              <a:t>f</a:t>
            </a:r>
            <a:r>
              <a:rPr lang="en-US" altLang="zh-CN" sz="2000" dirty="0" smtClean="0">
                <a:latin typeface="Tahoma" panose="020B0604030504040204" pitchFamily="34" charset="0"/>
              </a:rPr>
              <a:t> ?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6559" y="1449807"/>
            <a:ext cx="4150686" cy="4038600"/>
            <a:chOff x="2438400" y="1676400"/>
            <a:chExt cx="4150686" cy="4038600"/>
          </a:xfrm>
        </p:grpSpPr>
        <p:sp>
          <p:nvSpPr>
            <p:cNvPr id="237583" name="Line 15"/>
            <p:cNvSpPr>
              <a:spLocks noChangeShapeType="1"/>
            </p:cNvSpPr>
            <p:nvPr/>
          </p:nvSpPr>
          <p:spPr bwMode="auto">
            <a:xfrm>
              <a:off x="2590800" y="2209800"/>
              <a:ext cx="0" cy="3505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37584" name="Line 16"/>
            <p:cNvSpPr>
              <a:spLocks noChangeShapeType="1"/>
            </p:cNvSpPr>
            <p:nvPr/>
          </p:nvSpPr>
          <p:spPr bwMode="auto">
            <a:xfrm flipV="1">
              <a:off x="2438400" y="5562600"/>
              <a:ext cx="3657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237585" name="Oval 17"/>
            <p:cNvSpPr>
              <a:spLocks noChangeAspect="1" noChangeArrowheads="1"/>
            </p:cNvSpPr>
            <p:nvPr/>
          </p:nvSpPr>
          <p:spPr bwMode="auto">
            <a:xfrm>
              <a:off x="3717925" y="5032375"/>
              <a:ext cx="60325" cy="47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86" name="Oval 18"/>
            <p:cNvSpPr>
              <a:spLocks noChangeAspect="1" noChangeArrowheads="1"/>
            </p:cNvSpPr>
            <p:nvPr/>
          </p:nvSpPr>
          <p:spPr bwMode="auto">
            <a:xfrm>
              <a:off x="2486025" y="3903663"/>
              <a:ext cx="60325" cy="476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87" name="Oval 19"/>
            <p:cNvSpPr>
              <a:spLocks noChangeAspect="1" noChangeArrowheads="1"/>
            </p:cNvSpPr>
            <p:nvPr/>
          </p:nvSpPr>
          <p:spPr bwMode="auto">
            <a:xfrm>
              <a:off x="4340225" y="2814638"/>
              <a:ext cx="60325" cy="476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88" name="Oval 20"/>
            <p:cNvSpPr>
              <a:spLocks noChangeAspect="1" noChangeArrowheads="1"/>
            </p:cNvSpPr>
            <p:nvPr/>
          </p:nvSpPr>
          <p:spPr bwMode="auto">
            <a:xfrm>
              <a:off x="4403725" y="3635375"/>
              <a:ext cx="60325" cy="47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89" name="Oval 21"/>
            <p:cNvSpPr>
              <a:spLocks noChangeAspect="1" noChangeArrowheads="1"/>
            </p:cNvSpPr>
            <p:nvPr/>
          </p:nvSpPr>
          <p:spPr bwMode="auto">
            <a:xfrm>
              <a:off x="3409950" y="2663825"/>
              <a:ext cx="60325" cy="50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0" name="Oval 22"/>
            <p:cNvSpPr>
              <a:spLocks noChangeAspect="1" noChangeArrowheads="1"/>
            </p:cNvSpPr>
            <p:nvPr/>
          </p:nvSpPr>
          <p:spPr bwMode="auto">
            <a:xfrm>
              <a:off x="3886200" y="3733800"/>
              <a:ext cx="53975" cy="476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1" name="Oval 23"/>
            <p:cNvSpPr>
              <a:spLocks noChangeAspect="1" noChangeArrowheads="1"/>
            </p:cNvSpPr>
            <p:nvPr/>
          </p:nvSpPr>
          <p:spPr bwMode="auto">
            <a:xfrm>
              <a:off x="3048000" y="3124200"/>
              <a:ext cx="60325" cy="587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2" name="Oval 24"/>
            <p:cNvSpPr>
              <a:spLocks noChangeAspect="1" noChangeArrowheads="1"/>
            </p:cNvSpPr>
            <p:nvPr/>
          </p:nvSpPr>
          <p:spPr bwMode="auto">
            <a:xfrm>
              <a:off x="5105400" y="4114800"/>
              <a:ext cx="60325" cy="508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3" name="Oval 25"/>
            <p:cNvSpPr>
              <a:spLocks noChangeAspect="1" noChangeArrowheads="1"/>
            </p:cNvSpPr>
            <p:nvPr/>
          </p:nvSpPr>
          <p:spPr bwMode="auto">
            <a:xfrm rot="-1118274">
              <a:off x="3887788" y="4443413"/>
              <a:ext cx="53975" cy="47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4" name="Oval 26"/>
            <p:cNvSpPr>
              <a:spLocks noChangeAspect="1" noChangeArrowheads="1"/>
            </p:cNvSpPr>
            <p:nvPr/>
          </p:nvSpPr>
          <p:spPr bwMode="auto">
            <a:xfrm rot="-1118274">
              <a:off x="6003925" y="3228975"/>
              <a:ext cx="60325" cy="508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5" name="Oval 27"/>
            <p:cNvSpPr>
              <a:spLocks noChangeAspect="1" noChangeArrowheads="1"/>
            </p:cNvSpPr>
            <p:nvPr/>
          </p:nvSpPr>
          <p:spPr bwMode="auto">
            <a:xfrm rot="-1118274">
              <a:off x="5295900" y="4545013"/>
              <a:ext cx="60325" cy="508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6" name="Oval 28"/>
            <p:cNvSpPr>
              <a:spLocks noChangeAspect="1" noChangeArrowheads="1"/>
            </p:cNvSpPr>
            <p:nvPr/>
          </p:nvSpPr>
          <p:spPr bwMode="auto">
            <a:xfrm rot="-1118274">
              <a:off x="3124200" y="2667000"/>
              <a:ext cx="60325" cy="508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7" name="Oval 29"/>
            <p:cNvSpPr>
              <a:spLocks noChangeAspect="1" noChangeArrowheads="1"/>
            </p:cNvSpPr>
            <p:nvPr/>
          </p:nvSpPr>
          <p:spPr bwMode="auto">
            <a:xfrm rot="-1118274">
              <a:off x="4711700" y="3584575"/>
              <a:ext cx="60325" cy="508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8" name="Oval 30"/>
            <p:cNvSpPr>
              <a:spLocks noChangeAspect="1" noChangeArrowheads="1"/>
            </p:cNvSpPr>
            <p:nvPr/>
          </p:nvSpPr>
          <p:spPr bwMode="auto">
            <a:xfrm rot="-1118274">
              <a:off x="5867400" y="4495800"/>
              <a:ext cx="60325" cy="476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599" name="Oval 31"/>
            <p:cNvSpPr>
              <a:spLocks noChangeAspect="1" noChangeArrowheads="1"/>
            </p:cNvSpPr>
            <p:nvPr/>
          </p:nvSpPr>
          <p:spPr bwMode="auto">
            <a:xfrm rot="-1118274">
              <a:off x="3114675" y="3640138"/>
              <a:ext cx="60325" cy="476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0" name="Oval 32"/>
            <p:cNvSpPr>
              <a:spLocks noChangeAspect="1" noChangeArrowheads="1"/>
            </p:cNvSpPr>
            <p:nvPr/>
          </p:nvSpPr>
          <p:spPr bwMode="auto">
            <a:xfrm rot="5895381">
              <a:off x="3867150" y="3057525"/>
              <a:ext cx="47625" cy="5397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1" name="Oval 33"/>
            <p:cNvSpPr>
              <a:spLocks noChangeAspect="1" noChangeArrowheads="1"/>
            </p:cNvSpPr>
            <p:nvPr/>
          </p:nvSpPr>
          <p:spPr bwMode="auto">
            <a:xfrm rot="5895381">
              <a:off x="4136231" y="5242719"/>
              <a:ext cx="55563" cy="6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2" name="Oval 34"/>
            <p:cNvSpPr>
              <a:spLocks noChangeAspect="1" noChangeArrowheads="1"/>
            </p:cNvSpPr>
            <p:nvPr/>
          </p:nvSpPr>
          <p:spPr bwMode="auto">
            <a:xfrm rot="5895381">
              <a:off x="3114675" y="4098925"/>
              <a:ext cx="47625" cy="603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3" name="Oval 35"/>
            <p:cNvSpPr>
              <a:spLocks noChangeAspect="1" noChangeArrowheads="1"/>
            </p:cNvSpPr>
            <p:nvPr/>
          </p:nvSpPr>
          <p:spPr bwMode="auto">
            <a:xfrm rot="5895381">
              <a:off x="4343400" y="2393950"/>
              <a:ext cx="47625" cy="5397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4" name="Oval 36"/>
            <p:cNvSpPr>
              <a:spLocks noChangeAspect="1" noChangeArrowheads="1"/>
            </p:cNvSpPr>
            <p:nvPr/>
          </p:nvSpPr>
          <p:spPr bwMode="auto">
            <a:xfrm rot="5895381">
              <a:off x="5304632" y="4144169"/>
              <a:ext cx="58737" cy="6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5" name="Oval 37"/>
            <p:cNvSpPr>
              <a:spLocks noChangeAspect="1" noChangeArrowheads="1"/>
            </p:cNvSpPr>
            <p:nvPr/>
          </p:nvSpPr>
          <p:spPr bwMode="auto">
            <a:xfrm rot="5895381">
              <a:off x="4370388" y="4079875"/>
              <a:ext cx="47625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6" name="Oval 38"/>
            <p:cNvSpPr>
              <a:spLocks noChangeAspect="1" noChangeArrowheads="1"/>
            </p:cNvSpPr>
            <p:nvPr/>
          </p:nvSpPr>
          <p:spPr bwMode="auto">
            <a:xfrm rot="5895381">
              <a:off x="5619750" y="3365500"/>
              <a:ext cx="47625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7" name="Oval 39"/>
            <p:cNvSpPr>
              <a:spLocks noChangeAspect="1" noChangeArrowheads="1"/>
            </p:cNvSpPr>
            <p:nvPr/>
          </p:nvSpPr>
          <p:spPr bwMode="auto">
            <a:xfrm rot="5895381">
              <a:off x="3087688" y="2346325"/>
              <a:ext cx="47625" cy="603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8" name="Oval 40"/>
            <p:cNvSpPr>
              <a:spLocks noChangeAspect="1" noChangeArrowheads="1"/>
            </p:cNvSpPr>
            <p:nvPr/>
          </p:nvSpPr>
          <p:spPr bwMode="auto">
            <a:xfrm rot="5895381">
              <a:off x="5260975" y="3273425"/>
              <a:ext cx="47625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09" name="Oval 41"/>
            <p:cNvSpPr>
              <a:spLocks noChangeAspect="1" noChangeArrowheads="1"/>
            </p:cNvSpPr>
            <p:nvPr/>
          </p:nvSpPr>
          <p:spPr bwMode="auto">
            <a:xfrm rot="5895381">
              <a:off x="5117307" y="4718844"/>
              <a:ext cx="58737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0" name="Oval 42"/>
            <p:cNvSpPr>
              <a:spLocks noChangeAspect="1" noChangeArrowheads="1"/>
            </p:cNvSpPr>
            <p:nvPr/>
          </p:nvSpPr>
          <p:spPr bwMode="auto">
            <a:xfrm rot="4777107">
              <a:off x="3498057" y="3534569"/>
              <a:ext cx="58737" cy="603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1" name="Oval 43"/>
            <p:cNvSpPr>
              <a:spLocks noChangeAspect="1" noChangeArrowheads="1"/>
            </p:cNvSpPr>
            <p:nvPr/>
          </p:nvSpPr>
          <p:spPr bwMode="auto">
            <a:xfrm rot="4777107">
              <a:off x="4651375" y="5254625"/>
              <a:ext cx="47625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2" name="Oval 44"/>
            <p:cNvSpPr>
              <a:spLocks noChangeAspect="1" noChangeArrowheads="1"/>
            </p:cNvSpPr>
            <p:nvPr/>
          </p:nvSpPr>
          <p:spPr bwMode="auto">
            <a:xfrm rot="4777107">
              <a:off x="4346575" y="4873625"/>
              <a:ext cx="47625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3" name="Oval 45"/>
            <p:cNvSpPr>
              <a:spLocks noChangeAspect="1" noChangeArrowheads="1"/>
            </p:cNvSpPr>
            <p:nvPr/>
          </p:nvSpPr>
          <p:spPr bwMode="auto">
            <a:xfrm rot="4777107">
              <a:off x="2817019" y="3736181"/>
              <a:ext cx="58738" cy="5397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4" name="Oval 46"/>
            <p:cNvSpPr>
              <a:spLocks noChangeAspect="1" noChangeArrowheads="1"/>
            </p:cNvSpPr>
            <p:nvPr/>
          </p:nvSpPr>
          <p:spPr bwMode="auto">
            <a:xfrm rot="4777107">
              <a:off x="3713163" y="2776537"/>
              <a:ext cx="50800" cy="5397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5" name="Oval 47"/>
            <p:cNvSpPr>
              <a:spLocks noChangeAspect="1" noChangeArrowheads="1"/>
            </p:cNvSpPr>
            <p:nvPr/>
          </p:nvSpPr>
          <p:spPr bwMode="auto">
            <a:xfrm rot="4777107">
              <a:off x="4356101" y="4364037"/>
              <a:ext cx="50800" cy="6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6" name="Oval 48"/>
            <p:cNvSpPr>
              <a:spLocks noChangeAspect="1" noChangeArrowheads="1"/>
            </p:cNvSpPr>
            <p:nvPr/>
          </p:nvSpPr>
          <p:spPr bwMode="auto">
            <a:xfrm rot="4777107">
              <a:off x="2504282" y="3082131"/>
              <a:ext cx="58738" cy="603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7" name="Oval 49"/>
            <p:cNvSpPr>
              <a:spLocks noChangeAspect="1" noChangeArrowheads="1"/>
            </p:cNvSpPr>
            <p:nvPr/>
          </p:nvSpPr>
          <p:spPr bwMode="auto">
            <a:xfrm rot="4777107">
              <a:off x="3937794" y="5049044"/>
              <a:ext cx="55563" cy="6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8" name="Oval 50"/>
            <p:cNvSpPr>
              <a:spLocks noChangeAspect="1" noChangeArrowheads="1"/>
            </p:cNvSpPr>
            <p:nvPr/>
          </p:nvSpPr>
          <p:spPr bwMode="auto">
            <a:xfrm rot="4777107">
              <a:off x="5303838" y="4756150"/>
              <a:ext cx="50800" cy="6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7619" name="Text Box 51"/>
            <p:cNvSpPr txBox="1">
              <a:spLocks noChangeArrowheads="1"/>
            </p:cNvSpPr>
            <p:nvPr/>
          </p:nvSpPr>
          <p:spPr bwMode="auto">
            <a:xfrm>
              <a:off x="3388686" y="1676766"/>
              <a:ext cx="3200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b="1" i="1" dirty="0">
                  <a:latin typeface="Tahoma" panose="020B0604030504040204" pitchFamily="34" charset="0"/>
                </a:rPr>
                <a:t>f</a:t>
              </a:r>
              <a:r>
                <a:rPr lang="en-US" altLang="zh-CN" sz="2000" i="1" dirty="0">
                  <a:latin typeface="Tahoma" panose="020B0604030504040204" pitchFamily="34" charset="0"/>
                </a:rPr>
                <a:t>(</a:t>
              </a:r>
              <a:r>
                <a:rPr lang="en-US" altLang="zh-CN" sz="2000" b="1" i="1" dirty="0" err="1">
                  <a:latin typeface="Tahoma" panose="020B0604030504040204" pitchFamily="34" charset="0"/>
                </a:rPr>
                <a:t>x</a:t>
              </a:r>
              <a:r>
                <a:rPr lang="en-US" altLang="zh-CN" sz="2000" i="1" dirty="0" err="1">
                  <a:latin typeface="Tahoma" panose="020B0604030504040204" pitchFamily="34" charset="0"/>
                </a:rPr>
                <a:t>,</a:t>
              </a:r>
              <a:r>
                <a:rPr lang="en-US" altLang="zh-CN" sz="2000" b="1" i="1" dirty="0" err="1">
                  <a:latin typeface="Tahoma" panose="020B0604030504040204" pitchFamily="34" charset="0"/>
                </a:rPr>
                <a:t>w</a:t>
              </a:r>
              <a:r>
                <a:rPr lang="en-US" altLang="zh-CN" sz="2000" i="1" dirty="0" err="1">
                  <a:latin typeface="Tahoma" panose="020B0604030504040204" pitchFamily="34" charset="0"/>
                </a:rPr>
                <a:t>,b</a:t>
              </a:r>
              <a:r>
                <a:rPr lang="en-US" altLang="zh-CN" sz="2000" i="1" dirty="0">
                  <a:latin typeface="Tahoma" panose="020B0604030504040204" pitchFamily="34" charset="0"/>
                </a:rPr>
                <a:t>) = sign(</a:t>
              </a:r>
              <a:r>
                <a:rPr lang="en-US" altLang="zh-CN" sz="2000" b="1" i="1" dirty="0">
                  <a:latin typeface="Tahoma" panose="020B0604030504040204" pitchFamily="34" charset="0"/>
                </a:rPr>
                <a:t>w x</a:t>
              </a:r>
              <a:r>
                <a:rPr lang="en-US" altLang="zh-CN" sz="2000" i="1" dirty="0">
                  <a:latin typeface="Tahoma" panose="020B0604030504040204" pitchFamily="34" charset="0"/>
                </a:rPr>
                <a:t> + b)</a:t>
              </a:r>
            </a:p>
          </p:txBody>
        </p:sp>
        <p:sp>
          <p:nvSpPr>
            <p:cNvPr id="237620" name="Line 52"/>
            <p:cNvSpPr>
              <a:spLocks noChangeShapeType="1"/>
            </p:cNvSpPr>
            <p:nvPr/>
          </p:nvSpPr>
          <p:spPr bwMode="auto">
            <a:xfrm flipV="1">
              <a:off x="2590800" y="2209800"/>
              <a:ext cx="3124200" cy="304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237623" name="Rectangle 55"/>
            <p:cNvSpPr>
              <a:spLocks noChangeArrowheads="1"/>
            </p:cNvSpPr>
            <p:nvPr/>
          </p:nvSpPr>
          <p:spPr bwMode="auto">
            <a:xfrm rot="-24333336">
              <a:off x="3962400" y="2743200"/>
              <a:ext cx="2438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i="1"/>
                <a:t>w x + b=0</a:t>
              </a:r>
            </a:p>
          </p:txBody>
        </p:sp>
        <p:sp>
          <p:nvSpPr>
            <p:cNvPr id="237624" name="Rectangle 56"/>
            <p:cNvSpPr>
              <a:spLocks noChangeArrowheads="1"/>
            </p:cNvSpPr>
            <p:nvPr/>
          </p:nvSpPr>
          <p:spPr bwMode="auto">
            <a:xfrm>
              <a:off x="3769686" y="4246838"/>
              <a:ext cx="2438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i="1" dirty="0"/>
                <a:t>w x + b&lt;0</a:t>
              </a:r>
            </a:p>
          </p:txBody>
        </p:sp>
        <p:sp>
          <p:nvSpPr>
            <p:cNvPr id="237625" name="Rectangle 57"/>
            <p:cNvSpPr>
              <a:spLocks noChangeArrowheads="1"/>
            </p:cNvSpPr>
            <p:nvPr/>
          </p:nvSpPr>
          <p:spPr bwMode="auto">
            <a:xfrm>
              <a:off x="2651768" y="2251958"/>
              <a:ext cx="2438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 i="1" dirty="0"/>
                <a:t>w x + b&gt;0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38200" y="5622925"/>
            <a:ext cx="1905000" cy="854075"/>
            <a:chOff x="838200" y="1981200"/>
            <a:chExt cx="1905000" cy="854075"/>
          </a:xfrm>
        </p:grpSpPr>
        <p:sp>
          <p:nvSpPr>
            <p:cNvPr id="58" name="Text Box 12"/>
            <p:cNvSpPr txBox="1">
              <a:spLocks noChangeArrowheads="1"/>
            </p:cNvSpPr>
            <p:nvPr/>
          </p:nvSpPr>
          <p:spPr bwMode="auto">
            <a:xfrm>
              <a:off x="838200" y="1981200"/>
              <a:ext cx="1905000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latin typeface="Tahoma" panose="020B0604030504040204" pitchFamily="34" charset="0"/>
                </a:rPr>
                <a:t>denotes +1</a:t>
              </a:r>
            </a:p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latin typeface="Tahoma" panose="020B0604030504040204" pitchFamily="34" charset="0"/>
                </a:rPr>
                <a:t>denotes -1</a:t>
              </a:r>
            </a:p>
          </p:txBody>
        </p:sp>
        <p:sp>
          <p:nvSpPr>
            <p:cNvPr id="59" name="Oval 13"/>
            <p:cNvSpPr>
              <a:spLocks noChangeAspect="1" noChangeArrowheads="1"/>
            </p:cNvSpPr>
            <p:nvPr/>
          </p:nvSpPr>
          <p:spPr bwMode="auto">
            <a:xfrm rot="4777107">
              <a:off x="915194" y="2132806"/>
              <a:ext cx="58738" cy="6032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Oval 14"/>
            <p:cNvSpPr>
              <a:spLocks noChangeAspect="1" noChangeArrowheads="1"/>
            </p:cNvSpPr>
            <p:nvPr/>
          </p:nvSpPr>
          <p:spPr bwMode="auto">
            <a:xfrm rot="5895381">
              <a:off x="915988" y="2589212"/>
              <a:ext cx="50800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4" name="Rectangle 4"/>
          <p:cNvSpPr>
            <a:spLocks noChangeArrowheads="1"/>
          </p:cNvSpPr>
          <p:nvPr/>
        </p:nvSpPr>
        <p:spPr bwMode="auto">
          <a:xfrm>
            <a:off x="152400" y="381000"/>
            <a:ext cx="4648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 Linear </a:t>
            </a:r>
            <a:r>
              <a:rPr lang="en-US" altLang="zh-CN" dirty="0" smtClean="0">
                <a:solidFill>
                  <a:schemeClr val="tx1"/>
                </a:solidFill>
              </a:rPr>
              <a:t>SVM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8200" y="1981200"/>
            <a:ext cx="1905000" cy="854075"/>
            <a:chOff x="838200" y="1981200"/>
            <a:chExt cx="1905000" cy="854075"/>
          </a:xfrm>
        </p:grpSpPr>
        <p:sp>
          <p:nvSpPr>
            <p:cNvPr id="240652" name="Text Box 12"/>
            <p:cNvSpPr txBox="1">
              <a:spLocks noChangeArrowheads="1"/>
            </p:cNvSpPr>
            <p:nvPr/>
          </p:nvSpPr>
          <p:spPr bwMode="auto">
            <a:xfrm>
              <a:off x="838200" y="1981200"/>
              <a:ext cx="1905000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latin typeface="Tahoma" panose="020B0604030504040204" pitchFamily="34" charset="0"/>
                </a:rPr>
                <a:t>denotes +1</a:t>
              </a:r>
            </a:p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latin typeface="Tahoma" panose="020B0604030504040204" pitchFamily="34" charset="0"/>
                </a:rPr>
                <a:t>denotes -1</a:t>
              </a:r>
            </a:p>
          </p:txBody>
        </p:sp>
        <p:sp>
          <p:nvSpPr>
            <p:cNvPr id="240654" name="Oval 14"/>
            <p:cNvSpPr>
              <a:spLocks noChangeAspect="1" noChangeArrowheads="1"/>
            </p:cNvSpPr>
            <p:nvPr/>
          </p:nvSpPr>
          <p:spPr bwMode="auto">
            <a:xfrm rot="5895381">
              <a:off x="915988" y="2589212"/>
              <a:ext cx="50800" cy="539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40691" name="Text Box 51"/>
          <p:cNvSpPr txBox="1">
            <a:spLocks noChangeArrowheads="1"/>
          </p:cNvSpPr>
          <p:nvPr/>
        </p:nvSpPr>
        <p:spPr bwMode="auto">
          <a:xfrm>
            <a:off x="5429250" y="1370012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latin typeface="Tahoma" panose="020B0604030504040204" pitchFamily="34" charset="0"/>
              </a:rPr>
              <a:t>f</a:t>
            </a:r>
            <a:r>
              <a:rPr lang="en-US" altLang="zh-CN" sz="2000" i="1" dirty="0">
                <a:latin typeface="Tahoma" panose="020B0604030504040204" pitchFamily="34" charset="0"/>
              </a:rPr>
              <a:t>(</a:t>
            </a:r>
            <a:r>
              <a:rPr lang="en-US" altLang="zh-CN" sz="2000" b="1" i="1" dirty="0" err="1">
                <a:latin typeface="Tahoma" panose="020B0604030504040204" pitchFamily="34" charset="0"/>
              </a:rPr>
              <a:t>x</a:t>
            </a:r>
            <a:r>
              <a:rPr lang="en-US" altLang="zh-CN" sz="2000" i="1" dirty="0" err="1">
                <a:latin typeface="Tahoma" panose="020B0604030504040204" pitchFamily="34" charset="0"/>
              </a:rPr>
              <a:t>,</a:t>
            </a:r>
            <a:r>
              <a:rPr lang="en-US" altLang="zh-CN" sz="2000" b="1" i="1" dirty="0" err="1">
                <a:latin typeface="Tahoma" panose="020B0604030504040204" pitchFamily="34" charset="0"/>
              </a:rPr>
              <a:t>w</a:t>
            </a:r>
            <a:r>
              <a:rPr lang="en-US" altLang="zh-CN" sz="2000" i="1" dirty="0" err="1">
                <a:latin typeface="Tahoma" panose="020B0604030504040204" pitchFamily="34" charset="0"/>
              </a:rPr>
              <a:t>,b</a:t>
            </a:r>
            <a:r>
              <a:rPr lang="en-US" altLang="zh-CN" sz="2000" i="1" dirty="0">
                <a:latin typeface="Tahoma" panose="020B0604030504040204" pitchFamily="34" charset="0"/>
              </a:rPr>
              <a:t>) = sign(</a:t>
            </a:r>
            <a:r>
              <a:rPr lang="en-US" altLang="zh-CN" sz="2000" b="1" i="1" dirty="0">
                <a:latin typeface="Tahoma" panose="020B0604030504040204" pitchFamily="34" charset="0"/>
              </a:rPr>
              <a:t>w x</a:t>
            </a:r>
            <a:r>
              <a:rPr lang="en-US" altLang="zh-CN" sz="2000" i="1" dirty="0">
                <a:latin typeface="Tahoma" panose="020B0604030504040204" pitchFamily="34" charset="0"/>
              </a:rPr>
              <a:t> + b)</a:t>
            </a:r>
          </a:p>
        </p:txBody>
      </p:sp>
      <p:sp>
        <p:nvSpPr>
          <p:cNvPr id="240693" name="Text Box 53"/>
          <p:cNvSpPr txBox="1">
            <a:spLocks noChangeArrowheads="1"/>
          </p:cNvSpPr>
          <p:nvPr/>
        </p:nvSpPr>
        <p:spPr bwMode="auto">
          <a:xfrm>
            <a:off x="6248400" y="32766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tx1"/>
              </a:buClr>
            </a:pPr>
            <a:endParaRPr lang="en-US" sz="2000">
              <a:latin typeface="Tahoma" panose="020B0604030504040204" pitchFamily="34" charset="0"/>
            </a:endParaRPr>
          </a:p>
        </p:txBody>
      </p:sp>
      <p:sp>
        <p:nvSpPr>
          <p:cNvPr id="240694" name="Text Box 54"/>
          <p:cNvSpPr txBox="1">
            <a:spLocks noChangeArrowheads="1"/>
          </p:cNvSpPr>
          <p:nvPr/>
        </p:nvSpPr>
        <p:spPr bwMode="auto">
          <a:xfrm>
            <a:off x="6400800" y="3429000"/>
            <a:ext cx="220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dirty="0" smtClean="0"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latin typeface="Tahoma" panose="020B0604030504040204" pitchFamily="34" charset="0"/>
              </a:rPr>
              <a:t>which is best?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533400" y="2637202"/>
            <a:ext cx="5400376" cy="3709369"/>
            <a:chOff x="76200" y="2255303"/>
            <a:chExt cx="5400376" cy="3709369"/>
          </a:xfrm>
        </p:grpSpPr>
        <p:sp>
          <p:nvSpPr>
            <p:cNvPr id="56" name="Line 4"/>
            <p:cNvSpPr>
              <a:spLocks noChangeShapeType="1"/>
            </p:cNvSpPr>
            <p:nvPr/>
          </p:nvSpPr>
          <p:spPr bwMode="auto">
            <a:xfrm flipV="1">
              <a:off x="76200" y="2704021"/>
              <a:ext cx="1588" cy="320357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Line 5"/>
            <p:cNvSpPr>
              <a:spLocks noChangeShapeType="1"/>
            </p:cNvSpPr>
            <p:nvPr/>
          </p:nvSpPr>
          <p:spPr bwMode="auto">
            <a:xfrm>
              <a:off x="76200" y="5906007"/>
              <a:ext cx="3809438" cy="5866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AutoShape 17"/>
            <p:cNvSpPr>
              <a:spLocks noChangeArrowheads="1"/>
            </p:cNvSpPr>
            <p:nvPr/>
          </p:nvSpPr>
          <p:spPr bwMode="auto">
            <a:xfrm>
              <a:off x="462331" y="3138333"/>
              <a:ext cx="971550" cy="396875"/>
            </a:xfrm>
            <a:prstGeom prst="roundRect">
              <a:avLst>
                <a:gd name="adj" fmla="val 398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ahoma" panose="020B0604030504040204" pitchFamily="34" charset="0"/>
                <a:buNone/>
              </a:pPr>
              <a:r>
                <a:rPr lang="en-GB" dirty="0">
                  <a:latin typeface="Tahoma" panose="020B0604030504040204" pitchFamily="34" charset="0"/>
                </a:rPr>
                <a:t>Class 1</a:t>
              </a:r>
            </a:p>
          </p:txBody>
        </p:sp>
        <p:pic>
          <p:nvPicPr>
            <p:cNvPr id="60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176" y="3577326"/>
              <a:ext cx="20574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5" name="Group 64"/>
            <p:cNvGrpSpPr/>
            <p:nvPr/>
          </p:nvGrpSpPr>
          <p:grpSpPr>
            <a:xfrm rot="5400000">
              <a:off x="466633" y="2461250"/>
              <a:ext cx="3631560" cy="3219666"/>
              <a:chOff x="35124" y="2552509"/>
              <a:chExt cx="3631560" cy="3219666"/>
            </a:xfrm>
          </p:grpSpPr>
          <p:sp>
            <p:nvSpPr>
              <p:cNvPr id="66" name="Oval 6"/>
              <p:cNvSpPr>
                <a:spLocks noChangeArrowheads="1"/>
              </p:cNvSpPr>
              <p:nvPr/>
            </p:nvSpPr>
            <p:spPr bwMode="auto">
              <a:xfrm rot="10968464">
                <a:off x="1711531" y="5419833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67" name="Oval 7"/>
              <p:cNvSpPr>
                <a:spLocks noChangeArrowheads="1"/>
              </p:cNvSpPr>
              <p:nvPr/>
            </p:nvSpPr>
            <p:spPr bwMode="auto">
              <a:xfrm rot="10968464">
                <a:off x="1513067" y="4799767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68" name="Oval 8"/>
              <p:cNvSpPr>
                <a:spLocks noChangeArrowheads="1"/>
              </p:cNvSpPr>
              <p:nvPr/>
            </p:nvSpPr>
            <p:spPr bwMode="auto">
              <a:xfrm rot="10968464">
                <a:off x="687071" y="4530383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69" name="Oval 9"/>
              <p:cNvSpPr>
                <a:spLocks noChangeArrowheads="1"/>
              </p:cNvSpPr>
              <p:nvPr/>
            </p:nvSpPr>
            <p:spPr bwMode="auto">
              <a:xfrm rot="10968464">
                <a:off x="2175648" y="5290012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0" name="Oval 10"/>
              <p:cNvSpPr>
                <a:spLocks noChangeArrowheads="1"/>
              </p:cNvSpPr>
              <p:nvPr/>
            </p:nvSpPr>
            <p:spPr bwMode="auto">
              <a:xfrm rot="10968464">
                <a:off x="1234761" y="4252077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1" name="AutoShape 11"/>
              <p:cNvSpPr>
                <a:spLocks noChangeArrowheads="1"/>
              </p:cNvSpPr>
              <p:nvPr/>
            </p:nvSpPr>
            <p:spPr bwMode="auto">
              <a:xfrm rot="10968464">
                <a:off x="3514284" y="4440163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2" name="AutoShape 12"/>
              <p:cNvSpPr>
                <a:spLocks noChangeArrowheads="1"/>
              </p:cNvSpPr>
              <p:nvPr/>
            </p:nvSpPr>
            <p:spPr bwMode="auto">
              <a:xfrm rot="10968464">
                <a:off x="2318943" y="3923791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3" name="AutoShape 13"/>
              <p:cNvSpPr>
                <a:spLocks noChangeArrowheads="1"/>
              </p:cNvSpPr>
              <p:nvPr/>
            </p:nvSpPr>
            <p:spPr bwMode="auto">
              <a:xfrm rot="10968464">
                <a:off x="2493556" y="3474605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4" name="AutoShape 14"/>
              <p:cNvSpPr>
                <a:spLocks noChangeArrowheads="1"/>
              </p:cNvSpPr>
              <p:nvPr/>
            </p:nvSpPr>
            <p:spPr bwMode="auto">
              <a:xfrm rot="10968464">
                <a:off x="3080030" y="3961118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5" name="AutoShape 15"/>
              <p:cNvSpPr>
                <a:spLocks noChangeArrowheads="1"/>
              </p:cNvSpPr>
              <p:nvPr/>
            </p:nvSpPr>
            <p:spPr bwMode="auto">
              <a:xfrm rot="10968464">
                <a:off x="3403126" y="3595504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6" name="AutoShape 16"/>
              <p:cNvSpPr>
                <a:spLocks noChangeArrowheads="1"/>
              </p:cNvSpPr>
              <p:nvPr/>
            </p:nvSpPr>
            <p:spPr bwMode="auto">
              <a:xfrm rot="10968464">
                <a:off x="3194919" y="4729668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77" name="Line 19"/>
              <p:cNvSpPr>
                <a:spLocks noChangeShapeType="1"/>
              </p:cNvSpPr>
              <p:nvPr/>
            </p:nvSpPr>
            <p:spPr bwMode="auto">
              <a:xfrm rot="10968464">
                <a:off x="383585" y="3427090"/>
                <a:ext cx="2380971" cy="2345085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" name="Line 20"/>
              <p:cNvSpPr>
                <a:spLocks noChangeShapeType="1"/>
              </p:cNvSpPr>
              <p:nvPr/>
            </p:nvSpPr>
            <p:spPr bwMode="auto">
              <a:xfrm rot="10968464">
                <a:off x="948632" y="2621905"/>
                <a:ext cx="2629649" cy="2697149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Line 21"/>
              <p:cNvSpPr>
                <a:spLocks noChangeShapeType="1"/>
              </p:cNvSpPr>
              <p:nvPr/>
            </p:nvSpPr>
            <p:spPr bwMode="auto">
              <a:xfrm rot="10968464">
                <a:off x="35124" y="2552509"/>
                <a:ext cx="3359808" cy="3144900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85" name="Line 21"/>
          <p:cNvSpPr>
            <a:spLocks noChangeShapeType="1"/>
          </p:cNvSpPr>
          <p:nvPr/>
        </p:nvSpPr>
        <p:spPr bwMode="auto">
          <a:xfrm rot="16368464">
            <a:off x="774757" y="3151808"/>
            <a:ext cx="3672937" cy="2531340"/>
          </a:xfrm>
          <a:prstGeom prst="line">
            <a:avLst/>
          </a:prstGeom>
          <a:noFill/>
          <a:ln w="3816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" name="Line 21"/>
          <p:cNvSpPr>
            <a:spLocks noChangeShapeType="1"/>
          </p:cNvSpPr>
          <p:nvPr/>
        </p:nvSpPr>
        <p:spPr bwMode="auto">
          <a:xfrm rot="16368464">
            <a:off x="1423046" y="2561886"/>
            <a:ext cx="3027380" cy="3583735"/>
          </a:xfrm>
          <a:prstGeom prst="line">
            <a:avLst/>
          </a:prstGeom>
          <a:noFill/>
          <a:ln w="3816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" name="Line 21"/>
          <p:cNvSpPr>
            <a:spLocks noChangeShapeType="1"/>
          </p:cNvSpPr>
          <p:nvPr/>
        </p:nvSpPr>
        <p:spPr bwMode="auto">
          <a:xfrm rot="16368464">
            <a:off x="927157" y="3304208"/>
            <a:ext cx="3672937" cy="2531340"/>
          </a:xfrm>
          <a:prstGeom prst="line">
            <a:avLst/>
          </a:prstGeom>
          <a:noFill/>
          <a:ln w="3816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8" name="Line 21"/>
          <p:cNvSpPr>
            <a:spLocks noChangeShapeType="1"/>
          </p:cNvSpPr>
          <p:nvPr/>
        </p:nvSpPr>
        <p:spPr bwMode="auto">
          <a:xfrm rot="16368464">
            <a:off x="1241863" y="2534481"/>
            <a:ext cx="3074076" cy="3592328"/>
          </a:xfrm>
          <a:prstGeom prst="line">
            <a:avLst/>
          </a:prstGeom>
          <a:noFill/>
          <a:ln w="3816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9" name="Oval 8"/>
          <p:cNvSpPr>
            <a:spLocks noChangeArrowheads="1"/>
          </p:cNvSpPr>
          <p:nvPr/>
        </p:nvSpPr>
        <p:spPr bwMode="auto">
          <a:xfrm rot="16368464">
            <a:off x="913242" y="2068012"/>
            <a:ext cx="152400" cy="152400"/>
          </a:xfrm>
          <a:prstGeom prst="ellipse">
            <a:avLst/>
          </a:prstGeom>
          <a:solidFill>
            <a:srgbClr val="00E4A8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IN" sz="2400"/>
          </a:p>
        </p:txBody>
      </p:sp>
      <p:sp>
        <p:nvSpPr>
          <p:cNvPr id="90" name="AutoShape 13"/>
          <p:cNvSpPr>
            <a:spLocks noChangeArrowheads="1"/>
          </p:cNvSpPr>
          <p:nvPr/>
        </p:nvSpPr>
        <p:spPr bwMode="auto">
          <a:xfrm rot="16368464">
            <a:off x="891617" y="2537827"/>
            <a:ext cx="152400" cy="152400"/>
          </a:xfrm>
          <a:prstGeom prst="roundRect">
            <a:avLst>
              <a:gd name="adj" fmla="val 1042"/>
            </a:avLst>
          </a:prstGeom>
          <a:solidFill>
            <a:srgbClr val="FF0000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IN" sz="2400"/>
          </a:p>
        </p:txBody>
      </p:sp>
      <p:sp>
        <p:nvSpPr>
          <p:cNvPr id="91" name="AutoShape 17"/>
          <p:cNvSpPr>
            <a:spLocks noChangeArrowheads="1"/>
          </p:cNvSpPr>
          <p:nvPr/>
        </p:nvSpPr>
        <p:spPr bwMode="auto">
          <a:xfrm>
            <a:off x="4053976" y="5091992"/>
            <a:ext cx="976848" cy="402291"/>
          </a:xfrm>
          <a:prstGeom prst="roundRect">
            <a:avLst>
              <a:gd name="adj" fmla="val 398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ahoma" panose="020B0604030504040204" pitchFamily="34" charset="0"/>
              <a:buNone/>
            </a:pPr>
            <a:r>
              <a:rPr lang="en-GB" dirty="0">
                <a:latin typeface="Tahoma" panose="020B0604030504040204" pitchFamily="34" charset="0"/>
              </a:rPr>
              <a:t>Class </a:t>
            </a:r>
            <a:r>
              <a:rPr lang="en-GB" dirty="0" smtClean="0">
                <a:latin typeface="Tahoma" panose="020B0604030504040204" pitchFamily="34" charset="0"/>
              </a:rPr>
              <a:t>2</a:t>
            </a:r>
            <a:endParaRPr lang="en-GB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rot="19057010">
            <a:off x="250987" y="4045678"/>
            <a:ext cx="3165316" cy="8199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2"/>
          <p:cNvSpPr txBox="1">
            <a:spLocks noChangeArrowheads="1"/>
          </p:cNvSpPr>
          <p:nvPr/>
        </p:nvSpPr>
        <p:spPr>
          <a:xfrm>
            <a:off x="304800" y="-304800"/>
            <a:ext cx="8029575" cy="119221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auto"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b="1" dirty="0" smtClean="0">
                <a:latin typeface="time (Headings)"/>
              </a:rPr>
              <a:t>Good Decision Boundary: Margin Should Be Large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>
          <a:xfrm>
            <a:off x="381000" y="974725"/>
            <a:ext cx="7773988" cy="12668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0663" indent="-220663" defTabSz="449263" fontAlgn="auto">
              <a:spcAft>
                <a:spcPts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The decision boundary should be </a:t>
            </a:r>
            <a:r>
              <a:rPr lang="en-GB" dirty="0" smtClean="0">
                <a:solidFill>
                  <a:srgbClr val="FF0000"/>
                </a:solidFill>
              </a:rPr>
              <a:t>as far away from the data of both classes as possible</a:t>
            </a:r>
          </a:p>
          <a:p>
            <a:pPr marL="517525" lvl="1" indent="-180975" defTabSz="449263" fontAlgn="auto">
              <a:spcAft>
                <a:spcPts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solidFill>
                  <a:srgbClr val="FF0000"/>
                </a:solidFill>
              </a:rPr>
              <a:t>maximize</a:t>
            </a:r>
            <a:r>
              <a:rPr lang="en-GB" dirty="0" smtClean="0"/>
              <a:t> the</a:t>
            </a:r>
            <a:r>
              <a:rPr lang="en-GB" dirty="0" smtClean="0">
                <a:solidFill>
                  <a:srgbClr val="FF0000"/>
                </a:solidFill>
              </a:rPr>
              <a:t> margin (</a:t>
            </a:r>
            <a:r>
              <a:rPr lang="en-GB" i="1" dirty="0" smtClean="0"/>
              <a:t>M)</a:t>
            </a:r>
          </a:p>
        </p:txBody>
      </p:sp>
      <p:pic>
        <p:nvPicPr>
          <p:cNvPr id="127" name="Picture 2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332034"/>
            <a:ext cx="136686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" name="Picture 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57950" y="3143248"/>
            <a:ext cx="256286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76200" y="2181225"/>
            <a:ext cx="6124575" cy="3783447"/>
            <a:chOff x="76200" y="2181225"/>
            <a:chExt cx="6124575" cy="3783447"/>
          </a:xfrm>
        </p:grpSpPr>
        <p:sp>
          <p:nvSpPr>
            <p:cNvPr id="105" name="Line 4"/>
            <p:cNvSpPr>
              <a:spLocks noChangeShapeType="1"/>
            </p:cNvSpPr>
            <p:nvPr/>
          </p:nvSpPr>
          <p:spPr bwMode="auto">
            <a:xfrm flipV="1">
              <a:off x="76200" y="2704021"/>
              <a:ext cx="1588" cy="320357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Line 5"/>
            <p:cNvSpPr>
              <a:spLocks noChangeShapeType="1"/>
            </p:cNvSpPr>
            <p:nvPr/>
          </p:nvSpPr>
          <p:spPr bwMode="auto">
            <a:xfrm>
              <a:off x="76200" y="5906007"/>
              <a:ext cx="3809438" cy="5866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AutoShape 17"/>
            <p:cNvSpPr>
              <a:spLocks noChangeArrowheads="1"/>
            </p:cNvSpPr>
            <p:nvPr/>
          </p:nvSpPr>
          <p:spPr bwMode="auto">
            <a:xfrm>
              <a:off x="462331" y="3138333"/>
              <a:ext cx="971550" cy="396875"/>
            </a:xfrm>
            <a:prstGeom prst="roundRect">
              <a:avLst>
                <a:gd name="adj" fmla="val 398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ahoma" panose="020B0604030504040204" pitchFamily="34" charset="0"/>
                <a:buNone/>
              </a:pPr>
              <a:r>
                <a:rPr lang="en-GB" dirty="0">
                  <a:latin typeface="Tahoma" panose="020B0604030504040204" pitchFamily="34" charset="0"/>
                </a:rPr>
                <a:t>Class 1</a:t>
              </a:r>
            </a:p>
          </p:txBody>
        </p:sp>
        <p:sp>
          <p:nvSpPr>
            <p:cNvPr id="119" name="AutoShape 18"/>
            <p:cNvSpPr>
              <a:spLocks noChangeArrowheads="1"/>
            </p:cNvSpPr>
            <p:nvPr/>
          </p:nvSpPr>
          <p:spPr bwMode="auto">
            <a:xfrm>
              <a:off x="3371850" y="3933825"/>
              <a:ext cx="971550" cy="396875"/>
            </a:xfrm>
            <a:prstGeom prst="roundRect">
              <a:avLst>
                <a:gd name="adj" fmla="val 398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ahoma" panose="020B0604030504040204" pitchFamily="34" charset="0"/>
                <a:buNone/>
              </a:pPr>
              <a:r>
                <a:rPr lang="en-GB" dirty="0">
                  <a:latin typeface="Tahoma" panose="020B0604030504040204" pitchFamily="34" charset="0"/>
                </a:rPr>
                <a:t>Class 2</a:t>
              </a:r>
            </a:p>
          </p:txBody>
        </p:sp>
        <p:pic>
          <p:nvPicPr>
            <p:cNvPr id="123" name="Picture 2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176" y="2834114"/>
              <a:ext cx="20574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2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333" y="2515266"/>
              <a:ext cx="203993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" name="Picture 2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3725" y="4416274"/>
              <a:ext cx="230822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" name="Text Box 37"/>
            <p:cNvSpPr txBox="1">
              <a:spLocks noChangeArrowheads="1"/>
            </p:cNvSpPr>
            <p:nvPr/>
          </p:nvSpPr>
          <p:spPr bwMode="auto">
            <a:xfrm>
              <a:off x="3222270" y="5073601"/>
              <a:ext cx="2707052" cy="83099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sz="1600" b="1" dirty="0">
                  <a:solidFill>
                    <a:srgbClr val="FF0000"/>
                  </a:solidFill>
                </a:rPr>
                <a:t>Support vectors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US" sz="1600" dirty="0" smtClean="0"/>
                <a:t>Data points </a:t>
              </a:r>
              <a:r>
                <a:rPr lang="en-US" sz="1600" dirty="0"/>
                <a:t>that the margin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US" sz="1600" dirty="0"/>
                <a:t>pushes up against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36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4217700721"/>
                </p:ext>
              </p:extLst>
            </p:nvPr>
          </p:nvGraphicFramePr>
          <p:xfrm>
            <a:off x="5154613" y="2181225"/>
            <a:ext cx="1046162" cy="604838"/>
          </p:xfrm>
          <a:graphic>
            <a:graphicData uri="http://schemas.openxmlformats.org/presentationml/2006/ole">
              <p:oleObj spid="_x0000_s341006" name="Microsoft Equation 3.0" r:id="rId9" imgW="723600" imgH="419040" progId="">
                <p:embed/>
              </p:oleObj>
            </a:graphicData>
          </a:graphic>
        </p:graphicFrame>
        <p:grpSp>
          <p:nvGrpSpPr>
            <p:cNvPr id="4" name="Group 3"/>
            <p:cNvGrpSpPr/>
            <p:nvPr/>
          </p:nvGrpSpPr>
          <p:grpSpPr>
            <a:xfrm rot="5400000">
              <a:off x="445614" y="2266485"/>
              <a:ext cx="3648528" cy="3603358"/>
              <a:chOff x="23721" y="2373198"/>
              <a:chExt cx="3648528" cy="3603358"/>
            </a:xfrm>
          </p:grpSpPr>
          <p:sp>
            <p:nvSpPr>
              <p:cNvPr id="107" name="Oval 6"/>
              <p:cNvSpPr>
                <a:spLocks noChangeArrowheads="1"/>
              </p:cNvSpPr>
              <p:nvPr/>
            </p:nvSpPr>
            <p:spPr bwMode="auto">
              <a:xfrm rot="10968464">
                <a:off x="1711531" y="5419833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08" name="Oval 7"/>
              <p:cNvSpPr>
                <a:spLocks noChangeArrowheads="1"/>
              </p:cNvSpPr>
              <p:nvPr/>
            </p:nvSpPr>
            <p:spPr bwMode="auto">
              <a:xfrm rot="10968464">
                <a:off x="1513067" y="4799767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09" name="Oval 8"/>
              <p:cNvSpPr>
                <a:spLocks noChangeArrowheads="1"/>
              </p:cNvSpPr>
              <p:nvPr/>
            </p:nvSpPr>
            <p:spPr bwMode="auto">
              <a:xfrm rot="10968464">
                <a:off x="687071" y="4530383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0" name="Oval 9"/>
              <p:cNvSpPr>
                <a:spLocks noChangeArrowheads="1"/>
              </p:cNvSpPr>
              <p:nvPr/>
            </p:nvSpPr>
            <p:spPr bwMode="auto">
              <a:xfrm rot="10968464">
                <a:off x="2175648" y="5290012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1" name="Oval 10"/>
              <p:cNvSpPr>
                <a:spLocks noChangeArrowheads="1"/>
              </p:cNvSpPr>
              <p:nvPr/>
            </p:nvSpPr>
            <p:spPr bwMode="auto">
              <a:xfrm rot="10968464">
                <a:off x="1234761" y="4252077"/>
                <a:ext cx="152400" cy="152400"/>
              </a:xfrm>
              <a:prstGeom prst="ellipse">
                <a:avLst/>
              </a:prstGeom>
              <a:solidFill>
                <a:srgbClr val="00E4A8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2" name="AutoShape 11"/>
              <p:cNvSpPr>
                <a:spLocks noChangeArrowheads="1"/>
              </p:cNvSpPr>
              <p:nvPr/>
            </p:nvSpPr>
            <p:spPr bwMode="auto">
              <a:xfrm rot="10968464">
                <a:off x="3514284" y="4440163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3" name="AutoShape 12"/>
              <p:cNvSpPr>
                <a:spLocks noChangeArrowheads="1"/>
              </p:cNvSpPr>
              <p:nvPr/>
            </p:nvSpPr>
            <p:spPr bwMode="auto">
              <a:xfrm rot="10968464">
                <a:off x="2318943" y="3923791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4" name="AutoShape 13"/>
              <p:cNvSpPr>
                <a:spLocks noChangeArrowheads="1"/>
              </p:cNvSpPr>
              <p:nvPr/>
            </p:nvSpPr>
            <p:spPr bwMode="auto">
              <a:xfrm rot="10968464">
                <a:off x="2493556" y="3474605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5" name="AutoShape 14"/>
              <p:cNvSpPr>
                <a:spLocks noChangeArrowheads="1"/>
              </p:cNvSpPr>
              <p:nvPr/>
            </p:nvSpPr>
            <p:spPr bwMode="auto">
              <a:xfrm rot="10968464">
                <a:off x="3080030" y="3961118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6" name="AutoShape 15"/>
              <p:cNvSpPr>
                <a:spLocks noChangeArrowheads="1"/>
              </p:cNvSpPr>
              <p:nvPr/>
            </p:nvSpPr>
            <p:spPr bwMode="auto">
              <a:xfrm rot="10968464">
                <a:off x="3403126" y="3595504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17" name="AutoShape 16"/>
              <p:cNvSpPr>
                <a:spLocks noChangeArrowheads="1"/>
              </p:cNvSpPr>
              <p:nvPr/>
            </p:nvSpPr>
            <p:spPr bwMode="auto">
              <a:xfrm rot="10968464">
                <a:off x="3194919" y="4729668"/>
                <a:ext cx="1524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lang="en-IN" sz="2400"/>
              </a:p>
            </p:txBody>
          </p:sp>
          <p:sp>
            <p:nvSpPr>
              <p:cNvPr id="120" name="Line 19"/>
              <p:cNvSpPr>
                <a:spLocks noChangeShapeType="1"/>
              </p:cNvSpPr>
              <p:nvPr/>
            </p:nvSpPr>
            <p:spPr bwMode="auto">
              <a:xfrm rot="10968464">
                <a:off x="383585" y="3427090"/>
                <a:ext cx="2380971" cy="2345085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1" name="Line 20"/>
              <p:cNvSpPr>
                <a:spLocks noChangeShapeType="1"/>
              </p:cNvSpPr>
              <p:nvPr/>
            </p:nvSpPr>
            <p:spPr bwMode="auto">
              <a:xfrm rot="10968464">
                <a:off x="951123" y="2620471"/>
                <a:ext cx="2568619" cy="2596919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2" name="Line 21"/>
              <p:cNvSpPr>
                <a:spLocks noChangeShapeType="1"/>
              </p:cNvSpPr>
              <p:nvPr/>
            </p:nvSpPr>
            <p:spPr bwMode="auto">
              <a:xfrm rot="10968464">
                <a:off x="23721" y="2373198"/>
                <a:ext cx="3648528" cy="3603358"/>
              </a:xfrm>
              <a:prstGeom prst="line">
                <a:avLst/>
              </a:prstGeom>
              <a:noFill/>
              <a:ln w="38160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" name="Line 25"/>
              <p:cNvSpPr>
                <a:spLocks noChangeShapeType="1"/>
              </p:cNvSpPr>
              <p:nvPr/>
            </p:nvSpPr>
            <p:spPr bwMode="auto">
              <a:xfrm rot="10968464" flipH="1">
                <a:off x="783616" y="3023726"/>
                <a:ext cx="727075" cy="733425"/>
              </a:xfrm>
              <a:prstGeom prst="line">
                <a:avLst/>
              </a:prstGeom>
              <a:noFill/>
              <a:ln w="2556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8" name="AutoShape 27"/>
              <p:cNvSpPr>
                <a:spLocks noChangeArrowheads="1"/>
              </p:cNvSpPr>
              <p:nvPr/>
            </p:nvSpPr>
            <p:spPr bwMode="auto">
              <a:xfrm rot="16525896">
                <a:off x="609346" y="3212607"/>
                <a:ext cx="419002" cy="463846"/>
              </a:xfrm>
              <a:prstGeom prst="roundRect">
                <a:avLst>
                  <a:gd name="adj" fmla="val 36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CC00CC"/>
                  </a:buClr>
                  <a:buFont typeface="Tahoma" panose="020B0604030504040204" pitchFamily="34" charset="0"/>
                  <a:buNone/>
                </a:pPr>
                <a:r>
                  <a:rPr lang="en-GB" sz="2400" i="1" dirty="0">
                    <a:solidFill>
                      <a:srgbClr val="CC00CC"/>
                    </a:solidFill>
                    <a:latin typeface="Tahoma" panose="020B0604030504040204" pitchFamily="34" charset="0"/>
                  </a:rPr>
                  <a:t>M</a:t>
                </a:r>
              </a:p>
            </p:txBody>
          </p:sp>
          <p:sp>
            <p:nvSpPr>
              <p:cNvPr id="132" name="Line 35"/>
              <p:cNvSpPr>
                <a:spLocks noChangeShapeType="1"/>
              </p:cNvSpPr>
              <p:nvPr/>
            </p:nvSpPr>
            <p:spPr bwMode="auto">
              <a:xfrm flipV="1">
                <a:off x="2388185" y="3230113"/>
                <a:ext cx="796801" cy="84972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" name="Line 36"/>
              <p:cNvSpPr>
                <a:spLocks noChangeShapeType="1"/>
              </p:cNvSpPr>
              <p:nvPr/>
            </p:nvSpPr>
            <p:spPr bwMode="auto">
              <a:xfrm flipV="1">
                <a:off x="1373150" y="3228324"/>
                <a:ext cx="1770795" cy="110237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Line 36"/>
              <p:cNvSpPr>
                <a:spLocks noChangeShapeType="1"/>
              </p:cNvSpPr>
              <p:nvPr/>
            </p:nvSpPr>
            <p:spPr bwMode="auto">
              <a:xfrm flipV="1">
                <a:off x="2264235" y="3255375"/>
                <a:ext cx="1021740" cy="203099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44" name="Text Box 109"/>
          <p:cNvSpPr txBox="1">
            <a:spLocks noChangeArrowheads="1"/>
          </p:cNvSpPr>
          <p:nvPr/>
        </p:nvSpPr>
        <p:spPr bwMode="auto">
          <a:xfrm>
            <a:off x="6052045" y="3844925"/>
            <a:ext cx="28633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solidFill>
                  <a:schemeClr val="accent2"/>
                </a:solidFill>
                <a:latin typeface="Tahoma" panose="020B0604030504040204" pitchFamily="34" charset="0"/>
              </a:rPr>
              <a:t>margin</a:t>
            </a:r>
            <a:r>
              <a:rPr lang="en-US" altLang="zh-CN" sz="2400" dirty="0" smtClean="0">
                <a:latin typeface="Tahoma" panose="020B0604030504040204" pitchFamily="34" charset="0"/>
              </a:rPr>
              <a:t> </a:t>
            </a:r>
            <a:r>
              <a:rPr lang="en-US" altLang="zh-CN" sz="2400" dirty="0">
                <a:latin typeface="Tahoma" panose="020B0604030504040204" pitchFamily="34" charset="0"/>
              </a:rPr>
              <a:t>of a linear classifier </a:t>
            </a:r>
            <a:r>
              <a:rPr lang="en-US" altLang="zh-CN" sz="2400" dirty="0" smtClean="0">
                <a:latin typeface="Tahoma" panose="020B0604030504040204" pitchFamily="34" charset="0"/>
              </a:rPr>
              <a:t>is </a:t>
            </a:r>
            <a:r>
              <a:rPr lang="en-US" altLang="zh-CN" sz="2400" dirty="0">
                <a:latin typeface="Tahoma" panose="020B0604030504040204" pitchFamily="34" charset="0"/>
              </a:rPr>
              <a:t>the width that the boundary could be increased by before hitting a </a:t>
            </a:r>
            <a:r>
              <a:rPr lang="en-US" altLang="zh-CN" sz="2400" dirty="0" smtClean="0">
                <a:latin typeface="Tahoma" panose="020B0604030504040204" pitchFamily="34" charset="0"/>
              </a:rPr>
              <a:t>data point</a:t>
            </a:r>
            <a:r>
              <a:rPr lang="en-US" altLang="zh-CN" sz="24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3037" y="6096000"/>
            <a:ext cx="7042169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Assignments: 1. Why support vector is called as vector??</a:t>
            </a:r>
          </a:p>
          <a:p>
            <a:pPr algn="l"/>
            <a:r>
              <a:rPr lang="en-IN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Why 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IN" sz="2000" b="1" baseline="30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X+b</a:t>
            </a:r>
            <a:r>
              <a:rPr lang="en-IN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=1? Why not   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IN" sz="2000" b="1" baseline="300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X+b</a:t>
            </a:r>
            <a:r>
              <a:rPr lang="en-IN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=C?</a:t>
            </a:r>
            <a:endParaRPr lang="en-IN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urved Down Arrow 38"/>
          <p:cNvSpPr/>
          <p:nvPr/>
        </p:nvSpPr>
        <p:spPr>
          <a:xfrm>
            <a:off x="6072197" y="1785926"/>
            <a:ext cx="1537731" cy="6429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urved Up Arrow 39"/>
          <p:cNvSpPr/>
          <p:nvPr/>
        </p:nvSpPr>
        <p:spPr>
          <a:xfrm rot="11531133">
            <a:off x="2013520" y="2328241"/>
            <a:ext cx="991576" cy="357190"/>
          </a:xfrm>
          <a:prstGeom prst="curvedUpArrow">
            <a:avLst>
              <a:gd name="adj1" fmla="val 25000"/>
              <a:gd name="adj2" fmla="val 50000"/>
              <a:gd name="adj3" fmla="val 198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Curved Down Arrow 40"/>
          <p:cNvSpPr/>
          <p:nvPr/>
        </p:nvSpPr>
        <p:spPr>
          <a:xfrm rot="2064215">
            <a:off x="3395520" y="3675133"/>
            <a:ext cx="1762049" cy="4270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Curved Down Arrow 41"/>
          <p:cNvSpPr/>
          <p:nvPr/>
        </p:nvSpPr>
        <p:spPr>
          <a:xfrm rot="2064215">
            <a:off x="3992555" y="2353300"/>
            <a:ext cx="1129059" cy="4270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44" grpId="0"/>
      <p:bldP spid="145" grpId="0" animBg="1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77813"/>
            <a:ext cx="8401080" cy="497023"/>
          </a:xfrm>
        </p:spPr>
        <p:txBody>
          <a:bodyPr>
            <a:no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time (Headings)"/>
              </a:rPr>
              <a:t>Formulate Margin: </a:t>
            </a:r>
            <a:br>
              <a:rPr lang="en-US" altLang="zh-CN" sz="2800" dirty="0" smtClean="0">
                <a:solidFill>
                  <a:srgbClr val="FF0000"/>
                </a:solidFill>
                <a:latin typeface="time (Headings)"/>
              </a:rPr>
            </a:br>
            <a:r>
              <a:rPr lang="en-US" altLang="zh-CN" sz="2800" dirty="0" smtClean="0">
                <a:solidFill>
                  <a:srgbClr val="FF0000"/>
                </a:solidFill>
                <a:latin typeface="time (Headings)"/>
              </a:rPr>
              <a:t>Distance between the two margin line</a:t>
            </a:r>
            <a:endParaRPr lang="en-US" altLang="zh-CN" sz="2800" dirty="0">
              <a:solidFill>
                <a:srgbClr val="FF0000"/>
              </a:solidFill>
              <a:latin typeface="time (Headings)"/>
            </a:endParaRPr>
          </a:p>
        </p:txBody>
      </p:sp>
      <p:sp>
        <p:nvSpPr>
          <p:cNvPr id="25190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4191000"/>
            <a:ext cx="3886200" cy="1939925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What we know:</a:t>
            </a:r>
          </a:p>
          <a:p>
            <a:r>
              <a:rPr lang="en-US" altLang="zh-CN" sz="2600" b="1" i="1" dirty="0"/>
              <a:t>w</a:t>
            </a:r>
            <a:r>
              <a:rPr lang="en-US" altLang="zh-CN" sz="2600" i="1" dirty="0"/>
              <a:t> . </a:t>
            </a:r>
            <a:r>
              <a:rPr lang="en-US" altLang="zh-CN" sz="2600" b="1" i="1" dirty="0"/>
              <a:t>x</a:t>
            </a:r>
            <a:r>
              <a:rPr lang="en-US" altLang="zh-CN" sz="2600" b="1" i="1" baseline="30000" dirty="0"/>
              <a:t>+</a:t>
            </a:r>
            <a:r>
              <a:rPr lang="en-US" altLang="zh-CN" sz="2600" i="1" dirty="0"/>
              <a:t> + b = +</a:t>
            </a:r>
            <a:r>
              <a:rPr lang="en-US" altLang="zh-CN" sz="2600" i="1" dirty="0" smtClean="0"/>
              <a:t>1 …….(1) </a:t>
            </a:r>
            <a:endParaRPr lang="en-US" altLang="zh-CN" sz="2600" i="1" dirty="0"/>
          </a:p>
          <a:p>
            <a:r>
              <a:rPr lang="en-US" altLang="zh-CN" sz="2600" b="1" i="1" dirty="0"/>
              <a:t>w</a:t>
            </a:r>
            <a:r>
              <a:rPr lang="en-US" altLang="zh-CN" sz="2600" i="1" dirty="0"/>
              <a:t> . </a:t>
            </a:r>
            <a:r>
              <a:rPr lang="en-US" altLang="zh-CN" sz="2600" b="1" i="1" dirty="0"/>
              <a:t>x</a:t>
            </a:r>
            <a:r>
              <a:rPr lang="en-US" altLang="zh-CN" sz="2600" b="1" i="1" baseline="30000" dirty="0"/>
              <a:t>-</a:t>
            </a:r>
            <a:r>
              <a:rPr lang="en-US" altLang="zh-CN" sz="2600" i="1" dirty="0"/>
              <a:t> + b = -1 </a:t>
            </a:r>
            <a:r>
              <a:rPr lang="en-US" altLang="zh-CN" sz="2600" i="1" dirty="0" smtClean="0"/>
              <a:t>……..(2)</a:t>
            </a:r>
            <a:endParaRPr lang="en-US" altLang="zh-CN" sz="2600" i="1" dirty="0"/>
          </a:p>
          <a:p>
            <a:r>
              <a:rPr lang="en-US" altLang="zh-CN" sz="2600" i="1" dirty="0" err="1" smtClean="0"/>
              <a:t>Eqn</a:t>
            </a:r>
            <a:r>
              <a:rPr lang="en-US" altLang="zh-CN" sz="2600" i="1" dirty="0" smtClean="0"/>
              <a:t> (1) – (2)</a:t>
            </a:r>
          </a:p>
          <a:p>
            <a:r>
              <a:rPr lang="en-US" altLang="zh-CN" sz="2600" b="1" i="1" dirty="0" smtClean="0"/>
              <a:t>w</a:t>
            </a:r>
            <a:r>
              <a:rPr lang="en-US" altLang="zh-CN" sz="2600" i="1" dirty="0" smtClean="0"/>
              <a:t> </a:t>
            </a:r>
            <a:r>
              <a:rPr lang="en-US" altLang="zh-CN" sz="2600" i="1" dirty="0"/>
              <a:t>. (</a:t>
            </a:r>
            <a:r>
              <a:rPr lang="en-US" altLang="zh-CN" sz="2600" b="1" i="1" dirty="0"/>
              <a:t>x</a:t>
            </a:r>
            <a:r>
              <a:rPr lang="en-US" altLang="zh-CN" sz="2600" b="1" i="1" baseline="30000" dirty="0" smtClean="0"/>
              <a:t>+ </a:t>
            </a:r>
            <a:r>
              <a:rPr lang="en-US" altLang="zh-CN" sz="2600" b="1" i="1" dirty="0" smtClean="0"/>
              <a:t>- x</a:t>
            </a:r>
            <a:r>
              <a:rPr lang="en-US" altLang="zh-CN" sz="2600" b="1" i="1" baseline="30000" dirty="0" smtClean="0"/>
              <a:t>- </a:t>
            </a:r>
            <a:r>
              <a:rPr lang="en-US" altLang="zh-CN" sz="2600" i="1" dirty="0" smtClean="0"/>
              <a:t>)= </a:t>
            </a:r>
            <a:r>
              <a:rPr lang="en-US" altLang="zh-CN" sz="2600" i="1" dirty="0"/>
              <a:t>2 </a:t>
            </a:r>
            <a:endParaRPr lang="en-US" altLang="zh-CN" sz="2600" dirty="0"/>
          </a:p>
        </p:txBody>
      </p:sp>
      <p:grpSp>
        <p:nvGrpSpPr>
          <p:cNvPr id="2" name="Group 1"/>
          <p:cNvGrpSpPr/>
          <p:nvPr/>
        </p:nvGrpSpPr>
        <p:grpSpPr>
          <a:xfrm rot="192165">
            <a:off x="990600" y="1216025"/>
            <a:ext cx="4536540" cy="2365375"/>
            <a:chOff x="1219200" y="1019175"/>
            <a:chExt cx="4536540" cy="2365375"/>
          </a:xfrm>
        </p:grpSpPr>
        <p:sp>
          <p:nvSpPr>
            <p:cNvPr id="251909" name="Line 5"/>
            <p:cNvSpPr>
              <a:spLocks noChangeShapeType="1"/>
            </p:cNvSpPr>
            <p:nvPr/>
          </p:nvSpPr>
          <p:spPr bwMode="auto">
            <a:xfrm rot="20000665">
              <a:off x="2292350" y="1709738"/>
              <a:ext cx="2971800" cy="0"/>
            </a:xfrm>
            <a:prstGeom prst="line">
              <a:avLst/>
            </a:prstGeom>
            <a:noFill/>
            <a:ln w="127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251910" name="Line 6"/>
            <p:cNvSpPr>
              <a:spLocks noChangeShapeType="1"/>
            </p:cNvSpPr>
            <p:nvPr/>
          </p:nvSpPr>
          <p:spPr bwMode="auto">
            <a:xfrm rot="20000665">
              <a:off x="2438400" y="2000250"/>
              <a:ext cx="2971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251911" name="Line 7"/>
            <p:cNvSpPr>
              <a:spLocks noChangeShapeType="1"/>
            </p:cNvSpPr>
            <p:nvPr/>
          </p:nvSpPr>
          <p:spPr bwMode="auto">
            <a:xfrm rot="20000665">
              <a:off x="2582863" y="2289175"/>
              <a:ext cx="29718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251912" name="Text Box 8"/>
            <p:cNvSpPr txBox="1">
              <a:spLocks noChangeArrowheads="1"/>
            </p:cNvSpPr>
            <p:nvPr/>
          </p:nvSpPr>
          <p:spPr bwMode="auto">
            <a:xfrm rot="20013014">
              <a:off x="1596944" y="1550221"/>
              <a:ext cx="30480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solidFill>
                    <a:srgbClr val="FF0000"/>
                  </a:solidFill>
                  <a:latin typeface="Tahoma" panose="020B0604030504040204" pitchFamily="34" charset="0"/>
                </a:rPr>
                <a:t>“Predict Class = +1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Tahoma" panose="020B0604030504040204" pitchFamily="34" charset="0"/>
                </a:rPr>
                <a:t>”</a:t>
              </a:r>
              <a:endPara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1913" name="Text Box 9"/>
            <p:cNvSpPr txBox="1">
              <a:spLocks noChangeArrowheads="1"/>
            </p:cNvSpPr>
            <p:nvPr/>
          </p:nvSpPr>
          <p:spPr bwMode="auto">
            <a:xfrm rot="20013014">
              <a:off x="2868077" y="2754235"/>
              <a:ext cx="288766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dirty="0">
                  <a:solidFill>
                    <a:srgbClr val="33CC33"/>
                  </a:solidFill>
                  <a:latin typeface="Tahoma" panose="020B0604030504040204" pitchFamily="34" charset="0"/>
                </a:rPr>
                <a:t>“Predict Class = -1</a:t>
              </a:r>
              <a:r>
                <a:rPr lang="en-US" altLang="zh-CN" sz="2000" dirty="0" smtClean="0">
                  <a:solidFill>
                    <a:srgbClr val="33CC33"/>
                  </a:solidFill>
                  <a:latin typeface="Tahoma" panose="020B0604030504040204" pitchFamily="34" charset="0"/>
                </a:rPr>
                <a:t>”</a:t>
              </a:r>
              <a:endParaRPr lang="en-US" altLang="zh-CN" sz="2000" dirty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51914" name="Text Box 10"/>
            <p:cNvSpPr txBox="1">
              <a:spLocks noChangeArrowheads="1"/>
            </p:cNvSpPr>
            <p:nvPr/>
          </p:nvSpPr>
          <p:spPr bwMode="auto">
            <a:xfrm rot="19822108">
              <a:off x="1219200" y="2438400"/>
              <a:ext cx="149383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600">
                  <a:solidFill>
                    <a:schemeClr val="hlink"/>
                  </a:solidFill>
                  <a:latin typeface="Tahoma" panose="020B0604030504040204" pitchFamily="34" charset="0"/>
                </a:rPr>
                <a:t>wx+b=1</a:t>
              </a:r>
            </a:p>
          </p:txBody>
        </p:sp>
        <p:sp>
          <p:nvSpPr>
            <p:cNvPr id="251915" name="Text Box 11"/>
            <p:cNvSpPr txBox="1">
              <a:spLocks noChangeArrowheads="1"/>
            </p:cNvSpPr>
            <p:nvPr/>
          </p:nvSpPr>
          <p:spPr bwMode="auto">
            <a:xfrm rot="19822108">
              <a:off x="1600200" y="2743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600">
                  <a:latin typeface="Tahoma" panose="020B0604030504040204" pitchFamily="34" charset="0"/>
                </a:rPr>
                <a:t>wx+b=0</a:t>
              </a:r>
            </a:p>
          </p:txBody>
        </p:sp>
        <p:sp>
          <p:nvSpPr>
            <p:cNvPr id="251916" name="Text Box 12"/>
            <p:cNvSpPr txBox="1">
              <a:spLocks noChangeArrowheads="1"/>
            </p:cNvSpPr>
            <p:nvPr/>
          </p:nvSpPr>
          <p:spPr bwMode="auto">
            <a:xfrm rot="19822108">
              <a:off x="1676400" y="3048000"/>
              <a:ext cx="1287463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600" dirty="0" err="1">
                  <a:solidFill>
                    <a:srgbClr val="33CC33"/>
                  </a:solidFill>
                  <a:latin typeface="Tahoma" panose="020B0604030504040204" pitchFamily="34" charset="0"/>
                </a:rPr>
                <a:t>wx+b</a:t>
              </a:r>
              <a:r>
                <a:rPr lang="en-US" altLang="zh-CN" sz="1600" dirty="0">
                  <a:solidFill>
                    <a:srgbClr val="33CC33"/>
                  </a:solidFill>
                  <a:latin typeface="Tahoma" panose="020B0604030504040204" pitchFamily="34" charset="0"/>
                </a:rPr>
                <a:t>=-1</a:t>
              </a:r>
            </a:p>
          </p:txBody>
        </p:sp>
        <p:sp>
          <p:nvSpPr>
            <p:cNvPr id="251917" name="Line 13"/>
            <p:cNvSpPr>
              <a:spLocks noChangeShapeType="1"/>
            </p:cNvSpPr>
            <p:nvPr/>
          </p:nvSpPr>
          <p:spPr bwMode="auto">
            <a:xfrm>
              <a:off x="5170488" y="1019175"/>
              <a:ext cx="327025" cy="598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251920" name="Oval 16"/>
            <p:cNvSpPr>
              <a:spLocks noChangeArrowheads="1"/>
            </p:cNvSpPr>
            <p:nvPr/>
          </p:nvSpPr>
          <p:spPr bwMode="auto">
            <a:xfrm>
              <a:off x="4114800" y="2209800"/>
              <a:ext cx="76200" cy="76200"/>
            </a:xfrm>
            <a:prstGeom prst="ellipse">
              <a:avLst/>
            </a:prstGeom>
            <a:solidFill>
              <a:srgbClr val="990099"/>
            </a:solidFill>
            <a:ln w="19050" cap="rnd" algn="ctr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51921" name="Text Box 17"/>
            <p:cNvSpPr txBox="1">
              <a:spLocks noChangeArrowheads="1"/>
            </p:cNvSpPr>
            <p:nvPr/>
          </p:nvSpPr>
          <p:spPr bwMode="auto">
            <a:xfrm>
              <a:off x="4267200" y="2057400"/>
              <a:ext cx="457200" cy="415925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99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b="1" i="1">
                  <a:solidFill>
                    <a:srgbClr val="990099"/>
                  </a:solidFill>
                  <a:latin typeface="Tahoma" panose="020B0604030504040204" pitchFamily="34" charset="0"/>
                </a:rPr>
                <a:t>X</a:t>
              </a:r>
              <a:r>
                <a:rPr lang="en-US" altLang="zh-CN" sz="2000" b="1" i="1" baseline="40000">
                  <a:solidFill>
                    <a:srgbClr val="990099"/>
                  </a:solidFill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51922" name="Oval 18"/>
            <p:cNvSpPr>
              <a:spLocks noChangeArrowheads="1"/>
            </p:cNvSpPr>
            <p:nvPr/>
          </p:nvSpPr>
          <p:spPr bwMode="auto">
            <a:xfrm>
              <a:off x="4189413" y="1460500"/>
              <a:ext cx="76200" cy="76200"/>
            </a:xfrm>
            <a:prstGeom prst="ellipse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51923" name="Text Box 19"/>
            <p:cNvSpPr txBox="1">
              <a:spLocks noChangeArrowheads="1"/>
            </p:cNvSpPr>
            <p:nvPr/>
          </p:nvSpPr>
          <p:spPr bwMode="auto">
            <a:xfrm>
              <a:off x="4300538" y="1022350"/>
              <a:ext cx="515937" cy="415925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CC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 b="1" i="1">
                  <a:solidFill>
                    <a:srgbClr val="CC3300"/>
                  </a:solidFill>
                  <a:latin typeface="Tahoma" panose="020B0604030504040204" pitchFamily="34" charset="0"/>
                </a:rPr>
                <a:t>x</a:t>
              </a:r>
              <a:r>
                <a:rPr lang="en-US" altLang="zh-CN" sz="2400" i="1" baseline="30000">
                  <a:solidFill>
                    <a:srgbClr val="CC3300"/>
                  </a:solidFill>
                  <a:latin typeface="Tahoma" panose="020B0604030504040204" pitchFamily="34" charset="0"/>
                </a:rPr>
                <a:t>+</a:t>
              </a:r>
            </a:p>
          </p:txBody>
        </p:sp>
      </p:grpSp>
      <p:sp>
        <p:nvSpPr>
          <p:cNvPr id="251934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graphicFrame>
        <p:nvGraphicFramePr>
          <p:cNvPr id="251933" name="Object 29"/>
          <p:cNvGraphicFramePr>
            <a:graphicFrameLocks noChangeAspect="1"/>
          </p:cNvGraphicFramePr>
          <p:nvPr/>
        </p:nvGraphicFramePr>
        <p:xfrm>
          <a:off x="4267200" y="4343400"/>
          <a:ext cx="3886200" cy="1228725"/>
        </p:xfrm>
        <a:graphic>
          <a:graphicData uri="http://schemas.openxmlformats.org/presentationml/2006/ole">
            <p:oleObj spid="_x0000_s251959" name="Microsoft Equation 3.0" r:id="rId3" imgW="1473200" imgH="469900" progId="">
              <p:embed/>
            </p:oleObj>
          </a:graphicData>
        </a:graphic>
      </p:graphicFrame>
      <p:sp>
        <p:nvSpPr>
          <p:cNvPr id="251935" name="Text Box 31"/>
          <p:cNvSpPr txBox="1">
            <a:spLocks noChangeArrowheads="1"/>
          </p:cNvSpPr>
          <p:nvPr/>
        </p:nvSpPr>
        <p:spPr bwMode="auto">
          <a:xfrm>
            <a:off x="5638800" y="1066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b="1" i="1">
                <a:latin typeface="Tahoma" panose="020B0604030504040204" pitchFamily="34" charset="0"/>
              </a:rPr>
              <a:t>M</a:t>
            </a:r>
            <a:r>
              <a:rPr lang="en-US" altLang="zh-CN" sz="2400">
                <a:latin typeface="Tahoma" panose="020B0604030504040204" pitchFamily="34" charset="0"/>
              </a:rPr>
              <a:t>=Margin Width</a:t>
            </a:r>
            <a:endParaRPr lang="en-US" altLang="zh-CN" sz="2400" i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3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0" y="1135117"/>
            <a:ext cx="8915400" cy="3436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 smtClean="0">
                <a:latin typeface="time (Headings)"/>
              </a:rPr>
              <a:t>Classification of </a:t>
            </a:r>
            <a:r>
              <a:rPr lang="en-US" altLang="zh-CN" sz="2000" b="1" dirty="0" smtClean="0">
                <a:latin typeface="time (Headings)"/>
              </a:rPr>
              <a:t>training </a:t>
            </a:r>
            <a:r>
              <a:rPr lang="en-US" altLang="zh-CN" sz="2000" b="1" dirty="0">
                <a:latin typeface="time (Headings)"/>
              </a:rPr>
              <a:t>data</a:t>
            </a:r>
          </a:p>
          <a:p>
            <a:pPr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time (Headings)"/>
              </a:rPr>
              <a:t>                                    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</a:t>
            </a:r>
          </a:p>
          <a:p>
            <a:pPr>
              <a:buNone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if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for all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chemeClr val="tx2"/>
                </a:solidFill>
                <a:latin typeface="time (Headings)"/>
              </a:rPr>
              <a:t> </a:t>
            </a:r>
            <a:r>
              <a:rPr lang="en-US" altLang="zh-CN" sz="2400" dirty="0" smtClean="0">
                <a:latin typeface="time (Headings)"/>
              </a:rPr>
              <a:t>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 (Headings)"/>
              </a:rPr>
              <a:t> </a:t>
            </a:r>
            <a:r>
              <a:rPr lang="en-US" altLang="zh-CN" sz="2400" dirty="0" smtClean="0">
                <a:latin typeface="time (Headings)"/>
              </a:rPr>
              <a:t>               </a:t>
            </a:r>
            <a:r>
              <a:rPr lang="en-US" altLang="zh-CN" sz="2000" b="1" dirty="0">
                <a:latin typeface="time (Headings)"/>
              </a:rPr>
              <a:t>2) </a:t>
            </a:r>
            <a:r>
              <a:rPr lang="en-US" altLang="zh-CN" sz="2000" b="1" dirty="0">
                <a:solidFill>
                  <a:srgbClr val="FF0000"/>
                </a:solidFill>
                <a:latin typeface="time (Headings)"/>
              </a:rPr>
              <a:t>Maximize the Margin</a:t>
            </a:r>
            <a:r>
              <a:rPr lang="en-US" altLang="zh-CN" sz="2400" dirty="0">
                <a:solidFill>
                  <a:srgbClr val="FF0000"/>
                </a:solidFill>
                <a:latin typeface="time (Headings)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 (Headings)"/>
              </a:rPr>
              <a:t>         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time (Headings)"/>
              </a:rPr>
              <a:t>Or </a:t>
            </a:r>
            <a:r>
              <a:rPr lang="en-US" altLang="zh-CN" sz="2000" b="1" dirty="0">
                <a:solidFill>
                  <a:srgbClr val="FF0000"/>
                </a:solidFill>
                <a:latin typeface="time (Headings)"/>
              </a:rPr>
              <a:t>minimize</a:t>
            </a:r>
            <a:r>
              <a:rPr lang="en-US" altLang="zh-CN" sz="2400" dirty="0">
                <a:solidFill>
                  <a:srgbClr val="FF0000"/>
                </a:solidFill>
                <a:latin typeface="time (Headings)"/>
              </a:rPr>
              <a:t> </a:t>
            </a:r>
          </a:p>
          <a:p>
            <a:r>
              <a:rPr lang="en-US" altLang="zh-CN" sz="2400" b="1" dirty="0" smtClean="0">
                <a:latin typeface="time (Headings)"/>
              </a:rPr>
              <a:t> </a:t>
            </a:r>
            <a:endParaRPr lang="en-US" altLang="zh-CN" sz="2400" b="1" dirty="0">
              <a:latin typeface="time (Headings)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 (Headings)"/>
              </a:rPr>
              <a:t>A Quadratic </a:t>
            </a:r>
            <a:r>
              <a:rPr lang="en-US" altLang="zh-CN" sz="2000" b="1" dirty="0">
                <a:solidFill>
                  <a:srgbClr val="FF0000"/>
                </a:solidFill>
                <a:latin typeface="time (Headings)"/>
              </a:rPr>
              <a:t>Optimization Problem is </a:t>
            </a:r>
            <a:r>
              <a:rPr lang="en-US" altLang="zh-CN" sz="2000" b="1" dirty="0" smtClean="0">
                <a:solidFill>
                  <a:srgbClr val="FF0000"/>
                </a:solidFill>
                <a:latin typeface="time (Headings)"/>
              </a:rPr>
              <a:t>formulated.</a:t>
            </a:r>
            <a:endParaRPr lang="en-US" altLang="zh-CN" sz="2000" b="1" dirty="0">
              <a:solidFill>
                <a:srgbClr val="FF0000"/>
              </a:solidFill>
              <a:latin typeface="time (Headings)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000" dirty="0">
              <a:latin typeface="time (Headings)"/>
            </a:endParaRPr>
          </a:p>
          <a:p>
            <a:r>
              <a:rPr lang="en-US" altLang="zh-CN" sz="2400" dirty="0" smtClean="0">
                <a:latin typeface="time (Headings)"/>
              </a:rPr>
              <a:t>Minimize: </a:t>
            </a:r>
            <a:endParaRPr lang="en-US" altLang="zh-CN" sz="2400" dirty="0">
              <a:latin typeface="time (Headings)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 (Headings)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 (Headings)"/>
              </a:rPr>
              <a:t>    subject </a:t>
            </a:r>
            <a:r>
              <a:rPr lang="en-US" altLang="zh-CN" sz="2400" dirty="0" smtClean="0">
                <a:latin typeface="time (Headings)"/>
              </a:rPr>
              <a:t>to:                          </a:t>
            </a:r>
            <a:endParaRPr lang="en-US" altLang="zh-CN" sz="2400" dirty="0">
              <a:latin typeface="time (Headings)"/>
            </a:endParaRPr>
          </a:p>
          <a:p>
            <a:endParaRPr lang="en-US" altLang="zh-CN" sz="2400" dirty="0">
              <a:latin typeface="time (Headings)"/>
            </a:endParaRPr>
          </a:p>
        </p:txBody>
      </p:sp>
      <p:sp>
        <p:nvSpPr>
          <p:cNvPr id="257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graphicFrame>
        <p:nvGraphicFramePr>
          <p:cNvPr id="2570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23007823"/>
              </p:ext>
            </p:extLst>
          </p:nvPr>
        </p:nvGraphicFramePr>
        <p:xfrm>
          <a:off x="4376245" y="3076575"/>
          <a:ext cx="1066800" cy="895350"/>
        </p:xfrm>
        <a:graphic>
          <a:graphicData uri="http://schemas.openxmlformats.org/presentationml/2006/ole">
            <p:oleObj spid="_x0000_s257238" name="Microsoft Equation 3.0" r:id="rId4" imgW="533169" imgH="444307" progId="">
              <p:embed/>
            </p:oleObj>
          </a:graphicData>
        </a:graphic>
      </p:graphicFrame>
      <p:graphicFrame>
        <p:nvGraphicFramePr>
          <p:cNvPr id="257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94520214"/>
              </p:ext>
            </p:extLst>
          </p:nvPr>
        </p:nvGraphicFramePr>
        <p:xfrm>
          <a:off x="1988316" y="5126229"/>
          <a:ext cx="2655122" cy="877888"/>
        </p:xfrm>
        <a:graphic>
          <a:graphicData uri="http://schemas.openxmlformats.org/presentationml/2006/ole">
            <p:oleObj spid="_x0000_s257239" name="Microsoft Equation 3.0" r:id="rId5" imgW="888840" imgH="393480" progId="">
              <p:embed/>
            </p:oleObj>
          </a:graphicData>
        </a:graphic>
      </p:graphicFrame>
      <p:graphicFrame>
        <p:nvGraphicFramePr>
          <p:cNvPr id="257036" name="Object 12"/>
          <p:cNvGraphicFramePr>
            <a:graphicFrameLocks noChangeAspect="1"/>
          </p:cNvGraphicFramePr>
          <p:nvPr/>
        </p:nvGraphicFramePr>
        <p:xfrm>
          <a:off x="2022475" y="1460500"/>
          <a:ext cx="1900238" cy="579438"/>
        </p:xfrm>
        <a:graphic>
          <a:graphicData uri="http://schemas.openxmlformats.org/presentationml/2006/ole">
            <p:oleObj spid="_x0000_s257240" name="Microsoft Equation 3.0" r:id="rId6" imgW="672808" imgH="228501" progId="">
              <p:embed/>
            </p:oleObj>
          </a:graphicData>
        </a:graphic>
      </p:graphicFrame>
      <p:graphicFrame>
        <p:nvGraphicFramePr>
          <p:cNvPr id="257037" name="Object 13"/>
          <p:cNvGraphicFramePr>
            <a:graphicFrameLocks noChangeAspect="1"/>
          </p:cNvGraphicFramePr>
          <p:nvPr/>
        </p:nvGraphicFramePr>
        <p:xfrm>
          <a:off x="2022475" y="1920875"/>
          <a:ext cx="1900238" cy="547688"/>
        </p:xfrm>
        <a:graphic>
          <a:graphicData uri="http://schemas.openxmlformats.org/presentationml/2006/ole">
            <p:oleObj spid="_x0000_s257241" name="Microsoft Equation 3.0" r:id="rId7" imgW="672808" imgH="228501" progId="">
              <p:embed/>
            </p:oleObj>
          </a:graphicData>
        </a:graphic>
      </p:graphicFrame>
      <p:sp>
        <p:nvSpPr>
          <p:cNvPr id="25703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graphicFrame>
        <p:nvGraphicFramePr>
          <p:cNvPr id="2570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44583042"/>
              </p:ext>
            </p:extLst>
          </p:nvPr>
        </p:nvGraphicFramePr>
        <p:xfrm>
          <a:off x="2209800" y="6012001"/>
          <a:ext cx="2362200" cy="598488"/>
        </p:xfrm>
        <a:graphic>
          <a:graphicData uri="http://schemas.openxmlformats.org/presentationml/2006/ole">
            <p:oleObj spid="_x0000_s257242" name="Microsoft Equation 3.0" r:id="rId8" imgW="901309" imgH="228501" progId="">
              <p:embed/>
            </p:oleObj>
          </a:graphicData>
        </a:graphic>
      </p:graphicFrame>
      <p:sp>
        <p:nvSpPr>
          <p:cNvPr id="257040" name="AutoShape 16"/>
          <p:cNvSpPr>
            <a:spLocks/>
          </p:cNvSpPr>
          <p:nvPr/>
        </p:nvSpPr>
        <p:spPr bwMode="auto">
          <a:xfrm>
            <a:off x="5638800" y="16764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7041" name="AutoShape 17"/>
          <p:cNvSpPr>
            <a:spLocks noChangeArrowheads="1"/>
          </p:cNvSpPr>
          <p:nvPr/>
        </p:nvSpPr>
        <p:spPr bwMode="auto">
          <a:xfrm>
            <a:off x="5943600" y="1905000"/>
            <a:ext cx="609600" cy="838200"/>
          </a:xfrm>
          <a:prstGeom prst="curvedLeftArrow">
            <a:avLst>
              <a:gd name="adj1" fmla="val 22500"/>
              <a:gd name="adj2" fmla="val 45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7043" name="Object 19"/>
          <p:cNvGraphicFramePr>
            <a:graphicFrameLocks noChangeAspect="1"/>
          </p:cNvGraphicFramePr>
          <p:nvPr/>
        </p:nvGraphicFramePr>
        <p:xfrm>
          <a:off x="1828800" y="2362200"/>
          <a:ext cx="2133600" cy="539750"/>
        </p:xfrm>
        <a:graphic>
          <a:graphicData uri="http://schemas.openxmlformats.org/presentationml/2006/ole">
            <p:oleObj spid="_x0000_s257243" name="Microsoft Equation 3.0" r:id="rId9" imgW="901309" imgH="228501" progId="">
              <p:embed/>
            </p:oleObj>
          </a:graphicData>
        </a:graphic>
      </p:graphicFrame>
      <p:sp>
        <p:nvSpPr>
          <p:cNvPr id="25704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graphicFrame>
        <p:nvGraphicFramePr>
          <p:cNvPr id="2570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45937344"/>
              </p:ext>
            </p:extLst>
          </p:nvPr>
        </p:nvGraphicFramePr>
        <p:xfrm>
          <a:off x="5214445" y="6104076"/>
          <a:ext cx="457200" cy="414338"/>
        </p:xfrm>
        <a:graphic>
          <a:graphicData uri="http://schemas.openxmlformats.org/presentationml/2006/ole">
            <p:oleObj spid="_x0000_s257244" name="Microsoft Equation 3.0" r:id="rId10" imgW="202936" imgH="177569" progId="">
              <p:embed/>
            </p:oleObj>
          </a:graphicData>
        </a:graphic>
      </p:graphicFrame>
      <p:sp>
        <p:nvSpPr>
          <p:cNvPr id="257052" name="Line 28"/>
          <p:cNvSpPr>
            <a:spLocks noChangeShapeType="1"/>
          </p:cNvSpPr>
          <p:nvPr/>
        </p:nvSpPr>
        <p:spPr bwMode="auto">
          <a:xfrm>
            <a:off x="381000" y="4511567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25705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73856929"/>
              </p:ext>
            </p:extLst>
          </p:nvPr>
        </p:nvGraphicFramePr>
        <p:xfrm>
          <a:off x="4311869" y="3724167"/>
          <a:ext cx="838200" cy="787400"/>
        </p:xfrm>
        <a:graphic>
          <a:graphicData uri="http://schemas.openxmlformats.org/presentationml/2006/ole">
            <p:oleObj spid="_x0000_s257245" name="Microsoft Equation 3.0" r:id="rId11" imgW="418918" imgH="393529" progId="">
              <p:embed/>
            </p:oleObj>
          </a:graphicData>
        </a:graphic>
      </p:graphicFrame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497023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dirty="0">
                <a:latin typeface="time (Headings)"/>
              </a:rPr>
              <a:t>Linear SVM ,Estimation of w &amp; b</a:t>
            </a:r>
            <a:endParaRPr lang="en-US" altLang="zh-CN" dirty="0"/>
          </a:p>
        </p:txBody>
      </p:sp>
      <p:sp>
        <p:nvSpPr>
          <p:cNvPr id="2" name="TextBox 1"/>
          <p:cNvSpPr txBox="1"/>
          <p:nvPr/>
        </p:nvSpPr>
        <p:spPr>
          <a:xfrm>
            <a:off x="5867400" y="3971925"/>
            <a:ext cx="18288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How??</a:t>
            </a:r>
            <a:endParaRPr lang="en-IN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8286"/>
            <a:ext cx="9220200" cy="798514"/>
          </a:xfrm>
        </p:spPr>
        <p:txBody>
          <a:bodyPr>
            <a:noAutofit/>
          </a:bodyPr>
          <a:lstStyle/>
          <a:p>
            <a:pPr eaLnBrk="1" hangingPunct="1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Lagrangian Multiplier method (for convex Optimization)</a:t>
            </a:r>
          </a:p>
        </p:txBody>
      </p:sp>
      <p:sp>
        <p:nvSpPr>
          <p:cNvPr id="1339395" name="Rectangle 3"/>
          <p:cNvSpPr>
            <a:spLocks noGrp="1" noChangeArrowheads="1"/>
          </p:cNvSpPr>
          <p:nvPr>
            <p:ph idx="1"/>
          </p:nvPr>
        </p:nvSpPr>
        <p:spPr>
          <a:xfrm>
            <a:off x="642910" y="1785926"/>
            <a:ext cx="7772400" cy="1785950"/>
          </a:xfrm>
        </p:spPr>
        <p:txBody>
          <a:bodyPr>
            <a:noAutofit/>
          </a:bodyPr>
          <a:lstStyle/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Lagrangian Equation</a:t>
            </a:r>
          </a:p>
          <a:p>
            <a:pPr eaLnBrk="1" hangingPunct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Minimize:</a:t>
            </a:r>
          </a:p>
          <a:p>
            <a:pPr eaLnBrk="1" hangingPunct="1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Subject to:                        and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8" name="Picture 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4897" y="857232"/>
            <a:ext cx="21764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6257" y="1428736"/>
            <a:ext cx="69977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39407" name="Group 15"/>
          <p:cNvGrpSpPr>
            <a:grpSpLocks/>
          </p:cNvGrpSpPr>
          <p:nvPr/>
        </p:nvGrpSpPr>
        <p:grpSpPr bwMode="auto">
          <a:xfrm>
            <a:off x="2571736" y="2000240"/>
            <a:ext cx="5297488" cy="845037"/>
            <a:chOff x="1776" y="1977"/>
            <a:chExt cx="3337" cy="574"/>
          </a:xfrm>
        </p:grpSpPr>
        <p:pic>
          <p:nvPicPr>
            <p:cNvPr id="16398" name="Picture 6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175"/>
              <a:ext cx="2608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6399" name="Group 12"/>
            <p:cNvGrpSpPr>
              <a:grpSpLocks/>
            </p:cNvGrpSpPr>
            <p:nvPr/>
          </p:nvGrpSpPr>
          <p:grpSpPr bwMode="auto">
            <a:xfrm>
              <a:off x="3080" y="1977"/>
              <a:ext cx="2033" cy="279"/>
              <a:chOff x="3080" y="1977"/>
              <a:chExt cx="2033" cy="279"/>
            </a:xfrm>
          </p:grpSpPr>
          <p:sp>
            <p:nvSpPr>
              <p:cNvPr id="16400" name="Text Box 10"/>
              <p:cNvSpPr txBox="1">
                <a:spLocks noChangeArrowheads="1"/>
              </p:cNvSpPr>
              <p:nvPr/>
            </p:nvSpPr>
            <p:spPr bwMode="auto">
              <a:xfrm>
                <a:off x="3681" y="1977"/>
                <a:ext cx="1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sz="1800" dirty="0" smtClean="0">
                    <a:solidFill>
                      <a:srgbClr val="FF0000"/>
                    </a:solidFill>
                  </a:rPr>
                  <a:t>Lagrangian multipliers</a:t>
                </a:r>
              </a:p>
            </p:txBody>
          </p:sp>
          <p:sp>
            <p:nvSpPr>
              <p:cNvPr id="16401" name="Line 11"/>
              <p:cNvSpPr>
                <a:spLocks noChangeShapeType="1"/>
              </p:cNvSpPr>
              <p:nvPr/>
            </p:nvSpPr>
            <p:spPr bwMode="auto">
              <a:xfrm flipV="1">
                <a:off x="3080" y="2177"/>
                <a:ext cx="654" cy="7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 eaLnBrk="0" hangingPunct="0"/>
                <a:endParaRPr lang="en-IN" sz="2400" smtClean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39409" name="Group 17"/>
          <p:cNvGrpSpPr>
            <a:grpSpLocks/>
          </p:cNvGrpSpPr>
          <p:nvPr/>
        </p:nvGrpSpPr>
        <p:grpSpPr bwMode="auto">
          <a:xfrm>
            <a:off x="915962" y="3929066"/>
            <a:ext cx="6642100" cy="1500198"/>
            <a:chOff x="1384" y="3120"/>
            <a:chExt cx="4184" cy="1104"/>
          </a:xfrm>
        </p:grpSpPr>
        <p:pic>
          <p:nvPicPr>
            <p:cNvPr id="16393" name="Picture 8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4" y="3168"/>
              <a:ext cx="3923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6395" name="Group 16"/>
            <p:cNvGrpSpPr>
              <a:grpSpLocks/>
            </p:cNvGrpSpPr>
            <p:nvPr/>
          </p:nvGrpSpPr>
          <p:grpSpPr bwMode="auto">
            <a:xfrm>
              <a:off x="2166" y="3120"/>
              <a:ext cx="3402" cy="1104"/>
              <a:chOff x="2166" y="3120"/>
              <a:chExt cx="3402" cy="1104"/>
            </a:xfrm>
          </p:grpSpPr>
          <p:sp>
            <p:nvSpPr>
              <p:cNvPr id="16396" name="Rectangle 13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1632" cy="57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endParaRPr lang="en-IN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97" name="Rectangle 14"/>
              <p:cNvSpPr>
                <a:spLocks noChangeArrowheads="1"/>
              </p:cNvSpPr>
              <p:nvPr/>
            </p:nvSpPr>
            <p:spPr bwMode="auto">
              <a:xfrm>
                <a:off x="2166" y="3696"/>
                <a:ext cx="1296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endParaRPr lang="en-IN" smtClean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52400" y="5572140"/>
            <a:ext cx="8991600" cy="1323439"/>
          </a:xfrm>
          <a:prstGeom prst="rect">
            <a:avLst/>
          </a:prstGeom>
          <a:noFill/>
          <a:ln cmpd="thickThin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Constraints are inequalities, so gradients w.r.t.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</a:t>
            </a:r>
            <a:r>
              <a:rPr lang="en-US" sz="20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i </a:t>
            </a: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cant be set to </a:t>
            </a:r>
            <a:r>
              <a:rPr lang="en-I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zero, </a:t>
            </a:r>
          </a:p>
          <a:p>
            <a:pPr algn="l"/>
            <a:r>
              <a:rPr lang="en-I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 the Constraints are to be transformed in equalities as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</a:t>
            </a:r>
            <a:r>
              <a:rPr lang="en-US" sz="2000" b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i</a:t>
            </a:r>
            <a:r>
              <a:rPr lang="en-I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(y</a:t>
            </a:r>
            <a:r>
              <a:rPr lang="en-US" sz="2000" b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i</a:t>
            </a:r>
            <a:r>
              <a:rPr lang="en-US" sz="20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(</a:t>
            </a:r>
            <a:r>
              <a:rPr lang="en-IN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w.x</a:t>
            </a:r>
            <a:r>
              <a:rPr lang="en-US" sz="20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i</a:t>
            </a:r>
            <a:r>
              <a:rPr lang="en-US" sz="20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+ b) – 1) =0</a:t>
            </a:r>
          </a:p>
          <a:p>
            <a:pPr marL="220663" indent="-220663" algn="l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From Complementary slackness condition,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 </a:t>
            </a:r>
            <a:r>
              <a:rPr lang="en-GB" sz="20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sz="20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vanished for support vector, and so difficult to compute them from primal function</a:t>
            </a:r>
            <a:r>
              <a:rPr lang="en-GB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29124" y="3143248"/>
            <a:ext cx="3870035" cy="36933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sym typeface="Symbol" panose="05050102010706020507" pitchFamily="18" charset="2"/>
              </a:rPr>
              <a:t></a:t>
            </a:r>
            <a:r>
              <a:rPr lang="en-US" i="1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IN" i="1" dirty="0"/>
              <a:t>(y</a:t>
            </a:r>
            <a:r>
              <a:rPr lang="en-US" i="1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i="1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  </a:t>
            </a:r>
            <a:r>
              <a:rPr lang="en-US" i="1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IN" i="1" dirty="0" err="1">
                <a:sym typeface="Symbol" panose="05050102010706020507" pitchFamily="18" charset="2"/>
              </a:rPr>
              <a:t>w.x</a:t>
            </a:r>
            <a:r>
              <a:rPr lang="en-US" i="1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i="1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   </a:t>
            </a:r>
            <a:r>
              <a:rPr lang="en-US" i="1" dirty="0">
                <a:solidFill>
                  <a:srgbClr val="000000"/>
                </a:solidFill>
                <a:sym typeface="Symbol" panose="05050102010706020507" pitchFamily="18" charset="2"/>
              </a:rPr>
              <a:t> + b) – 1) =</a:t>
            </a:r>
            <a:r>
              <a:rPr lang="en-US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0</a:t>
            </a:r>
            <a:r>
              <a:rPr lang="en-US" i="1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∀ </a:t>
            </a:r>
            <a:r>
              <a:rPr lang="en-US" i="1" dirty="0" err="1" smtClean="0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  in(1,n)   </a:t>
            </a:r>
            <a:endParaRPr lang="en-US" i="1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2433630" y="3071810"/>
            <a:ext cx="1138238" cy="4622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dirty="0" smtClean="0">
                <a:solidFill>
                  <a:srgbClr val="000000"/>
                </a:solidFill>
                <a:sym typeface="Symbol" panose="05050102010706020507" pitchFamily="18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baseline="-25000" dirty="0" smtClean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dirty="0" smtClean="0">
                <a:solidFill>
                  <a:srgbClr val="000000"/>
                </a:solidFill>
                <a:sym typeface="Symbol" panose="05050102010706020507" pitchFamily="18" charset="2"/>
              </a:rPr>
              <a:t>0</a:t>
            </a:r>
          </a:p>
        </p:txBody>
      </p:sp>
      <p:sp>
        <p:nvSpPr>
          <p:cNvPr id="22" name="Curved Up Arrow 21"/>
          <p:cNvSpPr/>
          <p:nvPr/>
        </p:nvSpPr>
        <p:spPr>
          <a:xfrm rot="15679051">
            <a:off x="7135433" y="4118054"/>
            <a:ext cx="2875791" cy="715480"/>
          </a:xfrm>
          <a:prstGeom prst="curved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282" y="3571876"/>
            <a:ext cx="592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Setting the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differential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and b to zero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we have</a:t>
            </a:r>
            <a:endParaRPr lang="en-US" dirty="0"/>
          </a:p>
        </p:txBody>
      </p:sp>
      <p:sp>
        <p:nvSpPr>
          <p:cNvPr id="25" name="TextBox 24">
            <a:hlinkClick r:id="rId12" action="ppaction://hlinksldjump"/>
          </p:cNvPr>
          <p:cNvSpPr txBox="1"/>
          <p:nvPr/>
        </p:nvSpPr>
        <p:spPr>
          <a:xfrm>
            <a:off x="4500562" y="1000108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>
                <a:solidFill>
                  <a:srgbClr val="FF0000"/>
                </a:solidFill>
              </a:rPr>
              <a:t>||..|| symbol is called Norm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hlinkClick r:id="rId13" action="ppaction://hlinksldjump"/>
          </p:cNvPr>
          <p:cNvSpPr txBox="1"/>
          <p:nvPr/>
        </p:nvSpPr>
        <p:spPr>
          <a:xfrm>
            <a:off x="8143900" y="271462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>
                <a:solidFill>
                  <a:srgbClr val="FF0000"/>
                </a:solidFill>
              </a:rPr>
              <a:t>Why?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907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3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3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3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395" grpId="0" build="p"/>
      <p:bldP spid="2" grpId="1" animBg="1"/>
      <p:bldP spid="3" grpId="0" animBg="1"/>
      <p:bldP spid="21" grpId="0" animBg="1"/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3988" cy="608012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>
            <a:normAutofit fontScale="90000"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The Dual  Optimization Problem</a:t>
            </a:r>
          </a:p>
        </p:txBody>
      </p:sp>
      <p:sp>
        <p:nvSpPr>
          <p:cNvPr id="1277955" name="Rectangle 3"/>
          <p:cNvSpPr>
            <a:spLocks noGrp="1" noChangeArrowheads="1"/>
          </p:cNvSpPr>
          <p:nvPr>
            <p:ph idx="1"/>
          </p:nvPr>
        </p:nvSpPr>
        <p:spPr>
          <a:xfrm>
            <a:off x="528637" y="1257300"/>
            <a:ext cx="8599488" cy="4991100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rmAutofit fontScale="85000" lnSpcReduction="20000"/>
          </a:bodyPr>
          <a:lstStyle/>
          <a:p>
            <a:pPr marL="220663" indent="-22066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We can transform the problem to its dual.</a:t>
            </a:r>
          </a:p>
          <a:p>
            <a:pPr marL="220663" indent="-220663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One of the important advantage of using the dual form in SVM is that it allow us to apply kernels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20663" indent="-220663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220663" indent="-22066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220663" indent="-22066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220663" indent="-22066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220663" indent="-220663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defTabSz="449263" eaLnBrk="1" hangingPunct="1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is a convex quadratic programming (QP) problem</a:t>
            </a:r>
          </a:p>
          <a:p>
            <a:pPr marL="517525" lvl="1" indent="-180975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Global maximum of  </a:t>
            </a:r>
            <a:r>
              <a:rPr lang="en-GB" dirty="0" err="1" smtClean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a</a:t>
            </a:r>
            <a:r>
              <a:rPr lang="en-GB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 always be found</a:t>
            </a:r>
          </a:p>
          <a:p>
            <a:pPr marL="517525" lvl="1" indent="-180975" defTabSz="449263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Now Constraints are equalities.</a:t>
            </a:r>
          </a:p>
          <a:p>
            <a:pPr marL="517525" lvl="1" indent="-180975" defTabSz="449263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6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7525" lvl="1" indent="-180975" defTabSz="449263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Assignment: verify </a:t>
            </a:r>
            <a:r>
              <a:rPr lang="el-GR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IN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IN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 Σ Σ</a:t>
            </a:r>
            <a:r>
              <a:rPr lang="en-IN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 Σ Σ</a:t>
            </a:r>
            <a:r>
              <a:rPr lang="en-IN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600" b="1" baseline="30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endParaRPr lang="en-GB" sz="2600" b="1" baseline="-25000" dirty="0" smtClean="0">
              <a:solidFill>
                <a:srgbClr val="33CC33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0663" indent="-220663" defTabSz="449263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                     Where  </a:t>
            </a:r>
            <a:r>
              <a:rPr lang="en-IN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600" b="1" baseline="-25000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GB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GB" sz="2600" b="1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sz="2600" b="1" baseline="-250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GB" sz="26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 row of a matrix 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0698" y="2500306"/>
            <a:ext cx="7742332" cy="1423988"/>
            <a:chOff x="2209800" y="2514600"/>
            <a:chExt cx="7742332" cy="1423988"/>
          </a:xfrm>
        </p:grpSpPr>
        <p:pic>
          <p:nvPicPr>
            <p:cNvPr id="1741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3352800"/>
              <a:ext cx="3200400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2514600"/>
              <a:ext cx="5791200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77965" name="Group 13"/>
            <p:cNvGrpSpPr>
              <a:grpSpLocks/>
            </p:cNvGrpSpPr>
            <p:nvPr/>
          </p:nvGrpSpPr>
          <p:grpSpPr bwMode="auto">
            <a:xfrm>
              <a:off x="4710206" y="2918758"/>
              <a:ext cx="5241926" cy="990600"/>
              <a:chOff x="2976" y="1872"/>
              <a:chExt cx="3302" cy="624"/>
            </a:xfrm>
          </p:grpSpPr>
          <p:grpSp>
            <p:nvGrpSpPr>
              <p:cNvPr id="17418" name="Group 12"/>
              <p:cNvGrpSpPr>
                <a:grpSpLocks/>
              </p:cNvGrpSpPr>
              <p:nvPr/>
            </p:nvGrpSpPr>
            <p:grpSpPr bwMode="auto">
              <a:xfrm>
                <a:off x="2976" y="1872"/>
                <a:ext cx="1680" cy="624"/>
                <a:chOff x="2976" y="1872"/>
                <a:chExt cx="1680" cy="624"/>
              </a:xfrm>
            </p:grpSpPr>
            <p:sp>
              <p:nvSpPr>
                <p:cNvPr id="17420" name="Line 8"/>
                <p:cNvSpPr>
                  <a:spLocks noChangeShapeType="1"/>
                </p:cNvSpPr>
                <p:nvPr/>
              </p:nvSpPr>
              <p:spPr bwMode="auto">
                <a:xfrm>
                  <a:off x="2976" y="1920"/>
                  <a:ext cx="1680" cy="57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 eaLnBrk="0" hangingPunct="0"/>
                  <a:endParaRPr lang="en-IN" sz="2400" smtClean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1" name="Line 9"/>
                <p:cNvSpPr>
                  <a:spLocks noChangeShapeType="1"/>
                </p:cNvSpPr>
                <p:nvPr/>
              </p:nvSpPr>
              <p:spPr bwMode="auto">
                <a:xfrm>
                  <a:off x="4128" y="1872"/>
                  <a:ext cx="528" cy="6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 eaLnBrk="0" hangingPunct="0"/>
                  <a:endParaRPr lang="en-IN" sz="2400" smtClean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2" name="Line 10"/>
                <p:cNvSpPr>
                  <a:spLocks noChangeShapeType="1"/>
                </p:cNvSpPr>
                <p:nvPr/>
              </p:nvSpPr>
              <p:spPr bwMode="auto">
                <a:xfrm>
                  <a:off x="4320" y="1872"/>
                  <a:ext cx="336" cy="6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 eaLnBrk="0" hangingPunct="0"/>
                  <a:endParaRPr lang="en-IN" sz="2400" smtClean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19" name="Text Box 11"/>
              <p:cNvSpPr txBox="1">
                <a:spLocks noChangeArrowheads="1"/>
              </p:cNvSpPr>
              <p:nvPr/>
            </p:nvSpPr>
            <p:spPr bwMode="auto">
              <a:xfrm>
                <a:off x="4744" y="2003"/>
                <a:ext cx="1534" cy="41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/>
                <a:r>
                  <a:rPr lang="en-US" sz="1800" dirty="0" smtClean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’s </a:t>
                </a:r>
                <a:r>
                  <a:rPr lang="en-US" sz="1800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sz="1800" dirty="0" smtClean="0">
                    <a:solidFill>
                      <a:srgbClr val="FF0000"/>
                    </a:solidFill>
                  </a:rPr>
                  <a:t>New variables</a:t>
                </a:r>
              </a:p>
              <a:p>
                <a:pPr algn="l"/>
                <a:r>
                  <a:rPr lang="en-US" sz="1800" dirty="0" smtClean="0">
                    <a:solidFill>
                      <a:srgbClr val="000000"/>
                    </a:solidFill>
                  </a:rPr>
                  <a:t>(Lagrangian multipliers)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4340222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304800" y="2286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The Optimization Problem Solution</a:t>
            </a:r>
          </a:p>
        </p:txBody>
      </p:sp>
      <p:sp>
        <p:nvSpPr>
          <p:cNvPr id="307205" name="Rectangle 5"/>
          <p:cNvSpPr>
            <a:spLocks noChangeArrowheads="1"/>
          </p:cNvSpPr>
          <p:nvPr/>
        </p:nvSpPr>
        <p:spPr bwMode="auto">
          <a:xfrm>
            <a:off x="381000" y="10668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The solution has the form: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sz="2400" dirty="0"/>
              <a:t>Each non-zero </a:t>
            </a:r>
            <a:r>
              <a:rPr lang="el-GR" sz="2400" i="1" dirty="0"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 indicates that corresponding </a:t>
            </a:r>
            <a:r>
              <a:rPr lang="en-US" altLang="zh-CN" sz="2400" b="1" dirty="0"/>
              <a:t>x</a:t>
            </a:r>
            <a:r>
              <a:rPr lang="en-US" altLang="zh-CN" sz="2400" b="1" baseline="-25000" dirty="0"/>
              <a:t>i</a:t>
            </a:r>
            <a:r>
              <a:rPr lang="en-US" altLang="zh-CN" sz="2400" dirty="0"/>
              <a:t> is a support vector</a:t>
            </a:r>
            <a:r>
              <a:rPr lang="en-US" altLang="zh-CN" sz="2400" dirty="0" smtClean="0"/>
              <a:t>.</a:t>
            </a:r>
          </a:p>
          <a:p>
            <a:endParaRPr lang="en-IN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/>
              <a:t>Then the classifying function will have the form:</a:t>
            </a:r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</p:txBody>
      </p:sp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990600" y="1600200"/>
            <a:ext cx="7010424" cy="46166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            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-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for any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such that </a:t>
            </a:r>
            <a:r>
              <a:rPr lang="el-G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07" name="Text Box 7"/>
          <p:cNvSpPr txBox="1">
            <a:spLocks noChangeArrowheads="1"/>
          </p:cNvSpPr>
          <p:nvPr/>
        </p:nvSpPr>
        <p:spPr bwMode="auto">
          <a:xfrm>
            <a:off x="1857356" y="4500570"/>
            <a:ext cx="5357850" cy="1384995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 = </a:t>
            </a:r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</a:p>
          <a:p>
            <a:pPr algn="l"/>
            <a:endParaRPr lang="en-IN" altLang="zh-CN" sz="2800" i="1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Class of the input x =sign(f(x)-1)</a:t>
            </a:r>
            <a:endParaRPr lang="en-US" altLang="zh-CN" sz="28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Concept in support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551" y="1066800"/>
            <a:ext cx="7924799" cy="3159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8675" y="4724400"/>
            <a:ext cx="74485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solution to the dual problem provides a lower bound to the solution of the primal (minimization) problem.  (</a:t>
            </a:r>
            <a:r>
              <a:rPr lang="en-US" dirty="0">
                <a:hlinkClick r:id="rId3"/>
              </a:rPr>
              <a:t>Wikipedia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9156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8" name="Rectangle 4"/>
          <p:cNvSpPr>
            <a:spLocks noChangeArrowheads="1"/>
          </p:cNvSpPr>
          <p:nvPr/>
        </p:nvSpPr>
        <p:spPr bwMode="auto">
          <a:xfrm>
            <a:off x="381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Dataset with noise  </a:t>
            </a:r>
          </a:p>
        </p:txBody>
      </p:sp>
      <p:sp>
        <p:nvSpPr>
          <p:cNvPr id="308229" name="Rectangle 5"/>
          <p:cNvSpPr>
            <a:spLocks noChangeArrowheads="1"/>
          </p:cNvSpPr>
          <p:nvPr/>
        </p:nvSpPr>
        <p:spPr bwMode="auto">
          <a:xfrm>
            <a:off x="4267200" y="1600200"/>
            <a:ext cx="4495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</a:rPr>
              <a:t>Hard Margin: </a:t>
            </a:r>
            <a:r>
              <a:rPr lang="en-US" altLang="zh-CN" sz="2000" b="1">
                <a:latin typeface="Times New Roman" panose="02020603050405020304" pitchFamily="18" charset="0"/>
              </a:rPr>
              <a:t>So far we require all data points be classified correctly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en-US" altLang="zh-CN" sz="2000" b="1">
                <a:latin typeface="Times New Roman" panose="02020603050405020304" pitchFamily="18" charset="0"/>
              </a:rPr>
              <a:t>- No training error</a:t>
            </a:r>
          </a:p>
          <a:p>
            <a:r>
              <a:rPr lang="en-US" altLang="zh-CN" sz="2400" b="1">
                <a:latin typeface="Times New Roman" panose="02020603050405020304" pitchFamily="18" charset="0"/>
              </a:rPr>
              <a:t>What if the training set is noisy?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- Solution 1: </a:t>
            </a:r>
            <a:r>
              <a:rPr lang="en-US" altLang="zh-CN" sz="2000" b="1">
                <a:latin typeface="Times New Roman" panose="02020603050405020304" pitchFamily="18" charset="0"/>
              </a:rPr>
              <a:t>use very powerful kernels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308268" name="Group 44"/>
          <p:cNvGrpSpPr>
            <a:grpSpLocks/>
          </p:cNvGrpSpPr>
          <p:nvPr/>
        </p:nvGrpSpPr>
        <p:grpSpPr bwMode="auto">
          <a:xfrm>
            <a:off x="152400" y="1676400"/>
            <a:ext cx="1905000" cy="866775"/>
            <a:chOff x="528" y="1200"/>
            <a:chExt cx="1200" cy="546"/>
          </a:xfrm>
        </p:grpSpPr>
        <p:sp>
          <p:nvSpPr>
            <p:cNvPr id="308269" name="Text Box 45"/>
            <p:cNvSpPr txBox="1">
              <a:spLocks noChangeArrowheads="1"/>
            </p:cNvSpPr>
            <p:nvPr/>
          </p:nvSpPr>
          <p:spPr bwMode="auto">
            <a:xfrm>
              <a:off x="528" y="1200"/>
              <a:ext cx="1200" cy="5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>
                  <a:latin typeface="Tahoma" panose="020B0604030504040204" pitchFamily="34" charset="0"/>
                </a:rPr>
                <a:t>denotes +1</a:t>
              </a:r>
            </a:p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000">
                  <a:latin typeface="Tahoma" panose="020B0604030504040204" pitchFamily="34" charset="0"/>
                </a:rPr>
                <a:t>denotes -1</a:t>
              </a:r>
            </a:p>
          </p:txBody>
        </p:sp>
        <p:sp>
          <p:nvSpPr>
            <p:cNvPr id="308270" name="Oval 46"/>
            <p:cNvSpPr>
              <a:spLocks noChangeAspect="1" noChangeArrowheads="1"/>
            </p:cNvSpPr>
            <p:nvPr/>
          </p:nvSpPr>
          <p:spPr bwMode="auto">
            <a:xfrm rot="4777107">
              <a:off x="576" y="1296"/>
              <a:ext cx="37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71" name="Oval 47"/>
            <p:cNvSpPr>
              <a:spLocks noChangeAspect="1" noChangeArrowheads="1"/>
            </p:cNvSpPr>
            <p:nvPr/>
          </p:nvSpPr>
          <p:spPr bwMode="auto">
            <a:xfrm rot="5895381">
              <a:off x="577" y="1583"/>
              <a:ext cx="32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08272" name="Group 48"/>
          <p:cNvGrpSpPr>
            <a:grpSpLocks/>
          </p:cNvGrpSpPr>
          <p:nvPr/>
        </p:nvGrpSpPr>
        <p:grpSpPr bwMode="auto">
          <a:xfrm>
            <a:off x="228600" y="2743200"/>
            <a:ext cx="3657600" cy="3581400"/>
            <a:chOff x="1536" y="1344"/>
            <a:chExt cx="2304" cy="2256"/>
          </a:xfrm>
        </p:grpSpPr>
        <p:sp>
          <p:nvSpPr>
            <p:cNvPr id="308273" name="Line 49"/>
            <p:cNvSpPr>
              <a:spLocks noChangeShapeType="1"/>
            </p:cNvSpPr>
            <p:nvPr/>
          </p:nvSpPr>
          <p:spPr bwMode="auto">
            <a:xfrm>
              <a:off x="1632" y="1392"/>
              <a:ext cx="0" cy="220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08274" name="Line 50"/>
            <p:cNvSpPr>
              <a:spLocks noChangeShapeType="1"/>
            </p:cNvSpPr>
            <p:nvPr/>
          </p:nvSpPr>
          <p:spPr bwMode="auto">
            <a:xfrm flipV="1">
              <a:off x="1536" y="3504"/>
              <a:ext cx="230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308275" name="Oval 51"/>
            <p:cNvSpPr>
              <a:spLocks noChangeAspect="1" noChangeArrowheads="1"/>
            </p:cNvSpPr>
            <p:nvPr/>
          </p:nvSpPr>
          <p:spPr bwMode="auto">
            <a:xfrm>
              <a:off x="2342" y="3170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76" name="Oval 52"/>
            <p:cNvSpPr>
              <a:spLocks noChangeAspect="1" noChangeArrowheads="1"/>
            </p:cNvSpPr>
            <p:nvPr/>
          </p:nvSpPr>
          <p:spPr bwMode="auto">
            <a:xfrm>
              <a:off x="1566" y="2459"/>
              <a:ext cx="38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77" name="Oval 53"/>
            <p:cNvSpPr>
              <a:spLocks noChangeAspect="1" noChangeArrowheads="1"/>
            </p:cNvSpPr>
            <p:nvPr/>
          </p:nvSpPr>
          <p:spPr bwMode="auto">
            <a:xfrm>
              <a:off x="2734" y="1773"/>
              <a:ext cx="38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78" name="Oval 54"/>
            <p:cNvSpPr>
              <a:spLocks noChangeAspect="1" noChangeArrowheads="1"/>
            </p:cNvSpPr>
            <p:nvPr/>
          </p:nvSpPr>
          <p:spPr bwMode="auto">
            <a:xfrm>
              <a:off x="2774" y="2290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79" name="Oval 55"/>
            <p:cNvSpPr>
              <a:spLocks noChangeAspect="1" noChangeArrowheads="1"/>
            </p:cNvSpPr>
            <p:nvPr/>
          </p:nvSpPr>
          <p:spPr bwMode="auto">
            <a:xfrm>
              <a:off x="2148" y="1678"/>
              <a:ext cx="38" cy="3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0" name="Oval 56"/>
            <p:cNvSpPr>
              <a:spLocks noChangeAspect="1" noChangeArrowheads="1"/>
            </p:cNvSpPr>
            <p:nvPr/>
          </p:nvSpPr>
          <p:spPr bwMode="auto">
            <a:xfrm>
              <a:off x="2448" y="2352"/>
              <a:ext cx="34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1" name="Oval 57"/>
            <p:cNvSpPr>
              <a:spLocks noChangeAspect="1" noChangeArrowheads="1"/>
            </p:cNvSpPr>
            <p:nvPr/>
          </p:nvSpPr>
          <p:spPr bwMode="auto">
            <a:xfrm>
              <a:off x="1920" y="1968"/>
              <a:ext cx="38" cy="37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2" name="Oval 58"/>
            <p:cNvSpPr>
              <a:spLocks noChangeAspect="1" noChangeArrowheads="1"/>
            </p:cNvSpPr>
            <p:nvPr/>
          </p:nvSpPr>
          <p:spPr bwMode="auto">
            <a:xfrm>
              <a:off x="3216" y="2592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3" name="Oval 59"/>
            <p:cNvSpPr>
              <a:spLocks noChangeAspect="1" noChangeArrowheads="1"/>
            </p:cNvSpPr>
            <p:nvPr/>
          </p:nvSpPr>
          <p:spPr bwMode="auto">
            <a:xfrm rot="-1118274">
              <a:off x="2449" y="2799"/>
              <a:ext cx="34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4" name="Oval 60"/>
            <p:cNvSpPr>
              <a:spLocks noChangeAspect="1" noChangeArrowheads="1"/>
            </p:cNvSpPr>
            <p:nvPr/>
          </p:nvSpPr>
          <p:spPr bwMode="auto">
            <a:xfrm rot="-1118274">
              <a:off x="3782" y="2034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5" name="Oval 61"/>
            <p:cNvSpPr>
              <a:spLocks noChangeAspect="1" noChangeArrowheads="1"/>
            </p:cNvSpPr>
            <p:nvPr/>
          </p:nvSpPr>
          <p:spPr bwMode="auto">
            <a:xfrm rot="-1118274">
              <a:off x="3336" y="2863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6" name="Oval 62"/>
            <p:cNvSpPr>
              <a:spLocks noChangeAspect="1" noChangeArrowheads="1"/>
            </p:cNvSpPr>
            <p:nvPr/>
          </p:nvSpPr>
          <p:spPr bwMode="auto">
            <a:xfrm rot="-1118274">
              <a:off x="1968" y="1680"/>
              <a:ext cx="38" cy="3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7" name="Oval 63"/>
            <p:cNvSpPr>
              <a:spLocks noChangeAspect="1" noChangeArrowheads="1"/>
            </p:cNvSpPr>
            <p:nvPr/>
          </p:nvSpPr>
          <p:spPr bwMode="auto">
            <a:xfrm rot="-1118274">
              <a:off x="2968" y="2258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8" name="Oval 64"/>
            <p:cNvSpPr>
              <a:spLocks noChangeAspect="1" noChangeArrowheads="1"/>
            </p:cNvSpPr>
            <p:nvPr/>
          </p:nvSpPr>
          <p:spPr bwMode="auto">
            <a:xfrm rot="-1118274">
              <a:off x="3696" y="2832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89" name="Oval 65"/>
            <p:cNvSpPr>
              <a:spLocks noChangeAspect="1" noChangeArrowheads="1"/>
            </p:cNvSpPr>
            <p:nvPr/>
          </p:nvSpPr>
          <p:spPr bwMode="auto">
            <a:xfrm rot="-1118274">
              <a:off x="1962" y="2293"/>
              <a:ext cx="38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0" name="Oval 66"/>
            <p:cNvSpPr>
              <a:spLocks noChangeAspect="1" noChangeArrowheads="1"/>
            </p:cNvSpPr>
            <p:nvPr/>
          </p:nvSpPr>
          <p:spPr bwMode="auto">
            <a:xfrm rot="5895381">
              <a:off x="2436" y="1926"/>
              <a:ext cx="30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1" name="Oval 67"/>
            <p:cNvSpPr>
              <a:spLocks noChangeAspect="1" noChangeArrowheads="1"/>
            </p:cNvSpPr>
            <p:nvPr/>
          </p:nvSpPr>
          <p:spPr bwMode="auto">
            <a:xfrm rot="5895381">
              <a:off x="2605" y="3303"/>
              <a:ext cx="35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2" name="Oval 68"/>
            <p:cNvSpPr>
              <a:spLocks noChangeAspect="1" noChangeArrowheads="1"/>
            </p:cNvSpPr>
            <p:nvPr/>
          </p:nvSpPr>
          <p:spPr bwMode="auto">
            <a:xfrm rot="5895381">
              <a:off x="1962" y="2582"/>
              <a:ext cx="30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3" name="Oval 69"/>
            <p:cNvSpPr>
              <a:spLocks noChangeAspect="1" noChangeArrowheads="1"/>
            </p:cNvSpPr>
            <p:nvPr/>
          </p:nvSpPr>
          <p:spPr bwMode="auto">
            <a:xfrm rot="5895381">
              <a:off x="2736" y="1508"/>
              <a:ext cx="30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4" name="Oval 70"/>
            <p:cNvSpPr>
              <a:spLocks noChangeAspect="1" noChangeArrowheads="1"/>
            </p:cNvSpPr>
            <p:nvPr/>
          </p:nvSpPr>
          <p:spPr bwMode="auto">
            <a:xfrm rot="5895381">
              <a:off x="3341" y="2611"/>
              <a:ext cx="37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5" name="Oval 71"/>
            <p:cNvSpPr>
              <a:spLocks noChangeAspect="1" noChangeArrowheads="1"/>
            </p:cNvSpPr>
            <p:nvPr/>
          </p:nvSpPr>
          <p:spPr bwMode="auto">
            <a:xfrm rot="5895381">
              <a:off x="2753" y="257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6" name="Oval 72"/>
            <p:cNvSpPr>
              <a:spLocks noChangeAspect="1" noChangeArrowheads="1"/>
            </p:cNvSpPr>
            <p:nvPr/>
          </p:nvSpPr>
          <p:spPr bwMode="auto">
            <a:xfrm rot="5895381">
              <a:off x="3540" y="212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7" name="Oval 73"/>
            <p:cNvSpPr>
              <a:spLocks noChangeAspect="1" noChangeArrowheads="1"/>
            </p:cNvSpPr>
            <p:nvPr/>
          </p:nvSpPr>
          <p:spPr bwMode="auto">
            <a:xfrm rot="5895381">
              <a:off x="1945" y="1478"/>
              <a:ext cx="30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8" name="Oval 74"/>
            <p:cNvSpPr>
              <a:spLocks noChangeAspect="1" noChangeArrowheads="1"/>
            </p:cNvSpPr>
            <p:nvPr/>
          </p:nvSpPr>
          <p:spPr bwMode="auto">
            <a:xfrm rot="5895381">
              <a:off x="3314" y="2062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299" name="Oval 75"/>
            <p:cNvSpPr>
              <a:spLocks noChangeAspect="1" noChangeArrowheads="1"/>
            </p:cNvSpPr>
            <p:nvPr/>
          </p:nvSpPr>
          <p:spPr bwMode="auto">
            <a:xfrm rot="5895381">
              <a:off x="3223" y="2973"/>
              <a:ext cx="37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0" name="Oval 76"/>
            <p:cNvSpPr>
              <a:spLocks noChangeAspect="1" noChangeArrowheads="1"/>
            </p:cNvSpPr>
            <p:nvPr/>
          </p:nvSpPr>
          <p:spPr bwMode="auto">
            <a:xfrm rot="4777107">
              <a:off x="2203" y="2227"/>
              <a:ext cx="37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1" name="Oval 77"/>
            <p:cNvSpPr>
              <a:spLocks noChangeAspect="1" noChangeArrowheads="1"/>
            </p:cNvSpPr>
            <p:nvPr/>
          </p:nvSpPr>
          <p:spPr bwMode="auto">
            <a:xfrm rot="4777107">
              <a:off x="2930" y="331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2" name="Oval 78"/>
            <p:cNvSpPr>
              <a:spLocks noChangeAspect="1" noChangeArrowheads="1"/>
            </p:cNvSpPr>
            <p:nvPr/>
          </p:nvSpPr>
          <p:spPr bwMode="auto">
            <a:xfrm rot="4777107">
              <a:off x="2738" y="307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3" name="Oval 79"/>
            <p:cNvSpPr>
              <a:spLocks noChangeAspect="1" noChangeArrowheads="1"/>
            </p:cNvSpPr>
            <p:nvPr/>
          </p:nvSpPr>
          <p:spPr bwMode="auto">
            <a:xfrm rot="4777107">
              <a:off x="1774" y="2354"/>
              <a:ext cx="37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4" name="Oval 80"/>
            <p:cNvSpPr>
              <a:spLocks noChangeAspect="1" noChangeArrowheads="1"/>
            </p:cNvSpPr>
            <p:nvPr/>
          </p:nvSpPr>
          <p:spPr bwMode="auto">
            <a:xfrm rot="4777107">
              <a:off x="2339" y="1749"/>
              <a:ext cx="32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5" name="Oval 81"/>
            <p:cNvSpPr>
              <a:spLocks noChangeAspect="1" noChangeArrowheads="1"/>
            </p:cNvSpPr>
            <p:nvPr/>
          </p:nvSpPr>
          <p:spPr bwMode="auto">
            <a:xfrm rot="4777107">
              <a:off x="2744" y="2749"/>
              <a:ext cx="32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6" name="Oval 82"/>
            <p:cNvSpPr>
              <a:spLocks noChangeAspect="1" noChangeArrowheads="1"/>
            </p:cNvSpPr>
            <p:nvPr/>
          </p:nvSpPr>
          <p:spPr bwMode="auto">
            <a:xfrm rot="4777107">
              <a:off x="1577" y="1942"/>
              <a:ext cx="37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7" name="Oval 83"/>
            <p:cNvSpPr>
              <a:spLocks noChangeAspect="1" noChangeArrowheads="1"/>
            </p:cNvSpPr>
            <p:nvPr/>
          </p:nvSpPr>
          <p:spPr bwMode="auto">
            <a:xfrm rot="4777107">
              <a:off x="2480" y="3181"/>
              <a:ext cx="35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8" name="Oval 84"/>
            <p:cNvSpPr>
              <a:spLocks noChangeAspect="1" noChangeArrowheads="1"/>
            </p:cNvSpPr>
            <p:nvPr/>
          </p:nvSpPr>
          <p:spPr bwMode="auto">
            <a:xfrm rot="4777107">
              <a:off x="3341" y="2996"/>
              <a:ext cx="32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09" name="Oval 85"/>
            <p:cNvSpPr>
              <a:spLocks noChangeAspect="1" noChangeArrowheads="1"/>
            </p:cNvSpPr>
            <p:nvPr/>
          </p:nvSpPr>
          <p:spPr bwMode="auto">
            <a:xfrm>
              <a:off x="2976" y="2496"/>
              <a:ext cx="38" cy="3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10" name="Oval 86"/>
            <p:cNvSpPr>
              <a:spLocks noChangeAspect="1" noChangeArrowheads="1"/>
            </p:cNvSpPr>
            <p:nvPr/>
          </p:nvSpPr>
          <p:spPr bwMode="auto">
            <a:xfrm rot="-1118274">
              <a:off x="2160" y="2064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311" name="Oval 87"/>
            <p:cNvSpPr>
              <a:spLocks noChangeAspect="1" noChangeArrowheads="1"/>
            </p:cNvSpPr>
            <p:nvPr/>
          </p:nvSpPr>
          <p:spPr bwMode="auto">
            <a:xfrm rot="-1118274">
              <a:off x="2928" y="1344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8313" name="Freeform 89"/>
          <p:cNvSpPr>
            <a:spLocks/>
          </p:cNvSpPr>
          <p:nvPr/>
        </p:nvSpPr>
        <p:spPr bwMode="auto">
          <a:xfrm>
            <a:off x="1130300" y="2306638"/>
            <a:ext cx="2954338" cy="3971925"/>
          </a:xfrm>
          <a:custGeom>
            <a:avLst/>
            <a:gdLst>
              <a:gd name="T0" fmla="*/ 784 w 1861"/>
              <a:gd name="T1" fmla="*/ 145 h 2502"/>
              <a:gd name="T2" fmla="*/ 793 w 1861"/>
              <a:gd name="T3" fmla="*/ 526 h 2502"/>
              <a:gd name="T4" fmla="*/ 802 w 1861"/>
              <a:gd name="T5" fmla="*/ 572 h 2502"/>
              <a:gd name="T6" fmla="*/ 784 w 1861"/>
              <a:gd name="T7" fmla="*/ 758 h 2502"/>
              <a:gd name="T8" fmla="*/ 310 w 1861"/>
              <a:gd name="T9" fmla="*/ 962 h 2502"/>
              <a:gd name="T10" fmla="*/ 78 w 1861"/>
              <a:gd name="T11" fmla="*/ 925 h 2502"/>
              <a:gd name="T12" fmla="*/ 31 w 1861"/>
              <a:gd name="T13" fmla="*/ 1074 h 2502"/>
              <a:gd name="T14" fmla="*/ 115 w 1861"/>
              <a:gd name="T15" fmla="*/ 1111 h 2502"/>
              <a:gd name="T16" fmla="*/ 291 w 1861"/>
              <a:gd name="T17" fmla="*/ 1120 h 2502"/>
              <a:gd name="T18" fmla="*/ 524 w 1861"/>
              <a:gd name="T19" fmla="*/ 1176 h 2502"/>
              <a:gd name="T20" fmla="*/ 598 w 1861"/>
              <a:gd name="T21" fmla="*/ 1316 h 2502"/>
              <a:gd name="T22" fmla="*/ 579 w 1861"/>
              <a:gd name="T23" fmla="*/ 1390 h 2502"/>
              <a:gd name="T24" fmla="*/ 551 w 1861"/>
              <a:gd name="T25" fmla="*/ 1408 h 2502"/>
              <a:gd name="T26" fmla="*/ 524 w 1861"/>
              <a:gd name="T27" fmla="*/ 1436 h 2502"/>
              <a:gd name="T28" fmla="*/ 412 w 1861"/>
              <a:gd name="T29" fmla="*/ 1483 h 2502"/>
              <a:gd name="T30" fmla="*/ 366 w 1861"/>
              <a:gd name="T31" fmla="*/ 1520 h 2502"/>
              <a:gd name="T32" fmla="*/ 310 w 1861"/>
              <a:gd name="T33" fmla="*/ 1576 h 2502"/>
              <a:gd name="T34" fmla="*/ 217 w 1861"/>
              <a:gd name="T35" fmla="*/ 1687 h 2502"/>
              <a:gd name="T36" fmla="*/ 171 w 1861"/>
              <a:gd name="T37" fmla="*/ 1817 h 2502"/>
              <a:gd name="T38" fmla="*/ 217 w 1861"/>
              <a:gd name="T39" fmla="*/ 2180 h 2502"/>
              <a:gd name="T40" fmla="*/ 301 w 1861"/>
              <a:gd name="T41" fmla="*/ 2328 h 2502"/>
              <a:gd name="T42" fmla="*/ 329 w 1861"/>
              <a:gd name="T43" fmla="*/ 2347 h 2502"/>
              <a:gd name="T44" fmla="*/ 384 w 1861"/>
              <a:gd name="T45" fmla="*/ 2365 h 2502"/>
              <a:gd name="T46" fmla="*/ 1137 w 1861"/>
              <a:gd name="T47" fmla="*/ 2384 h 2502"/>
              <a:gd name="T48" fmla="*/ 1313 w 1861"/>
              <a:gd name="T49" fmla="*/ 2300 h 2502"/>
              <a:gd name="T50" fmla="*/ 1397 w 1861"/>
              <a:gd name="T51" fmla="*/ 2245 h 2502"/>
              <a:gd name="T52" fmla="*/ 1481 w 1861"/>
              <a:gd name="T53" fmla="*/ 2198 h 2502"/>
              <a:gd name="T54" fmla="*/ 1629 w 1861"/>
              <a:gd name="T55" fmla="*/ 2031 h 2502"/>
              <a:gd name="T56" fmla="*/ 1666 w 1861"/>
              <a:gd name="T57" fmla="*/ 1947 h 2502"/>
              <a:gd name="T58" fmla="*/ 1685 w 1861"/>
              <a:gd name="T59" fmla="*/ 1882 h 2502"/>
              <a:gd name="T60" fmla="*/ 1583 w 1861"/>
              <a:gd name="T61" fmla="*/ 1483 h 2502"/>
              <a:gd name="T62" fmla="*/ 1490 w 1861"/>
              <a:gd name="T63" fmla="*/ 1446 h 2502"/>
              <a:gd name="T64" fmla="*/ 1332 w 1861"/>
              <a:gd name="T65" fmla="*/ 1408 h 2502"/>
              <a:gd name="T66" fmla="*/ 1118 w 1861"/>
              <a:gd name="T67" fmla="*/ 1399 h 2502"/>
              <a:gd name="T68" fmla="*/ 1035 w 1861"/>
              <a:gd name="T69" fmla="*/ 1455 h 2502"/>
              <a:gd name="T70" fmla="*/ 942 w 1861"/>
              <a:gd name="T71" fmla="*/ 1548 h 2502"/>
              <a:gd name="T72" fmla="*/ 774 w 1861"/>
              <a:gd name="T73" fmla="*/ 1538 h 2502"/>
              <a:gd name="T74" fmla="*/ 765 w 1861"/>
              <a:gd name="T75" fmla="*/ 1511 h 2502"/>
              <a:gd name="T76" fmla="*/ 793 w 1861"/>
              <a:gd name="T77" fmla="*/ 1408 h 2502"/>
              <a:gd name="T78" fmla="*/ 979 w 1861"/>
              <a:gd name="T79" fmla="*/ 1390 h 2502"/>
              <a:gd name="T80" fmla="*/ 1239 w 1861"/>
              <a:gd name="T81" fmla="*/ 1325 h 2502"/>
              <a:gd name="T82" fmla="*/ 1481 w 1861"/>
              <a:gd name="T83" fmla="*/ 1260 h 2502"/>
              <a:gd name="T84" fmla="*/ 1564 w 1861"/>
              <a:gd name="T85" fmla="*/ 1213 h 2502"/>
              <a:gd name="T86" fmla="*/ 1620 w 1861"/>
              <a:gd name="T87" fmla="*/ 1176 h 2502"/>
              <a:gd name="T88" fmla="*/ 1657 w 1861"/>
              <a:gd name="T89" fmla="*/ 1158 h 2502"/>
              <a:gd name="T90" fmla="*/ 1796 w 1861"/>
              <a:gd name="T91" fmla="*/ 1028 h 2502"/>
              <a:gd name="T92" fmla="*/ 1750 w 1861"/>
              <a:gd name="T93" fmla="*/ 712 h 2502"/>
              <a:gd name="T94" fmla="*/ 1676 w 1861"/>
              <a:gd name="T95" fmla="*/ 619 h 2502"/>
              <a:gd name="T96" fmla="*/ 1620 w 1861"/>
              <a:gd name="T97" fmla="*/ 572 h 2502"/>
              <a:gd name="T98" fmla="*/ 1583 w 1861"/>
              <a:gd name="T99" fmla="*/ 526 h 2502"/>
              <a:gd name="T100" fmla="*/ 1499 w 1861"/>
              <a:gd name="T101" fmla="*/ 414 h 2502"/>
              <a:gd name="T102" fmla="*/ 1425 w 1861"/>
              <a:gd name="T103" fmla="*/ 284 h 2502"/>
              <a:gd name="T104" fmla="*/ 1295 w 1861"/>
              <a:gd name="T105" fmla="*/ 164 h 2502"/>
              <a:gd name="T106" fmla="*/ 1174 w 1861"/>
              <a:gd name="T107" fmla="*/ 89 h 2502"/>
              <a:gd name="T108" fmla="*/ 1137 w 1861"/>
              <a:gd name="T109" fmla="*/ 61 h 2502"/>
              <a:gd name="T110" fmla="*/ 1081 w 1861"/>
              <a:gd name="T111" fmla="*/ 43 h 2502"/>
              <a:gd name="T112" fmla="*/ 914 w 1861"/>
              <a:gd name="T113" fmla="*/ 33 h 2502"/>
              <a:gd name="T114" fmla="*/ 858 w 1861"/>
              <a:gd name="T115" fmla="*/ 52 h 2502"/>
              <a:gd name="T116" fmla="*/ 830 w 1861"/>
              <a:gd name="T117" fmla="*/ 61 h 2502"/>
              <a:gd name="T118" fmla="*/ 784 w 1861"/>
              <a:gd name="T119" fmla="*/ 108 h 2502"/>
              <a:gd name="T120" fmla="*/ 784 w 1861"/>
              <a:gd name="T121" fmla="*/ 145 h 2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861" h="2502">
                <a:moveTo>
                  <a:pt x="784" y="145"/>
                </a:moveTo>
                <a:cubicBezTo>
                  <a:pt x="787" y="272"/>
                  <a:pt x="788" y="399"/>
                  <a:pt x="793" y="526"/>
                </a:cubicBezTo>
                <a:cubicBezTo>
                  <a:pt x="794" y="542"/>
                  <a:pt x="802" y="556"/>
                  <a:pt x="802" y="572"/>
                </a:cubicBezTo>
                <a:cubicBezTo>
                  <a:pt x="802" y="634"/>
                  <a:pt x="812" y="702"/>
                  <a:pt x="784" y="758"/>
                </a:cubicBezTo>
                <a:cubicBezTo>
                  <a:pt x="703" y="920"/>
                  <a:pt x="472" y="951"/>
                  <a:pt x="310" y="962"/>
                </a:cubicBezTo>
                <a:cubicBezTo>
                  <a:pt x="231" y="956"/>
                  <a:pt x="153" y="952"/>
                  <a:pt x="78" y="925"/>
                </a:cubicBezTo>
                <a:cubicBezTo>
                  <a:pt x="0" y="942"/>
                  <a:pt x="4" y="979"/>
                  <a:pt x="31" y="1074"/>
                </a:cubicBezTo>
                <a:cubicBezTo>
                  <a:pt x="35" y="1087"/>
                  <a:pt x="101" y="1110"/>
                  <a:pt x="115" y="1111"/>
                </a:cubicBezTo>
                <a:cubicBezTo>
                  <a:pt x="174" y="1114"/>
                  <a:pt x="232" y="1117"/>
                  <a:pt x="291" y="1120"/>
                </a:cubicBezTo>
                <a:cubicBezTo>
                  <a:pt x="367" y="1146"/>
                  <a:pt x="445" y="1163"/>
                  <a:pt x="524" y="1176"/>
                </a:cubicBezTo>
                <a:cubicBezTo>
                  <a:pt x="558" y="1227"/>
                  <a:pt x="580" y="1260"/>
                  <a:pt x="598" y="1316"/>
                </a:cubicBezTo>
                <a:cubicBezTo>
                  <a:pt x="597" y="1322"/>
                  <a:pt x="588" y="1379"/>
                  <a:pt x="579" y="1390"/>
                </a:cubicBezTo>
                <a:cubicBezTo>
                  <a:pt x="572" y="1399"/>
                  <a:pt x="560" y="1401"/>
                  <a:pt x="551" y="1408"/>
                </a:cubicBezTo>
                <a:cubicBezTo>
                  <a:pt x="541" y="1416"/>
                  <a:pt x="535" y="1429"/>
                  <a:pt x="524" y="1436"/>
                </a:cubicBezTo>
                <a:cubicBezTo>
                  <a:pt x="492" y="1458"/>
                  <a:pt x="448" y="1470"/>
                  <a:pt x="412" y="1483"/>
                </a:cubicBezTo>
                <a:cubicBezTo>
                  <a:pt x="363" y="1559"/>
                  <a:pt x="427" y="1473"/>
                  <a:pt x="366" y="1520"/>
                </a:cubicBezTo>
                <a:cubicBezTo>
                  <a:pt x="345" y="1536"/>
                  <a:pt x="329" y="1557"/>
                  <a:pt x="310" y="1576"/>
                </a:cubicBezTo>
                <a:cubicBezTo>
                  <a:pt x="275" y="1611"/>
                  <a:pt x="252" y="1652"/>
                  <a:pt x="217" y="1687"/>
                </a:cubicBezTo>
                <a:cubicBezTo>
                  <a:pt x="203" y="1731"/>
                  <a:pt x="185" y="1773"/>
                  <a:pt x="171" y="1817"/>
                </a:cubicBezTo>
                <a:cubicBezTo>
                  <a:pt x="175" y="1944"/>
                  <a:pt x="145" y="2074"/>
                  <a:pt x="217" y="2180"/>
                </a:cubicBezTo>
                <a:cubicBezTo>
                  <a:pt x="229" y="2217"/>
                  <a:pt x="273" y="2309"/>
                  <a:pt x="301" y="2328"/>
                </a:cubicBezTo>
                <a:cubicBezTo>
                  <a:pt x="310" y="2334"/>
                  <a:pt x="319" y="2342"/>
                  <a:pt x="329" y="2347"/>
                </a:cubicBezTo>
                <a:cubicBezTo>
                  <a:pt x="347" y="2355"/>
                  <a:pt x="384" y="2365"/>
                  <a:pt x="384" y="2365"/>
                </a:cubicBezTo>
                <a:cubicBezTo>
                  <a:pt x="585" y="2502"/>
                  <a:pt x="1075" y="2385"/>
                  <a:pt x="1137" y="2384"/>
                </a:cubicBezTo>
                <a:cubicBezTo>
                  <a:pt x="1203" y="2368"/>
                  <a:pt x="1254" y="2330"/>
                  <a:pt x="1313" y="2300"/>
                </a:cubicBezTo>
                <a:cubicBezTo>
                  <a:pt x="1347" y="2283"/>
                  <a:pt x="1361" y="2257"/>
                  <a:pt x="1397" y="2245"/>
                </a:cubicBezTo>
                <a:cubicBezTo>
                  <a:pt x="1461" y="2201"/>
                  <a:pt x="1432" y="2214"/>
                  <a:pt x="1481" y="2198"/>
                </a:cubicBezTo>
                <a:cubicBezTo>
                  <a:pt x="1544" y="2156"/>
                  <a:pt x="1584" y="2090"/>
                  <a:pt x="1629" y="2031"/>
                </a:cubicBezTo>
                <a:cubicBezTo>
                  <a:pt x="1652" y="1964"/>
                  <a:pt x="1637" y="1992"/>
                  <a:pt x="1666" y="1947"/>
                </a:cubicBezTo>
                <a:cubicBezTo>
                  <a:pt x="1672" y="1925"/>
                  <a:pt x="1685" y="1905"/>
                  <a:pt x="1685" y="1882"/>
                </a:cubicBezTo>
                <a:cubicBezTo>
                  <a:pt x="1685" y="1834"/>
                  <a:pt x="1700" y="1521"/>
                  <a:pt x="1583" y="1483"/>
                </a:cubicBezTo>
                <a:cubicBezTo>
                  <a:pt x="1534" y="1434"/>
                  <a:pt x="1578" y="1466"/>
                  <a:pt x="1490" y="1446"/>
                </a:cubicBezTo>
                <a:cubicBezTo>
                  <a:pt x="1434" y="1433"/>
                  <a:pt x="1390" y="1417"/>
                  <a:pt x="1332" y="1408"/>
                </a:cubicBezTo>
                <a:cubicBezTo>
                  <a:pt x="1250" y="1382"/>
                  <a:pt x="1225" y="1393"/>
                  <a:pt x="1118" y="1399"/>
                </a:cubicBezTo>
                <a:cubicBezTo>
                  <a:pt x="1081" y="1411"/>
                  <a:pt x="1062" y="1427"/>
                  <a:pt x="1035" y="1455"/>
                </a:cubicBezTo>
                <a:cubicBezTo>
                  <a:pt x="1012" y="1519"/>
                  <a:pt x="1016" y="1532"/>
                  <a:pt x="942" y="1548"/>
                </a:cubicBezTo>
                <a:cubicBezTo>
                  <a:pt x="886" y="1545"/>
                  <a:pt x="829" y="1549"/>
                  <a:pt x="774" y="1538"/>
                </a:cubicBezTo>
                <a:cubicBezTo>
                  <a:pt x="765" y="1536"/>
                  <a:pt x="765" y="1520"/>
                  <a:pt x="765" y="1511"/>
                </a:cubicBezTo>
                <a:cubicBezTo>
                  <a:pt x="765" y="1484"/>
                  <a:pt x="764" y="1430"/>
                  <a:pt x="793" y="1408"/>
                </a:cubicBezTo>
                <a:cubicBezTo>
                  <a:pt x="842" y="1369"/>
                  <a:pt x="917" y="1394"/>
                  <a:pt x="979" y="1390"/>
                </a:cubicBezTo>
                <a:cubicBezTo>
                  <a:pt x="1065" y="1362"/>
                  <a:pt x="1152" y="1349"/>
                  <a:pt x="1239" y="1325"/>
                </a:cubicBezTo>
                <a:cubicBezTo>
                  <a:pt x="1320" y="1303"/>
                  <a:pt x="1399" y="1279"/>
                  <a:pt x="1481" y="1260"/>
                </a:cubicBezTo>
                <a:cubicBezTo>
                  <a:pt x="1518" y="1222"/>
                  <a:pt x="1523" y="1236"/>
                  <a:pt x="1564" y="1213"/>
                </a:cubicBezTo>
                <a:cubicBezTo>
                  <a:pt x="1584" y="1202"/>
                  <a:pt x="1600" y="1186"/>
                  <a:pt x="1620" y="1176"/>
                </a:cubicBezTo>
                <a:cubicBezTo>
                  <a:pt x="1632" y="1170"/>
                  <a:pt x="1645" y="1164"/>
                  <a:pt x="1657" y="1158"/>
                </a:cubicBezTo>
                <a:cubicBezTo>
                  <a:pt x="1702" y="1113"/>
                  <a:pt x="1743" y="1063"/>
                  <a:pt x="1796" y="1028"/>
                </a:cubicBezTo>
                <a:cubicBezTo>
                  <a:pt x="1861" y="932"/>
                  <a:pt x="1810" y="800"/>
                  <a:pt x="1750" y="712"/>
                </a:cubicBezTo>
                <a:cubicBezTo>
                  <a:pt x="1736" y="667"/>
                  <a:pt x="1720" y="634"/>
                  <a:pt x="1676" y="619"/>
                </a:cubicBezTo>
                <a:cubicBezTo>
                  <a:pt x="1656" y="605"/>
                  <a:pt x="1634" y="593"/>
                  <a:pt x="1620" y="572"/>
                </a:cubicBezTo>
                <a:cubicBezTo>
                  <a:pt x="1585" y="519"/>
                  <a:pt x="1645" y="566"/>
                  <a:pt x="1583" y="526"/>
                </a:cubicBezTo>
                <a:cubicBezTo>
                  <a:pt x="1560" y="481"/>
                  <a:pt x="1541" y="442"/>
                  <a:pt x="1499" y="414"/>
                </a:cubicBezTo>
                <a:cubicBezTo>
                  <a:pt x="1480" y="356"/>
                  <a:pt x="1469" y="328"/>
                  <a:pt x="1425" y="284"/>
                </a:cubicBezTo>
                <a:cubicBezTo>
                  <a:pt x="1406" y="230"/>
                  <a:pt x="1350" y="182"/>
                  <a:pt x="1295" y="164"/>
                </a:cubicBezTo>
                <a:cubicBezTo>
                  <a:pt x="1263" y="117"/>
                  <a:pt x="1219" y="118"/>
                  <a:pt x="1174" y="89"/>
                </a:cubicBezTo>
                <a:cubicBezTo>
                  <a:pt x="1161" y="81"/>
                  <a:pt x="1151" y="68"/>
                  <a:pt x="1137" y="61"/>
                </a:cubicBezTo>
                <a:cubicBezTo>
                  <a:pt x="1119" y="52"/>
                  <a:pt x="1081" y="43"/>
                  <a:pt x="1081" y="43"/>
                </a:cubicBezTo>
                <a:cubicBezTo>
                  <a:pt x="1018" y="0"/>
                  <a:pt x="1050" y="13"/>
                  <a:pt x="914" y="33"/>
                </a:cubicBezTo>
                <a:cubicBezTo>
                  <a:pt x="894" y="36"/>
                  <a:pt x="877" y="46"/>
                  <a:pt x="858" y="52"/>
                </a:cubicBezTo>
                <a:cubicBezTo>
                  <a:pt x="849" y="55"/>
                  <a:pt x="830" y="61"/>
                  <a:pt x="830" y="61"/>
                </a:cubicBezTo>
                <a:cubicBezTo>
                  <a:pt x="806" y="77"/>
                  <a:pt x="795" y="80"/>
                  <a:pt x="784" y="108"/>
                </a:cubicBezTo>
                <a:cubicBezTo>
                  <a:pt x="761" y="169"/>
                  <a:pt x="766" y="161"/>
                  <a:pt x="784" y="145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3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762000" y="1143000"/>
            <a:ext cx="7391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i="1"/>
              <a:t>Slack variables</a:t>
            </a:r>
            <a:r>
              <a:rPr lang="en-US" altLang="zh-CN" sz="2400" b="1"/>
              <a:t> </a:t>
            </a:r>
            <a:r>
              <a:rPr lang="el-GR" sz="2400" b="1" i="1"/>
              <a:t>ξ</a:t>
            </a:r>
            <a:r>
              <a:rPr lang="en-US" altLang="zh-CN" sz="2400" b="1" i="1"/>
              <a:t>i</a:t>
            </a:r>
            <a:r>
              <a:rPr lang="en-US" altLang="zh-CN" sz="2400" b="1"/>
              <a:t> can be added to allow misclassification of difficult or noisy examples.</a:t>
            </a:r>
          </a:p>
        </p:txBody>
      </p:sp>
      <p:grpSp>
        <p:nvGrpSpPr>
          <p:cNvPr id="340002" name="Group 34"/>
          <p:cNvGrpSpPr>
            <a:grpSpLocks/>
          </p:cNvGrpSpPr>
          <p:nvPr/>
        </p:nvGrpSpPr>
        <p:grpSpPr bwMode="auto">
          <a:xfrm>
            <a:off x="609600" y="2743200"/>
            <a:ext cx="4067175" cy="2452688"/>
            <a:chOff x="107" y="516"/>
            <a:chExt cx="2562" cy="1545"/>
          </a:xfrm>
        </p:grpSpPr>
        <p:sp>
          <p:nvSpPr>
            <p:cNvPr id="339973" name="Line 5"/>
            <p:cNvSpPr>
              <a:spLocks noChangeShapeType="1"/>
            </p:cNvSpPr>
            <p:nvPr/>
          </p:nvSpPr>
          <p:spPr bwMode="auto">
            <a:xfrm rot="-23199335">
              <a:off x="543" y="1055"/>
              <a:ext cx="1872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339974" name="Line 6"/>
            <p:cNvSpPr>
              <a:spLocks noChangeShapeType="1"/>
            </p:cNvSpPr>
            <p:nvPr/>
          </p:nvSpPr>
          <p:spPr bwMode="auto">
            <a:xfrm rot="-23199335">
              <a:off x="635" y="123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339975" name="Line 7"/>
            <p:cNvSpPr>
              <a:spLocks noChangeShapeType="1"/>
            </p:cNvSpPr>
            <p:nvPr/>
          </p:nvSpPr>
          <p:spPr bwMode="auto">
            <a:xfrm rot="-23199335">
              <a:off x="726" y="1420"/>
              <a:ext cx="1872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IN"/>
            </a:p>
          </p:txBody>
        </p:sp>
        <p:sp>
          <p:nvSpPr>
            <p:cNvPr id="339976" name="Text Box 8"/>
            <p:cNvSpPr txBox="1">
              <a:spLocks noChangeArrowheads="1"/>
            </p:cNvSpPr>
            <p:nvPr/>
          </p:nvSpPr>
          <p:spPr bwMode="auto">
            <a:xfrm rot="-1777892">
              <a:off x="107" y="1514"/>
              <a:ext cx="6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</a:rPr>
                <a:t>wx+b=1</a:t>
              </a:r>
            </a:p>
          </p:txBody>
        </p:sp>
        <p:sp>
          <p:nvSpPr>
            <p:cNvPr id="339977" name="Text Box 9"/>
            <p:cNvSpPr txBox="1">
              <a:spLocks noChangeArrowheads="1"/>
            </p:cNvSpPr>
            <p:nvPr/>
          </p:nvSpPr>
          <p:spPr bwMode="auto">
            <a:xfrm rot="-1777892">
              <a:off x="204" y="1684"/>
              <a:ext cx="6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400">
                  <a:latin typeface="Tahoma" panose="020B0604030504040204" pitchFamily="34" charset="0"/>
                </a:rPr>
                <a:t>wx+b=0</a:t>
              </a:r>
            </a:p>
          </p:txBody>
        </p:sp>
        <p:sp>
          <p:nvSpPr>
            <p:cNvPr id="339978" name="Text Box 10"/>
            <p:cNvSpPr txBox="1">
              <a:spLocks noChangeArrowheads="1"/>
            </p:cNvSpPr>
            <p:nvPr/>
          </p:nvSpPr>
          <p:spPr bwMode="auto">
            <a:xfrm rot="-1777892">
              <a:off x="299" y="1838"/>
              <a:ext cx="6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1400">
                  <a:solidFill>
                    <a:schemeClr val="folHlink"/>
                  </a:solidFill>
                  <a:latin typeface="Tahoma" panose="020B0604030504040204" pitchFamily="34" charset="0"/>
                </a:rPr>
                <a:t>wx+b=-1</a:t>
              </a:r>
            </a:p>
          </p:txBody>
        </p:sp>
        <p:sp>
          <p:nvSpPr>
            <p:cNvPr id="339979" name="Oval 11"/>
            <p:cNvSpPr>
              <a:spLocks noChangeArrowheads="1"/>
            </p:cNvSpPr>
            <p:nvPr/>
          </p:nvSpPr>
          <p:spPr bwMode="auto">
            <a:xfrm>
              <a:off x="2491" y="1462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0" name="Oval 12"/>
            <p:cNvSpPr>
              <a:spLocks noChangeArrowheads="1"/>
            </p:cNvSpPr>
            <p:nvPr/>
          </p:nvSpPr>
          <p:spPr bwMode="auto">
            <a:xfrm>
              <a:off x="992" y="713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1" name="Oval 13"/>
            <p:cNvSpPr>
              <a:spLocks noChangeArrowheads="1"/>
            </p:cNvSpPr>
            <p:nvPr/>
          </p:nvSpPr>
          <p:spPr bwMode="auto">
            <a:xfrm>
              <a:off x="445" y="632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2" name="Oval 14"/>
            <p:cNvSpPr>
              <a:spLocks noChangeArrowheads="1"/>
            </p:cNvSpPr>
            <p:nvPr/>
          </p:nvSpPr>
          <p:spPr bwMode="auto">
            <a:xfrm>
              <a:off x="912" y="1296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3" name="Oval 15"/>
            <p:cNvSpPr>
              <a:spLocks noChangeArrowheads="1"/>
            </p:cNvSpPr>
            <p:nvPr/>
          </p:nvSpPr>
          <p:spPr bwMode="auto">
            <a:xfrm>
              <a:off x="601" y="824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4" name="Oval 16"/>
            <p:cNvSpPr>
              <a:spLocks noChangeArrowheads="1"/>
            </p:cNvSpPr>
            <p:nvPr/>
          </p:nvSpPr>
          <p:spPr bwMode="auto">
            <a:xfrm>
              <a:off x="364" y="1319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5" name="Oval 17"/>
            <p:cNvSpPr>
              <a:spLocks noChangeArrowheads="1"/>
            </p:cNvSpPr>
            <p:nvPr/>
          </p:nvSpPr>
          <p:spPr bwMode="auto">
            <a:xfrm>
              <a:off x="1974" y="765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6" name="Oval 18"/>
            <p:cNvSpPr>
              <a:spLocks noChangeArrowheads="1"/>
            </p:cNvSpPr>
            <p:nvPr/>
          </p:nvSpPr>
          <p:spPr bwMode="auto">
            <a:xfrm>
              <a:off x="1756" y="1339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7" name="Oval 19"/>
            <p:cNvSpPr>
              <a:spLocks noChangeArrowheads="1"/>
            </p:cNvSpPr>
            <p:nvPr/>
          </p:nvSpPr>
          <p:spPr bwMode="auto">
            <a:xfrm>
              <a:off x="2200" y="1490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8" name="Oval 20"/>
            <p:cNvSpPr>
              <a:spLocks noChangeArrowheads="1"/>
            </p:cNvSpPr>
            <p:nvPr/>
          </p:nvSpPr>
          <p:spPr bwMode="auto">
            <a:xfrm>
              <a:off x="942" y="1929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89" name="Oval 21"/>
            <p:cNvSpPr>
              <a:spLocks noChangeArrowheads="1"/>
            </p:cNvSpPr>
            <p:nvPr/>
          </p:nvSpPr>
          <p:spPr bwMode="auto">
            <a:xfrm>
              <a:off x="1529" y="1901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90" name="Oval 22"/>
            <p:cNvSpPr>
              <a:spLocks noChangeArrowheads="1"/>
            </p:cNvSpPr>
            <p:nvPr/>
          </p:nvSpPr>
          <p:spPr bwMode="auto">
            <a:xfrm>
              <a:off x="2621" y="1319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91" name="Oval 23"/>
            <p:cNvSpPr>
              <a:spLocks noChangeArrowheads="1"/>
            </p:cNvSpPr>
            <p:nvPr/>
          </p:nvSpPr>
          <p:spPr bwMode="auto">
            <a:xfrm>
              <a:off x="720" y="672"/>
              <a:ext cx="48" cy="48"/>
            </a:xfrm>
            <a:prstGeom prst="ellipse">
              <a:avLst/>
            </a:prstGeom>
            <a:noFill/>
            <a:ln w="190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92" name="Oval 24"/>
            <p:cNvSpPr>
              <a:spLocks noChangeArrowheads="1"/>
            </p:cNvSpPr>
            <p:nvPr/>
          </p:nvSpPr>
          <p:spPr bwMode="auto">
            <a:xfrm>
              <a:off x="1834" y="2013"/>
              <a:ext cx="48" cy="48"/>
            </a:xfrm>
            <a:prstGeom prst="ellipse">
              <a:avLst/>
            </a:prstGeom>
            <a:solidFill>
              <a:schemeClr val="hlink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339993" name="Line 25"/>
            <p:cNvSpPr>
              <a:spLocks noChangeShapeType="1"/>
            </p:cNvSpPr>
            <p:nvPr/>
          </p:nvSpPr>
          <p:spPr bwMode="auto">
            <a:xfrm flipH="1" flipV="1">
              <a:off x="1387" y="1094"/>
              <a:ext cx="467" cy="94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994" name="Text Box 26"/>
            <p:cNvSpPr txBox="1">
              <a:spLocks noChangeArrowheads="1"/>
            </p:cNvSpPr>
            <p:nvPr/>
          </p:nvSpPr>
          <p:spPr bwMode="auto">
            <a:xfrm>
              <a:off x="1780" y="1528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400" i="1">
                  <a:solidFill>
                    <a:schemeClr val="hlink"/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zh-CN" sz="2400" i="1" baseline="-25000">
                  <a:solidFill>
                    <a:schemeClr val="hlink"/>
                  </a:solidFill>
                  <a:latin typeface="Tahoma" panose="020B0604030504040204" pitchFamily="34" charset="0"/>
                </a:rPr>
                <a:t>7</a:t>
              </a:r>
              <a:r>
                <a:rPr lang="en-US" altLang="zh-CN" sz="2400" i="1">
                  <a:solidFill>
                    <a:schemeClr val="hlink"/>
                  </a:solidFill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339995" name="Line 27"/>
            <p:cNvSpPr>
              <a:spLocks noChangeShapeType="1"/>
            </p:cNvSpPr>
            <p:nvPr/>
          </p:nvSpPr>
          <p:spPr bwMode="auto">
            <a:xfrm flipH="1" flipV="1">
              <a:off x="1463" y="1041"/>
              <a:ext cx="473" cy="945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996" name="Line 28"/>
            <p:cNvSpPr>
              <a:spLocks noChangeShapeType="1"/>
            </p:cNvSpPr>
            <p:nvPr/>
          </p:nvSpPr>
          <p:spPr bwMode="auto">
            <a:xfrm flipH="1" flipV="1">
              <a:off x="1565" y="605"/>
              <a:ext cx="333" cy="69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997" name="Text Box 29"/>
            <p:cNvSpPr txBox="1">
              <a:spLocks noChangeArrowheads="1"/>
            </p:cNvSpPr>
            <p:nvPr/>
          </p:nvSpPr>
          <p:spPr bwMode="auto">
            <a:xfrm>
              <a:off x="1652" y="516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400" i="1">
                  <a:solidFill>
                    <a:schemeClr val="folHlink"/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zh-CN" sz="2400" i="1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11</a:t>
              </a:r>
              <a:r>
                <a:rPr lang="en-US" altLang="zh-CN" sz="2400" i="1">
                  <a:solidFill>
                    <a:schemeClr val="folHlink"/>
                  </a:solidFill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339998" name="Line 30"/>
            <p:cNvSpPr>
              <a:spLocks noChangeShapeType="1"/>
            </p:cNvSpPr>
            <p:nvPr/>
          </p:nvSpPr>
          <p:spPr bwMode="auto">
            <a:xfrm flipH="1" flipV="1">
              <a:off x="1640" y="561"/>
              <a:ext cx="341" cy="7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9999" name="Line 31"/>
            <p:cNvSpPr>
              <a:spLocks noChangeShapeType="1"/>
            </p:cNvSpPr>
            <p:nvPr/>
          </p:nvSpPr>
          <p:spPr bwMode="auto">
            <a:xfrm flipH="1" flipV="1">
              <a:off x="760" y="716"/>
              <a:ext cx="444" cy="923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0000" name="Text Box 32"/>
            <p:cNvSpPr txBox="1">
              <a:spLocks noChangeArrowheads="1"/>
            </p:cNvSpPr>
            <p:nvPr/>
          </p:nvSpPr>
          <p:spPr bwMode="auto">
            <a:xfrm>
              <a:off x="960" y="782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algn="ctr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zh-CN" sz="2400" i="1">
                  <a:solidFill>
                    <a:schemeClr val="folHlink"/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zh-CN" sz="2400" i="1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  <a:r>
                <a:rPr lang="en-US" altLang="zh-CN" sz="2400" i="1">
                  <a:solidFill>
                    <a:schemeClr val="folHlink"/>
                  </a:solidFill>
                  <a:latin typeface="Tahoma" panose="020B0604030504040204" pitchFamily="34" charset="0"/>
                </a:rPr>
                <a:t> </a:t>
              </a:r>
            </a:p>
          </p:txBody>
        </p:sp>
        <p:sp>
          <p:nvSpPr>
            <p:cNvPr id="340001" name="Line 33"/>
            <p:cNvSpPr>
              <a:spLocks noChangeShapeType="1"/>
            </p:cNvSpPr>
            <p:nvPr/>
          </p:nvSpPr>
          <p:spPr bwMode="auto">
            <a:xfrm flipH="1" flipV="1">
              <a:off x="842" y="664"/>
              <a:ext cx="437" cy="945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0003" name="Rectangle 3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Soft Margin Classification</a:t>
            </a:r>
          </a:p>
        </p:txBody>
      </p:sp>
      <p:graphicFrame>
        <p:nvGraphicFramePr>
          <p:cNvPr id="340006" name="Object 3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10163215"/>
              </p:ext>
            </p:extLst>
          </p:nvPr>
        </p:nvGraphicFramePr>
        <p:xfrm>
          <a:off x="5231640" y="3728244"/>
          <a:ext cx="2165350" cy="956129"/>
        </p:xfrm>
        <a:graphic>
          <a:graphicData uri="http://schemas.openxmlformats.org/presentationml/2006/ole">
            <p:oleObj spid="_x0000_s340028" name="Microsoft Equation 3.0" r:id="rId3" imgW="977900" imgH="431800" progId="">
              <p:embed/>
            </p:oleObj>
          </a:graphicData>
        </a:graphic>
      </p:graphicFrame>
      <p:sp>
        <p:nvSpPr>
          <p:cNvPr id="340005" name="Rectangle 37"/>
          <p:cNvSpPr>
            <a:spLocks noChangeArrowheads="1"/>
          </p:cNvSpPr>
          <p:nvPr/>
        </p:nvSpPr>
        <p:spPr bwMode="auto">
          <a:xfrm>
            <a:off x="4724400" y="2286000"/>
            <a:ext cx="4233863" cy="183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What should our quadratic optimization criterion be?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990099"/>
                </a:solidFill>
              </a:rPr>
              <a:t>Minimize</a:t>
            </a:r>
            <a:endParaRPr lang="en-US" altLang="zh-CN" b="1" i="1">
              <a:solidFill>
                <a:srgbClr val="99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2" name="Rectangle 4"/>
          <p:cNvSpPr>
            <a:spLocks noChangeArrowheads="1"/>
          </p:cNvSpPr>
          <p:nvPr/>
        </p:nvSpPr>
        <p:spPr bwMode="auto">
          <a:xfrm>
            <a:off x="381000" y="228600"/>
            <a:ext cx="8610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Hard Margin v.s. Soft Margin</a:t>
            </a:r>
          </a:p>
        </p:txBody>
      </p:sp>
      <p:sp>
        <p:nvSpPr>
          <p:cNvPr id="309253" name="Rectangle 5"/>
          <p:cNvSpPr>
            <a:spLocks noChangeArrowheads="1"/>
          </p:cNvSpPr>
          <p:nvPr/>
        </p:nvSpPr>
        <p:spPr bwMode="auto">
          <a:xfrm>
            <a:off x="457200" y="10668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The old formulation:</a:t>
            </a:r>
          </a:p>
          <a:p>
            <a:endParaRPr lang="en-US" altLang="zh-CN" sz="2400" b="1" dirty="0"/>
          </a:p>
          <a:p>
            <a:endParaRPr lang="en-US" altLang="zh-CN" dirty="0"/>
          </a:p>
          <a:p>
            <a:endParaRPr lang="en-US" altLang="zh-CN" sz="2400" b="1" dirty="0"/>
          </a:p>
          <a:p>
            <a:r>
              <a:rPr lang="en-US" altLang="zh-CN" sz="2400" b="1" dirty="0"/>
              <a:t>The new formulation incorporating slack </a:t>
            </a:r>
            <a:r>
              <a:rPr lang="en-US" altLang="zh-CN" sz="2400" b="1" dirty="0" smtClean="0"/>
              <a:t>(</a:t>
            </a:r>
            <a:r>
              <a:rPr lang="el-G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:Xi)</a:t>
            </a:r>
            <a:r>
              <a:rPr lang="en-IN" sz="2400" dirty="0" smtClean="0"/>
              <a:t> </a:t>
            </a:r>
            <a:r>
              <a:rPr lang="en-US" altLang="zh-CN" sz="2400" b="1" dirty="0" smtClean="0"/>
              <a:t>variables</a:t>
            </a:r>
            <a:r>
              <a:rPr lang="en-US" altLang="zh-CN" sz="2400" b="1" dirty="0"/>
              <a:t>:</a:t>
            </a:r>
          </a:p>
          <a:p>
            <a:endParaRPr lang="en-US" altLang="zh-CN" sz="2400" b="1" dirty="0"/>
          </a:p>
          <a:p>
            <a:endParaRPr lang="en-US" altLang="zh-CN" dirty="0"/>
          </a:p>
          <a:p>
            <a:endParaRPr lang="en-US" altLang="zh-CN" sz="2800" dirty="0"/>
          </a:p>
          <a:p>
            <a:r>
              <a:rPr lang="en-US" altLang="zh-CN" sz="2400" b="1" dirty="0"/>
              <a:t>Parameter </a:t>
            </a:r>
            <a:r>
              <a:rPr lang="en-US" altLang="zh-CN" sz="2400" b="1" i="1" dirty="0"/>
              <a:t>C</a:t>
            </a:r>
            <a:r>
              <a:rPr lang="en-US" altLang="zh-CN" sz="2400" b="1" dirty="0"/>
              <a:t> can be viewed as a way to control </a:t>
            </a:r>
            <a:r>
              <a:rPr lang="en-US" altLang="zh-CN" sz="2400" b="1" dirty="0" err="1"/>
              <a:t>overfitting</a:t>
            </a:r>
            <a:r>
              <a:rPr lang="en-US" altLang="zh-CN" sz="2400" b="1" dirty="0"/>
              <a:t>.</a:t>
            </a:r>
          </a:p>
        </p:txBody>
      </p:sp>
      <p:sp>
        <p:nvSpPr>
          <p:cNvPr id="309254" name="Text Box 6"/>
          <p:cNvSpPr txBox="1">
            <a:spLocks noChangeArrowheads="1"/>
          </p:cNvSpPr>
          <p:nvPr/>
        </p:nvSpPr>
        <p:spPr bwMode="auto">
          <a:xfrm>
            <a:off x="990600" y="1600200"/>
            <a:ext cx="6438900" cy="10922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Times New Roman" panose="02020603050405020304" pitchFamily="18" charset="0"/>
              </a:rPr>
              <a:t>Find </a:t>
            </a:r>
            <a:r>
              <a:rPr lang="en-US" altLang="zh-CN" sz="2000" b="1">
                <a:latin typeface="Times New Roman" panose="02020603050405020304" pitchFamily="18" charset="0"/>
              </a:rPr>
              <a:t>w</a:t>
            </a:r>
            <a:r>
              <a:rPr lang="en-US" altLang="zh-CN" sz="2000">
                <a:latin typeface="Times New Roman" panose="02020603050405020304" pitchFamily="18" charset="0"/>
              </a:rPr>
              <a:t> and </a:t>
            </a:r>
            <a:r>
              <a:rPr lang="en-US" altLang="zh-CN" sz="2000" i="1">
                <a:latin typeface="Times New Roman" panose="02020603050405020304" pitchFamily="18" charset="0"/>
              </a:rPr>
              <a:t>b</a:t>
            </a:r>
            <a:r>
              <a:rPr lang="en-US" altLang="zh-CN" sz="2000">
                <a:latin typeface="Times New Roman" panose="02020603050405020304" pitchFamily="18" charset="0"/>
              </a:rPr>
              <a:t> such that</a:t>
            </a:r>
          </a:p>
          <a:p>
            <a:pPr algn="l"/>
            <a:r>
              <a:rPr lang="el-G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=½ </a:t>
            </a:r>
            <a:r>
              <a:rPr lang="en-US" altLang="zh-CN" sz="2000" b="1">
                <a:latin typeface="Times New Roman" panose="02020603050405020304" pitchFamily="18" charset="0"/>
              </a:rPr>
              <a:t>w</a:t>
            </a:r>
            <a:r>
              <a:rPr lang="en-US" altLang="zh-CN" sz="2000" baseline="30000">
                <a:latin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</a:rPr>
              <a:t>w</a:t>
            </a:r>
            <a:r>
              <a:rPr lang="en-US" altLang="zh-CN" sz="2000">
                <a:latin typeface="Times New Roman" panose="02020603050405020304" pitchFamily="18" charset="0"/>
              </a:rPr>
              <a:t>  is minimized and for all </a:t>
            </a:r>
            <a:r>
              <a:rPr lang="en-US" altLang="zh-CN" sz="2400">
                <a:latin typeface="Times New Roman" panose="02020603050405020304" pitchFamily="18" charset="0"/>
              </a:rPr>
              <a:t>{</a:t>
            </a:r>
            <a:r>
              <a:rPr lang="en-US" altLang="zh-CN" sz="2000">
                <a:latin typeface="Times New Roman" panose="02020603050405020304" pitchFamily="18" charset="0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)}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algn="l"/>
            <a:r>
              <a:rPr lang="en-US" altLang="zh-CN" sz="2000" i="1">
                <a:latin typeface="Times New Roman" panose="02020603050405020304" pitchFamily="18" charset="0"/>
              </a:rPr>
              <a:t>y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(</a:t>
            </a:r>
            <a:r>
              <a:rPr lang="en-US" altLang="zh-CN" sz="2000" b="1">
                <a:latin typeface="Times New Roman" panose="02020603050405020304" pitchFamily="18" charset="0"/>
              </a:rPr>
              <a:t>w</a:t>
            </a:r>
            <a:r>
              <a:rPr lang="en-US" altLang="zh-CN" sz="2000" b="1" baseline="30000">
                <a:latin typeface="Times New Roman" panose="02020603050405020304" pitchFamily="18" charset="0"/>
              </a:rPr>
              <a:t>T</a:t>
            </a:r>
            <a:r>
              <a:rPr lang="en-US" altLang="zh-CN" sz="2000" b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+ b)</a:t>
            </a:r>
            <a:r>
              <a:rPr lang="en-US" altLang="zh-CN" sz="2000" b="1"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9255" name="Text Box 7"/>
          <p:cNvSpPr txBox="1">
            <a:spLocks noChangeArrowheads="1"/>
          </p:cNvSpPr>
          <p:nvPr/>
        </p:nvSpPr>
        <p:spPr bwMode="auto">
          <a:xfrm>
            <a:off x="1066800" y="3784600"/>
            <a:ext cx="6858000" cy="10922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latin typeface="Times New Roman" panose="02020603050405020304" pitchFamily="18" charset="0"/>
              </a:rPr>
              <a:t>Find </a:t>
            </a:r>
            <a:r>
              <a:rPr lang="en-US" altLang="zh-CN" sz="2000" b="1" dirty="0">
                <a:latin typeface="Times New Roman" panose="02020603050405020304" pitchFamily="18" charset="0"/>
              </a:rPr>
              <a:t>w</a:t>
            </a:r>
            <a:r>
              <a:rPr lang="en-US" altLang="zh-CN" sz="2000" dirty="0">
                <a:latin typeface="Times New Roman" panose="02020603050405020304" pitchFamily="18" charset="0"/>
              </a:rPr>
              <a:t> and </a:t>
            </a:r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 such that</a:t>
            </a:r>
          </a:p>
          <a:p>
            <a:pPr algn="l"/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=½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w</a:t>
            </a:r>
            <a:r>
              <a:rPr lang="en-US" altLang="zh-CN" sz="2000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w</a:t>
            </a:r>
            <a:r>
              <a:rPr lang="en-US" altLang="zh-CN" sz="2000" dirty="0">
                <a:latin typeface="Times New Roman" panose="02020603050405020304" pitchFamily="18" charset="0"/>
              </a:rPr>
              <a:t> + 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l-GR" sz="2400" dirty="0">
                <a:latin typeface="Times New Roman" panose="02020603050405020304" pitchFamily="18" charset="0"/>
              </a:rPr>
              <a:t>Σ</a:t>
            </a:r>
            <a:r>
              <a:rPr lang="el-GR" sz="2000" i="1" dirty="0">
                <a:latin typeface="Times New Roman" panose="02020603050405020304" pitchFamily="18" charset="0"/>
              </a:rPr>
              <a:t>ξ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     is minimized and for all 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</a:rPr>
              <a:t>)}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algn="l"/>
            <a:r>
              <a:rPr lang="en-US" altLang="zh-CN" sz="2000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w</a:t>
            </a:r>
            <a:r>
              <a:rPr lang="en-US" altLang="zh-CN" sz="2000" b="1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+ </a:t>
            </a:r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  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for all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62" y="1428736"/>
            <a:ext cx="7286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kernel function transforms the data into a higher dimensional feature space to make it possible to perform the linear separation. See the image below -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85852" y="285728"/>
            <a:ext cx="39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What is Kernel?</a:t>
            </a:r>
            <a:endParaRPr lang="en-US" dirty="0"/>
          </a:p>
        </p:txBody>
      </p:sp>
      <p:pic>
        <p:nvPicPr>
          <p:cNvPr id="387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571744"/>
            <a:ext cx="8001056" cy="397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4" name="Rectangle 4"/>
          <p:cNvSpPr>
            <a:spLocks noChangeArrowheads="1"/>
          </p:cNvSpPr>
          <p:nvPr/>
        </p:nvSpPr>
        <p:spPr bwMode="auto">
          <a:xfrm>
            <a:off x="381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Non-linear SVMs:  Feature spaces</a:t>
            </a:r>
          </a:p>
        </p:txBody>
      </p:sp>
      <p:sp>
        <p:nvSpPr>
          <p:cNvPr id="312325" name="Rectangle 5"/>
          <p:cNvSpPr>
            <a:spLocks noChangeArrowheads="1"/>
          </p:cNvSpPr>
          <p:nvPr/>
        </p:nvSpPr>
        <p:spPr bwMode="auto">
          <a:xfrm>
            <a:off x="381000" y="10668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 smtClean="0"/>
              <a:t>General idea:   the original input space can always be mapped to some higher-dimensional feature space where the training set is separable:</a:t>
            </a:r>
            <a:endParaRPr lang="en-US" altLang="zh-CN" sz="2400" dirty="0"/>
          </a:p>
        </p:txBody>
      </p:sp>
      <p:sp>
        <p:nvSpPr>
          <p:cNvPr id="312326" name="Line 6"/>
          <p:cNvSpPr>
            <a:spLocks noChangeShapeType="1"/>
          </p:cNvSpPr>
          <p:nvPr/>
        </p:nvSpPr>
        <p:spPr bwMode="auto">
          <a:xfrm flipV="1">
            <a:off x="500034" y="2559050"/>
            <a:ext cx="0" cy="304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2327" name="Line 7"/>
          <p:cNvSpPr>
            <a:spLocks noChangeShapeType="1"/>
          </p:cNvSpPr>
          <p:nvPr/>
        </p:nvSpPr>
        <p:spPr bwMode="auto">
          <a:xfrm flipV="1">
            <a:off x="447675" y="5572140"/>
            <a:ext cx="3319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2328" name="AutoShape 8"/>
          <p:cNvSpPr>
            <a:spLocks noChangeArrowheads="1"/>
          </p:cNvSpPr>
          <p:nvPr/>
        </p:nvSpPr>
        <p:spPr bwMode="auto">
          <a:xfrm>
            <a:off x="2098675" y="339090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29" name="AutoShape 9"/>
          <p:cNvSpPr>
            <a:spLocks noChangeArrowheads="1"/>
          </p:cNvSpPr>
          <p:nvPr/>
        </p:nvSpPr>
        <p:spPr bwMode="auto">
          <a:xfrm>
            <a:off x="1524000" y="37480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0" name="AutoShape 10"/>
          <p:cNvSpPr>
            <a:spLocks noChangeArrowheads="1"/>
          </p:cNvSpPr>
          <p:nvPr/>
        </p:nvSpPr>
        <p:spPr bwMode="auto">
          <a:xfrm>
            <a:off x="1676400" y="42941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1" name="AutoShape 11"/>
          <p:cNvSpPr>
            <a:spLocks noChangeArrowheads="1"/>
          </p:cNvSpPr>
          <p:nvPr/>
        </p:nvSpPr>
        <p:spPr bwMode="auto">
          <a:xfrm>
            <a:off x="2209800" y="47704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2" name="AutoShape 12"/>
          <p:cNvSpPr>
            <a:spLocks noChangeArrowheads="1"/>
          </p:cNvSpPr>
          <p:nvPr/>
        </p:nvSpPr>
        <p:spPr bwMode="auto">
          <a:xfrm>
            <a:off x="1790700" y="34369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3" name="AutoShape 13"/>
          <p:cNvSpPr>
            <a:spLocks noChangeArrowheads="1"/>
          </p:cNvSpPr>
          <p:nvPr/>
        </p:nvSpPr>
        <p:spPr bwMode="auto">
          <a:xfrm>
            <a:off x="1295400" y="40655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4" name="AutoShape 14"/>
          <p:cNvSpPr>
            <a:spLocks noChangeArrowheads="1"/>
          </p:cNvSpPr>
          <p:nvPr/>
        </p:nvSpPr>
        <p:spPr bwMode="auto">
          <a:xfrm>
            <a:off x="1714500" y="48085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5" name="AutoShape 15"/>
          <p:cNvSpPr>
            <a:spLocks noChangeArrowheads="1"/>
          </p:cNvSpPr>
          <p:nvPr/>
        </p:nvSpPr>
        <p:spPr bwMode="auto">
          <a:xfrm>
            <a:off x="2209800" y="38369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6" name="AutoShape 16"/>
          <p:cNvSpPr>
            <a:spLocks noChangeArrowheads="1"/>
          </p:cNvSpPr>
          <p:nvPr/>
        </p:nvSpPr>
        <p:spPr bwMode="auto">
          <a:xfrm>
            <a:off x="3111500" y="38242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7" name="AutoShape 17"/>
          <p:cNvSpPr>
            <a:spLocks noChangeArrowheads="1"/>
          </p:cNvSpPr>
          <p:nvPr/>
        </p:nvSpPr>
        <p:spPr bwMode="auto">
          <a:xfrm>
            <a:off x="2971800" y="50371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8" name="AutoShape 18"/>
          <p:cNvSpPr>
            <a:spLocks noChangeArrowheads="1"/>
          </p:cNvSpPr>
          <p:nvPr/>
        </p:nvSpPr>
        <p:spPr bwMode="auto">
          <a:xfrm>
            <a:off x="723900" y="39512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39" name="AutoShape 19"/>
          <p:cNvSpPr>
            <a:spLocks noChangeArrowheads="1"/>
          </p:cNvSpPr>
          <p:nvPr/>
        </p:nvSpPr>
        <p:spPr bwMode="auto">
          <a:xfrm>
            <a:off x="2235200" y="54054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0" name="AutoShape 20"/>
          <p:cNvSpPr>
            <a:spLocks noChangeArrowheads="1"/>
          </p:cNvSpPr>
          <p:nvPr/>
        </p:nvSpPr>
        <p:spPr bwMode="auto">
          <a:xfrm>
            <a:off x="3200400" y="45608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1" name="AutoShape 21"/>
          <p:cNvSpPr>
            <a:spLocks noChangeArrowheads="1"/>
          </p:cNvSpPr>
          <p:nvPr/>
        </p:nvSpPr>
        <p:spPr bwMode="auto">
          <a:xfrm>
            <a:off x="1263650" y="51006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2" name="AutoShape 22"/>
          <p:cNvSpPr>
            <a:spLocks noChangeArrowheads="1"/>
          </p:cNvSpPr>
          <p:nvPr/>
        </p:nvSpPr>
        <p:spPr bwMode="auto">
          <a:xfrm>
            <a:off x="952500" y="46180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3" name="AutoShape 23"/>
          <p:cNvSpPr>
            <a:spLocks noChangeArrowheads="1"/>
          </p:cNvSpPr>
          <p:nvPr/>
        </p:nvSpPr>
        <p:spPr bwMode="auto">
          <a:xfrm>
            <a:off x="1009650" y="30940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4" name="AutoShape 24"/>
          <p:cNvSpPr>
            <a:spLocks noChangeArrowheads="1"/>
          </p:cNvSpPr>
          <p:nvPr/>
        </p:nvSpPr>
        <p:spPr bwMode="auto">
          <a:xfrm>
            <a:off x="2505075" y="422910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5" name="AutoShape 25"/>
          <p:cNvSpPr>
            <a:spLocks noChangeArrowheads="1"/>
          </p:cNvSpPr>
          <p:nvPr/>
        </p:nvSpPr>
        <p:spPr bwMode="auto">
          <a:xfrm>
            <a:off x="2124075" y="436245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6" name="AutoShape 26"/>
          <p:cNvSpPr>
            <a:spLocks noChangeArrowheads="1"/>
          </p:cNvSpPr>
          <p:nvPr/>
        </p:nvSpPr>
        <p:spPr bwMode="auto">
          <a:xfrm>
            <a:off x="2409825" y="3124200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7" name="Oval 27"/>
          <p:cNvSpPr>
            <a:spLocks noChangeArrowheads="1"/>
          </p:cNvSpPr>
          <p:nvPr/>
        </p:nvSpPr>
        <p:spPr bwMode="auto">
          <a:xfrm>
            <a:off x="1114425" y="3209925"/>
            <a:ext cx="1885950" cy="1905000"/>
          </a:xfrm>
          <a:prstGeom prst="ellipse">
            <a:avLst/>
          </a:prstGeom>
          <a:noFill/>
          <a:ln w="15875" algn="ctr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8" name="AutoShape 28"/>
          <p:cNvSpPr>
            <a:spLocks noChangeArrowheads="1"/>
          </p:cNvSpPr>
          <p:nvPr/>
        </p:nvSpPr>
        <p:spPr bwMode="auto">
          <a:xfrm>
            <a:off x="1162050" y="32464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49" name="AutoShape 29"/>
          <p:cNvSpPr>
            <a:spLocks noChangeArrowheads="1"/>
          </p:cNvSpPr>
          <p:nvPr/>
        </p:nvSpPr>
        <p:spPr bwMode="auto">
          <a:xfrm>
            <a:off x="3086100" y="32273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0" name="Line 30"/>
          <p:cNvSpPr>
            <a:spLocks noChangeShapeType="1"/>
          </p:cNvSpPr>
          <p:nvPr/>
        </p:nvSpPr>
        <p:spPr bwMode="auto">
          <a:xfrm flipH="1" flipV="1">
            <a:off x="6107113" y="2311400"/>
            <a:ext cx="0" cy="2070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2351" name="Line 31"/>
          <p:cNvSpPr>
            <a:spLocks noChangeShapeType="1"/>
          </p:cNvSpPr>
          <p:nvPr/>
        </p:nvSpPr>
        <p:spPr bwMode="auto">
          <a:xfrm>
            <a:off x="6076950" y="4398963"/>
            <a:ext cx="2347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2352" name="AutoShape 32"/>
          <p:cNvSpPr>
            <a:spLocks noChangeArrowheads="1"/>
          </p:cNvSpPr>
          <p:nvPr/>
        </p:nvSpPr>
        <p:spPr bwMode="auto">
          <a:xfrm>
            <a:off x="6375400" y="3762375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3" name="AutoShape 33"/>
          <p:cNvSpPr>
            <a:spLocks noChangeArrowheads="1"/>
          </p:cNvSpPr>
          <p:nvPr/>
        </p:nvSpPr>
        <p:spPr bwMode="auto">
          <a:xfrm>
            <a:off x="5800725" y="4119563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4" name="AutoShape 34"/>
          <p:cNvSpPr>
            <a:spLocks noChangeArrowheads="1"/>
          </p:cNvSpPr>
          <p:nvPr/>
        </p:nvSpPr>
        <p:spPr bwMode="auto">
          <a:xfrm>
            <a:off x="6181725" y="46751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5" name="AutoShape 35"/>
          <p:cNvSpPr>
            <a:spLocks noChangeArrowheads="1"/>
          </p:cNvSpPr>
          <p:nvPr/>
        </p:nvSpPr>
        <p:spPr bwMode="auto">
          <a:xfrm>
            <a:off x="7000875" y="46751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6" name="AutoShape 36"/>
          <p:cNvSpPr>
            <a:spLocks noChangeArrowheads="1"/>
          </p:cNvSpPr>
          <p:nvPr/>
        </p:nvSpPr>
        <p:spPr bwMode="auto">
          <a:xfrm>
            <a:off x="6067425" y="3808413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7" name="AutoShape 37"/>
          <p:cNvSpPr>
            <a:spLocks noChangeArrowheads="1"/>
          </p:cNvSpPr>
          <p:nvPr/>
        </p:nvSpPr>
        <p:spPr bwMode="auto">
          <a:xfrm>
            <a:off x="6276975" y="40846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8" name="AutoShape 38"/>
          <p:cNvSpPr>
            <a:spLocks noChangeArrowheads="1"/>
          </p:cNvSpPr>
          <p:nvPr/>
        </p:nvSpPr>
        <p:spPr bwMode="auto">
          <a:xfrm>
            <a:off x="6505575" y="471328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59" name="AutoShape 39"/>
          <p:cNvSpPr>
            <a:spLocks noChangeArrowheads="1"/>
          </p:cNvSpPr>
          <p:nvPr/>
        </p:nvSpPr>
        <p:spPr bwMode="auto">
          <a:xfrm>
            <a:off x="6486525" y="4208463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0" name="AutoShape 40"/>
          <p:cNvSpPr>
            <a:spLocks noChangeArrowheads="1"/>
          </p:cNvSpPr>
          <p:nvPr/>
        </p:nvSpPr>
        <p:spPr bwMode="auto">
          <a:xfrm>
            <a:off x="8093075" y="38433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1" name="AutoShape 41"/>
          <p:cNvSpPr>
            <a:spLocks noChangeArrowheads="1"/>
          </p:cNvSpPr>
          <p:nvPr/>
        </p:nvSpPr>
        <p:spPr bwMode="auto">
          <a:xfrm>
            <a:off x="7953375" y="50561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2" name="AutoShape 42"/>
          <p:cNvSpPr>
            <a:spLocks noChangeArrowheads="1"/>
          </p:cNvSpPr>
          <p:nvPr/>
        </p:nvSpPr>
        <p:spPr bwMode="auto">
          <a:xfrm>
            <a:off x="7477125" y="28082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3" name="AutoShape 43"/>
          <p:cNvSpPr>
            <a:spLocks noChangeArrowheads="1"/>
          </p:cNvSpPr>
          <p:nvPr/>
        </p:nvSpPr>
        <p:spPr bwMode="auto">
          <a:xfrm>
            <a:off x="7483475" y="40719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4" name="AutoShape 44"/>
          <p:cNvSpPr>
            <a:spLocks noChangeArrowheads="1"/>
          </p:cNvSpPr>
          <p:nvPr/>
        </p:nvSpPr>
        <p:spPr bwMode="auto">
          <a:xfrm>
            <a:off x="8181975" y="45799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5" name="AutoShape 45"/>
          <p:cNvSpPr>
            <a:spLocks noChangeArrowheads="1"/>
          </p:cNvSpPr>
          <p:nvPr/>
        </p:nvSpPr>
        <p:spPr bwMode="auto">
          <a:xfrm>
            <a:off x="7007225" y="35194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6" name="AutoShape 46"/>
          <p:cNvSpPr>
            <a:spLocks noChangeArrowheads="1"/>
          </p:cNvSpPr>
          <p:nvPr/>
        </p:nvSpPr>
        <p:spPr bwMode="auto">
          <a:xfrm>
            <a:off x="7610475" y="475138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7" name="AutoShape 47"/>
          <p:cNvSpPr>
            <a:spLocks noChangeArrowheads="1"/>
          </p:cNvSpPr>
          <p:nvPr/>
        </p:nvSpPr>
        <p:spPr bwMode="auto">
          <a:xfrm>
            <a:off x="7400925" y="30178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8" name="AutoShape 48"/>
          <p:cNvSpPr>
            <a:spLocks noChangeArrowheads="1"/>
          </p:cNvSpPr>
          <p:nvPr/>
        </p:nvSpPr>
        <p:spPr bwMode="auto">
          <a:xfrm>
            <a:off x="6010275" y="4524375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69" name="AutoShape 49"/>
          <p:cNvSpPr>
            <a:spLocks noChangeArrowheads="1"/>
          </p:cNvSpPr>
          <p:nvPr/>
        </p:nvSpPr>
        <p:spPr bwMode="auto">
          <a:xfrm>
            <a:off x="5629275" y="4657725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70" name="AutoShape 50"/>
          <p:cNvSpPr>
            <a:spLocks noChangeArrowheads="1"/>
          </p:cNvSpPr>
          <p:nvPr/>
        </p:nvSpPr>
        <p:spPr bwMode="auto">
          <a:xfrm>
            <a:off x="7391400" y="3143250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71" name="AutoShape 51"/>
          <p:cNvSpPr>
            <a:spLocks noChangeArrowheads="1"/>
          </p:cNvSpPr>
          <p:nvPr/>
        </p:nvSpPr>
        <p:spPr bwMode="auto">
          <a:xfrm>
            <a:off x="6943725" y="26749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72" name="AutoShape 52"/>
          <p:cNvSpPr>
            <a:spLocks noChangeArrowheads="1"/>
          </p:cNvSpPr>
          <p:nvPr/>
        </p:nvSpPr>
        <p:spPr bwMode="auto">
          <a:xfrm>
            <a:off x="8067675" y="32464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78" name="AutoShape 58"/>
          <p:cNvSpPr>
            <a:spLocks noChangeArrowheads="1"/>
          </p:cNvSpPr>
          <p:nvPr/>
        </p:nvSpPr>
        <p:spPr bwMode="auto">
          <a:xfrm>
            <a:off x="3581400" y="2362200"/>
            <a:ext cx="1638300" cy="457200"/>
          </a:xfrm>
          <a:prstGeom prst="curvedDownArrow">
            <a:avLst>
              <a:gd name="adj1" fmla="val 71667"/>
              <a:gd name="adj2" fmla="val 143333"/>
              <a:gd name="adj3" fmla="val 33333"/>
            </a:avLst>
          </a:prstGeom>
          <a:solidFill>
            <a:srgbClr val="008000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2379" name="Text Box 59"/>
          <p:cNvSpPr txBox="1">
            <a:spLocks noChangeArrowheads="1"/>
          </p:cNvSpPr>
          <p:nvPr/>
        </p:nvSpPr>
        <p:spPr bwMode="auto">
          <a:xfrm>
            <a:off x="3581400" y="3048000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2800" y="5791200"/>
            <a:ext cx="679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Can we make it leanly separable by adding an additional dimension….?????  (Hints: transform: x</a:t>
            </a:r>
            <a:r>
              <a:rPr lang="en-IN" baseline="-25000" dirty="0" smtClean="0"/>
              <a:t>1</a:t>
            </a:r>
            <a:r>
              <a:rPr lang="en-IN" dirty="0" smtClean="0"/>
              <a:t>-&gt;x</a:t>
            </a:r>
            <a:r>
              <a:rPr lang="en-IN" baseline="-25000" dirty="0" smtClean="0"/>
              <a:t>1</a:t>
            </a:r>
            <a:r>
              <a:rPr lang="en-IN" baseline="30000" dirty="0" smtClean="0"/>
              <a:t>2</a:t>
            </a:r>
            <a:r>
              <a:rPr lang="en-IN" dirty="0" smtClean="0"/>
              <a:t>-2ax</a:t>
            </a:r>
            <a:r>
              <a:rPr lang="en-IN" baseline="-25000" dirty="0" smtClean="0"/>
              <a:t>1</a:t>
            </a:r>
            <a:r>
              <a:rPr lang="en-IN" dirty="0" smtClean="0"/>
              <a:t>, x</a:t>
            </a:r>
            <a:r>
              <a:rPr lang="en-IN" baseline="-25000" dirty="0" smtClean="0"/>
              <a:t>2</a:t>
            </a:r>
            <a:r>
              <a:rPr lang="en-IN" dirty="0" smtClean="0"/>
              <a:t>-&gt;x</a:t>
            </a:r>
            <a:r>
              <a:rPr lang="en-IN" baseline="-25000" dirty="0" smtClean="0"/>
              <a:t>2</a:t>
            </a:r>
            <a:r>
              <a:rPr lang="en-IN" baseline="30000" dirty="0" smtClean="0"/>
              <a:t>2</a:t>
            </a:r>
            <a:r>
              <a:rPr lang="en-IN" dirty="0" smtClean="0"/>
              <a:t>-2ax</a:t>
            </a:r>
            <a:r>
              <a:rPr lang="en-IN" baseline="-25000" dirty="0" smtClean="0"/>
              <a:t>2</a:t>
            </a:r>
            <a:endParaRPr lang="en-IN" dirty="0"/>
          </a:p>
        </p:txBody>
      </p:sp>
      <p:sp>
        <p:nvSpPr>
          <p:cNvPr id="59" name="TextBox 58"/>
          <p:cNvSpPr txBox="1"/>
          <p:nvPr/>
        </p:nvSpPr>
        <p:spPr>
          <a:xfrm>
            <a:off x="1714480" y="3929066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</a:t>
            </a:r>
            <a:endParaRPr lang="en-US" dirty="0"/>
          </a:p>
        </p:txBody>
      </p:sp>
      <p:cxnSp>
        <p:nvCxnSpPr>
          <p:cNvPr id="60" name="Straight Connector 59"/>
          <p:cNvCxnSpPr/>
          <p:nvPr/>
        </p:nvCxnSpPr>
        <p:spPr>
          <a:xfrm rot="16200000" flipH="1">
            <a:off x="5531648" y="3040856"/>
            <a:ext cx="2428894" cy="1776423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8" name="Rectangle 4"/>
          <p:cNvSpPr>
            <a:spLocks noChangeArrowheads="1"/>
          </p:cNvSpPr>
          <p:nvPr/>
        </p:nvSpPr>
        <p:spPr bwMode="auto">
          <a:xfrm>
            <a:off x="381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The </a:t>
            </a:r>
            <a:r>
              <a:rPr lang="en-US" altLang="zh-CN">
                <a:latin typeface="Times New Roman" panose="02020603050405020304" pitchFamily="18" charset="0"/>
              </a:rPr>
              <a:t>“</a:t>
            </a:r>
            <a:r>
              <a:rPr lang="en-US" altLang="zh-CN"/>
              <a:t>Kernel Trick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endParaRPr lang="en-US" altLang="zh-CN"/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304800" y="914400"/>
            <a:ext cx="8839200" cy="5514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</a:rPr>
              <a:t>The linear classifier relies on dot product between vectors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,x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)=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endParaRPr lang="en-US" altLang="zh-CN" sz="2000" b="1" baseline="-25000" dirty="0">
              <a:latin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</a:rPr>
              <a:t>If every data point is mapped into high-dimensional space via some transformation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x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(x), the dot product becomes: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,x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)=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</a:rPr>
              <a:t>(x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T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</a:rPr>
              <a:t>A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kernel function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some function that corresponds to an inner product in some expanded feature space.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</a:rPr>
              <a:t>Example: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2-dimensional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(polynomial) vectors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x=[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 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];  </a:t>
            </a:r>
            <a:r>
              <a:rPr lang="en-US" altLang="zh-CN" sz="2000" b="1" dirty="0">
                <a:latin typeface="Times New Roman" panose="02020603050405020304" pitchFamily="18" charset="0"/>
              </a:rPr>
              <a:t>let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,x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)=(1 +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Need to show that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,x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)=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</a:rPr>
              <a:t>(x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)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T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b="1" dirty="0">
                <a:latin typeface="Times New Roman" panose="02020603050405020304" pitchFamily="18" charset="0"/>
              </a:rPr>
              <a:t>):</a:t>
            </a: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	 </a:t>
            </a:r>
            <a:r>
              <a:rPr lang="en-US" altLang="zh-CN" sz="2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6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,x</a:t>
            </a:r>
            <a:r>
              <a:rPr lang="en-US" altLang="zh-CN" sz="2600" b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)=(1 + </a:t>
            </a:r>
            <a:r>
              <a:rPr lang="en-US" altLang="zh-CN" sz="2600" b="1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600" b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600" b="1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6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=(1 + x</a:t>
            </a:r>
            <a:r>
              <a:rPr lang="en-US" altLang="zh-CN" sz="2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i1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j1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+ x</a:t>
            </a:r>
            <a:r>
              <a:rPr lang="en-US" altLang="zh-CN" sz="2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i2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)</a:t>
            </a:r>
            <a:r>
              <a:rPr lang="en-US" altLang="zh-CN" sz="26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6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,,</a:t>
            </a:r>
            <a:endParaRPr lang="en-US" altLang="zh-CN" sz="26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b="1" baseline="-25000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= 1+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+ </a:t>
            </a:r>
            <a:r>
              <a:rPr lang="en-US" altLang="zh-CN" sz="2200" b="1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+ 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dirty="0">
                <a:latin typeface="Times New Roman" panose="02020603050405020304" pitchFamily="18" charset="0"/>
              </a:rPr>
              <a:t>+ 2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+ 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</a:t>
            </a:r>
            <a:endParaRPr lang="en-US" altLang="zh-CN" sz="2200" b="1" i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	      = </a:t>
            </a:r>
            <a:r>
              <a:rPr lang="en-US" altLang="zh-CN" sz="2200" b="1" dirty="0">
                <a:latin typeface="Times New Roman" panose="02020603050405020304" pitchFamily="18" charset="0"/>
              </a:rPr>
              <a:t>[1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i1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i2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  <a:r>
              <a:rPr lang="en-US" altLang="zh-CN" sz="2200" b="1" baseline="30000" dirty="0">
                <a:latin typeface="Times New Roman" panose="02020603050405020304" pitchFamily="18" charset="0"/>
              </a:rPr>
              <a:t>T </a:t>
            </a:r>
            <a:r>
              <a:rPr lang="en-US" altLang="zh-CN" sz="2200" b="1" dirty="0">
                <a:latin typeface="Times New Roman" panose="02020603050405020304" pitchFamily="18" charset="0"/>
              </a:rPr>
              <a:t>[1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j1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j2</a:t>
            </a:r>
            <a:r>
              <a:rPr lang="en-US" altLang="zh-CN" sz="2200" b="1" dirty="0">
                <a:latin typeface="Times New Roman" panose="02020603050405020304" pitchFamily="18" charset="0"/>
              </a:rPr>
              <a:t>]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</a:rPr>
              <a:t>	      = </a:t>
            </a:r>
            <a:r>
              <a:rPr lang="el-G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200" b="1" dirty="0">
                <a:latin typeface="Times New Roman" panose="02020603050405020304" pitchFamily="18" charset="0"/>
              </a:rPr>
              <a:t>(x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200" b="1" baseline="30000" dirty="0">
                <a:latin typeface="Times New Roman" panose="02020603050405020304" pitchFamily="18" charset="0"/>
              </a:rPr>
              <a:t>T</a:t>
            </a:r>
            <a:r>
              <a:rPr lang="el-G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200" b="1" dirty="0">
                <a:latin typeface="Times New Roman" panose="02020603050405020304" pitchFamily="18" charset="0"/>
              </a:rPr>
              <a:t>),    where </a:t>
            </a:r>
            <a:r>
              <a:rPr lang="el-G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200" b="1" dirty="0">
                <a:latin typeface="Times New Roman" panose="02020603050405020304" pitchFamily="18" charset="0"/>
              </a:rPr>
              <a:t>(x) = 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[1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2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baseline="30000" dirty="0">
                <a:latin typeface="Times New Roman" panose="02020603050405020304" pitchFamily="18" charset="0"/>
              </a:rPr>
              <a:t>2 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1 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200" b="1" dirty="0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</a:rPr>
              <a:t>]</a:t>
            </a:r>
          </a:p>
          <a:p>
            <a:pPr>
              <a:buFont typeface="Wingdings" panose="05000000000000000000" pitchFamily="2" charset="2"/>
              <a:buNone/>
            </a:pPr>
            <a:endParaRPr lang="el-GR" sz="2000" b="1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4" y="6215082"/>
            <a:ext cx="2071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There are two types of x (</a:t>
            </a:r>
            <a:r>
              <a:rPr lang="en-US" altLang="zh-CN" b="1" dirty="0" err="1" smtClean="0">
                <a:latin typeface="Times New Roman" panose="02020603050405020304" pitchFamily="18" charset="0"/>
              </a:rPr>
              <a:t>x,</a:t>
            </a:r>
            <a:r>
              <a:rPr lang="en-US" altLang="zh-CN" b="1" i="1" dirty="0" err="1" smtClean="0">
                <a:latin typeface="Times New Roman" panose="02020603050405020304" pitchFamily="18" charset="0"/>
              </a:rPr>
              <a:t>x</a:t>
            </a:r>
            <a:r>
              <a:rPr lang="en-US" altLang="zh-CN" b="1" i="1" dirty="0" smtClean="0">
                <a:latin typeface="Times New Roman" panose="02020603050405020304" pitchFamily="18" charset="0"/>
              </a:rPr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304800" y="2286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Examples of Kernel Functions</a:t>
            </a:r>
          </a:p>
        </p:txBody>
      </p:sp>
      <p:sp>
        <p:nvSpPr>
          <p:cNvPr id="315397" name="Rectangle 5"/>
          <p:cNvSpPr>
            <a:spLocks noChangeArrowheads="1"/>
          </p:cNvSpPr>
          <p:nvPr/>
        </p:nvSpPr>
        <p:spPr bwMode="auto">
          <a:xfrm>
            <a:off x="381000" y="12192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Linear: </a:t>
            </a:r>
            <a:r>
              <a:rPr lang="en-US" altLang="zh-CN" sz="2800" i="1"/>
              <a:t>K</a:t>
            </a:r>
            <a:r>
              <a:rPr lang="en-US" altLang="zh-CN" sz="2800"/>
              <a:t>(</a:t>
            </a:r>
            <a:r>
              <a:rPr lang="en-US" altLang="zh-CN" sz="2800" b="1"/>
              <a:t>x</a:t>
            </a:r>
            <a:r>
              <a:rPr lang="en-US" altLang="zh-CN" sz="2800" b="1" baseline="-25000"/>
              <a:t>i</a:t>
            </a:r>
            <a:r>
              <a:rPr lang="en-US" altLang="zh-CN" sz="2800"/>
              <a:t>,</a:t>
            </a:r>
            <a:r>
              <a:rPr lang="en-US" altLang="zh-CN" sz="2800" b="1"/>
              <a:t>x</a:t>
            </a:r>
            <a:r>
              <a:rPr lang="en-US" altLang="zh-CN" sz="2800" b="1" baseline="-25000"/>
              <a:t>j</a:t>
            </a:r>
            <a:r>
              <a:rPr lang="en-US" altLang="zh-CN" sz="2800"/>
              <a:t>)= </a:t>
            </a:r>
            <a:r>
              <a:rPr lang="en-US" altLang="zh-CN" sz="2800" b="1"/>
              <a:t>x</a:t>
            </a:r>
            <a:r>
              <a:rPr lang="en-US" altLang="zh-CN" sz="2800" b="1" baseline="-25000"/>
              <a:t>i </a:t>
            </a:r>
            <a:r>
              <a:rPr lang="en-US" altLang="zh-CN" sz="2800" b="1" baseline="30000"/>
              <a:t>T</a:t>
            </a:r>
            <a:r>
              <a:rPr lang="en-US" altLang="zh-CN" sz="2800" b="1"/>
              <a:t>x</a:t>
            </a:r>
            <a:r>
              <a:rPr lang="en-US" altLang="zh-CN" sz="2800" b="1" baseline="-25000"/>
              <a:t>j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400"/>
              <a:t>Polynomial of power </a:t>
            </a:r>
            <a:r>
              <a:rPr lang="en-US" altLang="zh-CN" sz="2400" i="1"/>
              <a:t>p</a:t>
            </a:r>
            <a:r>
              <a:rPr lang="en-US" altLang="zh-CN" sz="2400"/>
              <a:t>: </a:t>
            </a:r>
            <a:r>
              <a:rPr lang="en-US" altLang="zh-CN" sz="2400" i="1"/>
              <a:t>K</a:t>
            </a:r>
            <a:r>
              <a:rPr lang="en-US" altLang="zh-CN" sz="2400"/>
              <a:t>(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i</a:t>
            </a:r>
            <a:r>
              <a:rPr lang="en-US" altLang="zh-CN" sz="2400"/>
              <a:t>,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j</a:t>
            </a:r>
            <a:r>
              <a:rPr lang="en-US" altLang="zh-CN" sz="2400"/>
              <a:t>)= (1+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i </a:t>
            </a:r>
            <a:r>
              <a:rPr lang="en-US" altLang="zh-CN" sz="2400" b="1" baseline="30000"/>
              <a:t>T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j</a:t>
            </a:r>
            <a:r>
              <a:rPr lang="en-US" altLang="zh-CN" sz="2400"/>
              <a:t>)</a:t>
            </a:r>
            <a:r>
              <a:rPr lang="en-US" altLang="zh-CN" sz="2400" i="1" baseline="30000"/>
              <a:t>p</a:t>
            </a:r>
          </a:p>
          <a:p>
            <a:endParaRPr lang="en-US" altLang="zh-CN" sz="2400"/>
          </a:p>
          <a:p>
            <a:r>
              <a:rPr lang="en-US" altLang="zh-CN" sz="2400"/>
              <a:t>Gaussian (radial-basis function network):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  <a:p>
            <a:endParaRPr lang="en-US" altLang="zh-CN"/>
          </a:p>
          <a:p>
            <a:endParaRPr lang="en-US" altLang="zh-CN" sz="2400"/>
          </a:p>
          <a:p>
            <a:r>
              <a:rPr lang="en-US" altLang="zh-CN" sz="2400"/>
              <a:t>Sigmoid: </a:t>
            </a:r>
            <a:r>
              <a:rPr lang="en-US" altLang="zh-CN" sz="2400" i="1"/>
              <a:t>K</a:t>
            </a:r>
            <a:r>
              <a:rPr lang="en-US" altLang="zh-CN" sz="2400"/>
              <a:t>(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i</a:t>
            </a:r>
            <a:r>
              <a:rPr lang="en-US" altLang="zh-CN" sz="2400"/>
              <a:t>,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j</a:t>
            </a:r>
            <a:r>
              <a:rPr lang="en-US" altLang="zh-CN" sz="2400"/>
              <a:t>)= tanh(</a:t>
            </a:r>
            <a:r>
              <a:rPr lang="el-GR" sz="2400">
                <a:cs typeface="Times New Roman" panose="02020603050405020304" pitchFamily="18" charset="0"/>
              </a:rPr>
              <a:t>β</a:t>
            </a:r>
            <a:r>
              <a:rPr lang="en-US" altLang="zh-CN" sz="2400" baseline="-25000">
                <a:cs typeface="Times New Roman" panose="02020603050405020304" pitchFamily="18" charset="0"/>
              </a:rPr>
              <a:t>0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i </a:t>
            </a:r>
            <a:r>
              <a:rPr lang="en-US" altLang="zh-CN" sz="2400" b="1" baseline="30000"/>
              <a:t>T</a:t>
            </a:r>
            <a:r>
              <a:rPr lang="en-US" altLang="zh-CN" sz="2400" b="1"/>
              <a:t>x</a:t>
            </a:r>
            <a:r>
              <a:rPr lang="en-US" altLang="zh-CN" sz="2400" b="1" baseline="-25000"/>
              <a:t>j </a:t>
            </a:r>
            <a:r>
              <a:rPr lang="en-US" altLang="zh-CN" sz="2400"/>
              <a:t>+ </a:t>
            </a:r>
            <a:r>
              <a:rPr lang="el-GR" sz="2400">
                <a:cs typeface="Times New Roman" panose="02020603050405020304" pitchFamily="18" charset="0"/>
              </a:rPr>
              <a:t>β</a:t>
            </a:r>
            <a:r>
              <a:rPr lang="en-US" altLang="zh-CN" sz="2400" baseline="-25000">
                <a:cs typeface="Times New Roman" panose="02020603050405020304" pitchFamily="18" charset="0"/>
              </a:rPr>
              <a:t>1</a:t>
            </a:r>
            <a:r>
              <a:rPr lang="en-US" altLang="zh-CN" sz="2400">
                <a:cs typeface="Times New Roman" panose="02020603050405020304" pitchFamily="18" charset="0"/>
              </a:rPr>
              <a:t>)</a:t>
            </a:r>
            <a:endParaRPr lang="en-US" altLang="zh-CN" sz="2400" i="1" baseline="30000"/>
          </a:p>
        </p:txBody>
      </p:sp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1752600" y="3505200"/>
          <a:ext cx="3948113" cy="1095375"/>
        </p:xfrm>
        <a:graphic>
          <a:graphicData uri="http://schemas.openxmlformats.org/presentationml/2006/ole">
            <p:oleObj spid="_x0000_s315419" name="Microsoft Equation 3.0" r:id="rId4" imgW="1739900" imgH="482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381000" y="2286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Non-linear SVMs Mathematically</a:t>
            </a:r>
          </a:p>
        </p:txBody>
      </p:sp>
      <p:sp>
        <p:nvSpPr>
          <p:cNvPr id="316421" name="Rectangle 5"/>
          <p:cNvSpPr>
            <a:spLocks noChangeArrowheads="1"/>
          </p:cNvSpPr>
          <p:nvPr/>
        </p:nvSpPr>
        <p:spPr bwMode="auto">
          <a:xfrm>
            <a:off x="381000" y="1143000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 algn="l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 algn="l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 algn="l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 algn="l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</a:rPr>
              <a:t>Dual problem formulation:</a:t>
            </a: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en-US" altLang="zh-CN" sz="2400" b="1">
                <a:latin typeface="Times New Roman" panose="02020603050405020304" pitchFamily="18" charset="0"/>
              </a:rPr>
              <a:t>The solution is:</a:t>
            </a: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</a:endParaRPr>
          </a:p>
          <a:p>
            <a:r>
              <a:rPr lang="en-US" altLang="zh-CN" sz="2400" b="1">
                <a:latin typeface="Times New Roman" panose="02020603050405020304" pitchFamily="18" charset="0"/>
              </a:rPr>
              <a:t>Optimization techniques for finding 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 remain the same!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914400" y="1676400"/>
            <a:ext cx="7086600" cy="19431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>
                <a:latin typeface="Times New Roman" panose="02020603050405020304" pitchFamily="18" charset="0"/>
              </a:rPr>
              <a:t>Find 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such that</a:t>
            </a:r>
          </a:p>
          <a:p>
            <a:pPr algn="l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l-GR" sz="2400" b="1">
                <a:latin typeface="Times New Roman" panose="02020603050405020304" pitchFamily="18" charset="0"/>
              </a:rPr>
              <a:t>α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l-G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 ½</a:t>
            </a:r>
            <a:r>
              <a:rPr lang="el-GR" sz="2400" b="1">
                <a:latin typeface="Times New Roman" panose="02020603050405020304" pitchFamily="18" charset="0"/>
              </a:rPr>
              <a:t>ΣΣ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(x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</a:rPr>
              <a:t>) is maximized and </a:t>
            </a:r>
          </a:p>
          <a:p>
            <a:pPr algn="l"/>
            <a:r>
              <a:rPr lang="en-US" altLang="zh-CN" sz="2400" b="1">
                <a:latin typeface="Times New Roman" panose="02020603050405020304" pitchFamily="18" charset="0"/>
              </a:rPr>
              <a:t>(1)  </a:t>
            </a:r>
            <a:r>
              <a:rPr lang="el-GR" sz="2400" b="1">
                <a:latin typeface="Times New Roman" panose="02020603050405020304" pitchFamily="18" charset="0"/>
              </a:rPr>
              <a:t>Σ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algn="l"/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≥ 0 for all 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423" name="Text Box 7"/>
          <p:cNvSpPr txBox="1">
            <a:spLocks noChangeArrowheads="1"/>
          </p:cNvSpPr>
          <p:nvPr/>
        </p:nvSpPr>
        <p:spPr bwMode="auto">
          <a:xfrm>
            <a:off x="2286000" y="4495800"/>
            <a:ext cx="3276600" cy="482600"/>
          </a:xfrm>
          <a:prstGeom prst="rect">
            <a:avLst/>
          </a:prstGeom>
          <a:noFill/>
          <a:ln w="254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(x) = </a:t>
            </a:r>
            <a:r>
              <a:rPr lang="el-G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(x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</a:rPr>
              <a:t>)+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Properties of SVM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b="1" dirty="0"/>
              <a:t>Flexibility in choosing a similarity function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Sparseness of solution when dealing with large data sets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dirty="0"/>
              <a:t>    </a:t>
            </a:r>
            <a:r>
              <a:rPr lang="en-US" altLang="zh-CN" sz="2000" b="1" dirty="0"/>
              <a:t>- only support vectors are used to specify the separating </a:t>
            </a:r>
            <a:r>
              <a:rPr lang="en-US" altLang="zh-CN" sz="2000" b="1" dirty="0" smtClean="0"/>
              <a:t>hyper plane </a:t>
            </a:r>
            <a:endParaRPr lang="en-US" altLang="zh-CN" sz="2000" b="1" dirty="0"/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Ability to handle large feature spaces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</a:t>
            </a:r>
            <a:r>
              <a:rPr lang="en-US" altLang="zh-CN" sz="2000" b="1" dirty="0"/>
              <a:t>- complexity does not depend on the dimensionality of the feature space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 err="1"/>
              <a:t>Overfitting</a:t>
            </a:r>
            <a:r>
              <a:rPr lang="en-US" altLang="zh-CN" sz="2400" b="1" dirty="0"/>
              <a:t> can be controlled by soft margin approach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Nice math property: </a:t>
            </a:r>
            <a:r>
              <a:rPr lang="en-US" altLang="zh-CN" sz="2000" b="1" dirty="0"/>
              <a:t>a simple convex optimization problem which is guaranteed to converge to a single global </a:t>
            </a:r>
            <a:r>
              <a:rPr lang="en-US" altLang="zh-CN" sz="2000" b="1" dirty="0" smtClean="0"/>
              <a:t>solution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SVM Applications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/>
              <a:t>SVM has been used successfully in many real-world problems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   </a:t>
            </a:r>
            <a:r>
              <a:rPr lang="en-US" altLang="zh-CN" sz="2400" b="1"/>
              <a:t>- text (and hypertext) categorization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   - image classification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   - bioinformatics (Protein classification,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      Cancer classification)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   - hand-written character recognition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Weakness of SVM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400" b="1"/>
              <a:t>It is sensitive to noise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</a:t>
            </a:r>
            <a:r>
              <a:rPr lang="en-US" altLang="zh-CN" sz="2000" b="1"/>
              <a:t>- A relatively small number of mislabeled examples can dramatically decrease the performance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/>
          </a:p>
          <a:p>
            <a:pPr>
              <a:lnSpc>
                <a:spcPct val="80000"/>
              </a:lnSpc>
            </a:pPr>
            <a:r>
              <a:rPr lang="en-US" altLang="zh-CN" sz="2400" b="1"/>
              <a:t>It only considers two classes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   </a:t>
            </a:r>
            <a:r>
              <a:rPr lang="en-US" altLang="zh-CN" sz="2000" b="1"/>
              <a:t>- how to do multi-class classification with SVM?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- Answer: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1) with output arity m, learn m SVM’s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SVM 1 learns “Output==1” vs “Output != 1”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SVM 2 learns “Output==2” vs “Output != 2”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>
                <a:solidFill>
                  <a:schemeClr val="hlink"/>
                </a:solidFill>
              </a:rPr>
              <a:t>SVM m learns “Output==m” vs “Output != m”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2)To predict the output for a new input, just predict with each SVM and find out which one puts the prediction the furthest into the positive region.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8879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Application </a:t>
            </a:r>
            <a:r>
              <a:rPr lang="en-US" altLang="zh-CN" dirty="0" smtClean="0"/>
              <a:t>: </a:t>
            </a:r>
            <a:r>
              <a:rPr lang="en-US" altLang="zh-CN" dirty="0"/>
              <a:t>Text Categorization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Task: The classification of natural text (or hypertext) documents into a fixed number of predefined categories based on their content.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- email filtering, web searching, sorting documents by topic, etc..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A document can be assigned to more than one category, so this can be viewed as a series of binary classification problems, one for each category</a:t>
            </a:r>
          </a:p>
          <a:p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550863" y="304800"/>
            <a:ext cx="8593137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l" defTabSz="10080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algn="l" defTabSz="10080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defTabSz="10080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defTabSz="10080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defTabSz="10080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defTabSz="10080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defTabSz="10080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defTabSz="10080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defTabSz="1008063" fontAlgn="base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4200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en-GB" altLang="zh-CN"/>
              <a:t>Representation of Text</a:t>
            </a:r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381000" y="13716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77825" indent="-377825" algn="l" defTabSz="10080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9150" indent="-315913" algn="l" defTabSz="1008063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60475" indent="-252413" algn="l" defTabSz="1008063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63713" indent="-252413" algn="l" defTabSz="10080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68538" indent="-252413" algn="l" defTabSz="1008063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5738" indent="-252413" defTabSz="100806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82938" indent="-252413" defTabSz="100806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40138" indent="-252413" defTabSz="100806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97338" indent="-252413" defTabSz="100806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GB" altLang="zh-CN" sz="2400" dirty="0"/>
              <a:t>IR</a:t>
            </a:r>
            <a:r>
              <a:rPr lang="en-GB" altLang="zh-CN" sz="2400" dirty="0">
                <a:latin typeface="Tahoma" panose="020B0604030504040204" pitchFamily="34" charset="0"/>
              </a:rPr>
              <a:t>’</a:t>
            </a:r>
            <a:r>
              <a:rPr lang="en-GB" altLang="zh-CN" sz="2400" dirty="0"/>
              <a:t>s vector space model (aka bag-of-words representation)</a:t>
            </a:r>
          </a:p>
          <a:p>
            <a:r>
              <a:rPr lang="en-GB" altLang="zh-CN" sz="2400" dirty="0"/>
              <a:t>A doc is represented by a vector indexed by a pre-fixed set or dictionary of terms</a:t>
            </a:r>
          </a:p>
          <a:p>
            <a:r>
              <a:rPr lang="en-GB" altLang="zh-CN" sz="2400" dirty="0"/>
              <a:t>Values of an entry can be binary or weights</a:t>
            </a:r>
          </a:p>
          <a:p>
            <a:endParaRPr lang="en-GB" altLang="zh-CN" sz="2400" dirty="0"/>
          </a:p>
          <a:p>
            <a:endParaRPr lang="en-GB" altLang="zh-CN" sz="2400" dirty="0"/>
          </a:p>
          <a:p>
            <a:endParaRPr lang="en-GB" altLang="zh-CN" sz="2400" dirty="0"/>
          </a:p>
          <a:p>
            <a:r>
              <a:rPr lang="en-GB" altLang="zh-CN" sz="2400" dirty="0"/>
              <a:t>Normalization, stop words, word stems </a:t>
            </a:r>
          </a:p>
          <a:p>
            <a:r>
              <a:rPr lang="en-GB" altLang="zh-CN" sz="2400" dirty="0"/>
              <a:t>Doc x =&gt; </a:t>
            </a:r>
            <a:r>
              <a:rPr lang="en-US" altLang="zh-CN" sz="2400" b="1" dirty="0"/>
              <a:t>φ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 smtClean="0"/>
              <a:t>)</a:t>
            </a:r>
          </a:p>
          <a:p>
            <a:r>
              <a:rPr lang="en-US" altLang="zh-CN" sz="2400" b="1" dirty="0" smtClean="0"/>
              <a:t>The distance between two documents is φ(</a:t>
            </a:r>
            <a:r>
              <a:rPr lang="en-US" altLang="zh-CN" sz="2400" b="1" i="1" dirty="0" smtClean="0"/>
              <a:t>x</a:t>
            </a:r>
            <a:r>
              <a:rPr lang="en-US" altLang="zh-CN" sz="2400" b="1" dirty="0" smtClean="0"/>
              <a:t>)·φ(</a:t>
            </a:r>
            <a:r>
              <a:rPr lang="en-US" altLang="zh-CN" sz="2400" b="1" i="1" dirty="0" smtClean="0"/>
              <a:t>z)</a:t>
            </a:r>
            <a:r>
              <a:rPr lang="en-US" altLang="zh-CN" sz="2400" b="1" dirty="0" smtClean="0"/>
              <a:t>     </a:t>
            </a:r>
          </a:p>
          <a:p>
            <a:r>
              <a:rPr lang="en-US" altLang="zh-CN" sz="2400" b="1" i="1" dirty="0" smtClean="0"/>
              <a:t>K</a:t>
            </a:r>
            <a:r>
              <a:rPr lang="en-US" altLang="zh-CN" sz="2400" b="1" dirty="0" smtClean="0"/>
              <a:t>(</a:t>
            </a:r>
            <a:r>
              <a:rPr lang="en-US" altLang="zh-CN" sz="2400" b="1" i="1" dirty="0" err="1" smtClean="0"/>
              <a:t>x,z</a:t>
            </a:r>
            <a:r>
              <a:rPr lang="en-US" altLang="zh-CN" sz="2400" b="1" dirty="0" smtClean="0"/>
              <a:t>) = 〈φ(</a:t>
            </a:r>
            <a:r>
              <a:rPr lang="en-US" altLang="zh-CN" sz="2400" b="1" i="1" dirty="0" smtClean="0"/>
              <a:t>x</a:t>
            </a:r>
            <a:r>
              <a:rPr lang="en-US" altLang="zh-CN" sz="2400" b="1" dirty="0" smtClean="0"/>
              <a:t>)·φ(</a:t>
            </a:r>
            <a:r>
              <a:rPr lang="en-US" altLang="zh-CN" sz="2400" b="1" i="1" dirty="0" smtClean="0"/>
              <a:t>z</a:t>
            </a:r>
            <a:r>
              <a:rPr lang="en-US" altLang="zh-CN" sz="2400" b="1" dirty="0" smtClean="0"/>
              <a:t>) is a valid kernel, SVM can be used with </a:t>
            </a:r>
            <a:r>
              <a:rPr lang="en-US" altLang="zh-CN" sz="2400" b="1" i="1" dirty="0" smtClean="0"/>
              <a:t>K</a:t>
            </a:r>
            <a:r>
              <a:rPr lang="en-US" altLang="zh-CN" sz="2400" b="1" dirty="0" smtClean="0"/>
              <a:t>(</a:t>
            </a:r>
            <a:r>
              <a:rPr lang="en-US" altLang="zh-CN" sz="2400" b="1" i="1" dirty="0" err="1" smtClean="0"/>
              <a:t>x,z</a:t>
            </a:r>
            <a:r>
              <a:rPr lang="en-US" altLang="zh-CN" sz="2400" b="1" dirty="0" smtClean="0"/>
              <a:t>) for discrimination. </a:t>
            </a:r>
          </a:p>
          <a:p>
            <a:endParaRPr lang="en-GB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GB" altLang="zh-CN" dirty="0"/>
              <a:t>    </a:t>
            </a:r>
          </a:p>
        </p:txBody>
      </p:sp>
      <p:pic>
        <p:nvPicPr>
          <p:cNvPr id="355335" name="Picture 7" descr="figu151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29000"/>
            <a:ext cx="2667000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712788"/>
          </a:xfrm>
        </p:spPr>
        <p:txBody>
          <a:bodyPr/>
          <a:lstStyle/>
          <a:p>
            <a:r>
              <a:rPr lang="en-US" altLang="zh-CN" sz="3800"/>
              <a:t>Some Issues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b="1" dirty="0"/>
              <a:t>Choice of </a:t>
            </a:r>
            <a:r>
              <a:rPr lang="en-US" altLang="zh-CN" sz="2400" b="1" smtClean="0"/>
              <a:t>kernel </a:t>
            </a:r>
            <a:endParaRPr lang="en-US" altLang="zh-CN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- Gaussian or polynomial kernel is default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- if ineffective, more elaborate kernels are needed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- domain experts can give assistance in formulating appropriate similarity measures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/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Choice of kernel parameters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- e.g. </a:t>
            </a:r>
            <a:r>
              <a:rPr lang="en-CA" altLang="zh-CN" sz="2000" b="1" dirty="0"/>
              <a:t>σ in Gaussian kernel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- </a:t>
            </a:r>
            <a:r>
              <a:rPr lang="en-CA" altLang="zh-CN" sz="2000" b="1" dirty="0"/>
              <a:t>σ is the distance between closest points with different classifications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-</a:t>
            </a:r>
            <a:r>
              <a:rPr lang="en-CA" altLang="zh-CN" sz="2000" b="1" dirty="0"/>
              <a:t> In the absence of reliable criteria, applications rely on the use of a validation set or cross-validation to set such parameters.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CA" altLang="zh-CN" sz="2000" b="1" dirty="0"/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Optimization criterion</a:t>
            </a:r>
            <a:r>
              <a:rPr lang="en-US" altLang="zh-CN" sz="2100" dirty="0"/>
              <a:t> – Hard margin </a:t>
            </a:r>
            <a:r>
              <a:rPr lang="en-US" altLang="zh-CN" sz="2100" dirty="0" err="1"/>
              <a:t>v.s</a:t>
            </a:r>
            <a:r>
              <a:rPr lang="en-US" altLang="zh-CN" sz="2100" dirty="0"/>
              <a:t>. Soft margin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- a lengthy series of experiments in which various parameters are tested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Reference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b="1" dirty="0"/>
              <a:t>Support Vector Machine Classification of Microarray Gene Expression Data</a:t>
            </a:r>
            <a:r>
              <a:rPr lang="en-US" altLang="zh-CN" sz="2600" dirty="0"/>
              <a:t>, Michael P. S. Brown William Noble Grundy, David Lin, </a:t>
            </a:r>
            <a:r>
              <a:rPr lang="en-US" altLang="zh-CN" sz="2600" dirty="0" err="1"/>
              <a:t>Nello</a:t>
            </a:r>
            <a:r>
              <a:rPr lang="en-US" altLang="zh-CN" sz="2600" dirty="0"/>
              <a:t> </a:t>
            </a:r>
            <a:r>
              <a:rPr lang="en-US" altLang="zh-CN" sz="2600" dirty="0" err="1"/>
              <a:t>Cristianini</a:t>
            </a:r>
            <a:r>
              <a:rPr lang="en-US" altLang="zh-CN" sz="2600" dirty="0"/>
              <a:t>, Charles </a:t>
            </a:r>
            <a:r>
              <a:rPr lang="en-US" altLang="zh-CN" sz="2600" dirty="0" err="1"/>
              <a:t>Sugnet</a:t>
            </a:r>
            <a:r>
              <a:rPr lang="en-US" altLang="zh-CN" sz="2600" dirty="0"/>
              <a:t>, Manuel Ares, Jr., David Haussler </a:t>
            </a:r>
          </a:p>
          <a:p>
            <a:r>
              <a:rPr lang="en-US" altLang="zh-CN" sz="2600" dirty="0"/>
              <a:t>www.cs.utexas.edu/users/mooney/cs391L/svm.</a:t>
            </a:r>
            <a:r>
              <a:rPr lang="en-US" altLang="zh-CN" sz="2600" b="1" dirty="0"/>
              <a:t>ppt</a:t>
            </a:r>
            <a:r>
              <a:rPr lang="en-US" altLang="zh-CN" sz="2600" dirty="0"/>
              <a:t> </a:t>
            </a:r>
          </a:p>
          <a:p>
            <a:r>
              <a:rPr lang="en-US" altLang="zh-CN" sz="2600" b="1" dirty="0"/>
              <a:t>Text categorization with Support Vector Machines:</a:t>
            </a:r>
            <a:br>
              <a:rPr lang="en-US" altLang="zh-CN" sz="2600" b="1" dirty="0"/>
            </a:br>
            <a:r>
              <a:rPr lang="en-US" altLang="zh-CN" sz="2600" b="1" dirty="0"/>
              <a:t>learning with many relevant features</a:t>
            </a:r>
            <a:r>
              <a:rPr lang="en-US" altLang="zh-CN" sz="2600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    </a:t>
            </a:r>
            <a:r>
              <a:rPr lang="en-US" altLang="zh-CN" sz="2400" dirty="0"/>
              <a:t>T. </a:t>
            </a:r>
            <a:r>
              <a:rPr lang="en-US" altLang="zh-CN" sz="2400" dirty="0" err="1"/>
              <a:t>Joachims</a:t>
            </a:r>
            <a:r>
              <a:rPr lang="en-US" altLang="zh-CN" sz="2400" dirty="0"/>
              <a:t>, ECML - 98 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>
                <a:latin typeface="Comic Sans MS" panose="030F0702030302020204" pitchFamily="66" charset="0"/>
                <a:hlinkClick r:id="rId2"/>
              </a:rPr>
              <a:t>http://www.kernel-machines.org/</a:t>
            </a:r>
            <a:endParaRPr lang="en-US" altLang="zh-CN" sz="2400" dirty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2009745"/>
            <a:ext cx="59398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kumimoji="0" 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≥ 1 be a real number. The   -norm  of vectors    is </a:t>
            </a:r>
          </a:p>
        </p:txBody>
      </p:sp>
      <p:sp>
        <p:nvSpPr>
          <p:cNvPr id="4" name="AutoShape 2" descr="p"/>
          <p:cNvSpPr>
            <a:spLocks noChangeAspect="1" noChangeArrowheads="1"/>
          </p:cNvSpPr>
          <p:nvPr/>
        </p:nvSpPr>
        <p:spPr bwMode="auto">
          <a:xfrm>
            <a:off x="34178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3" descr="{\displaystyle \ell _{p}}"/>
          <p:cNvSpPr>
            <a:spLocks noChangeAspect="1" noChangeArrowheads="1"/>
          </p:cNvSpPr>
          <p:nvPr/>
        </p:nvSpPr>
        <p:spPr bwMode="auto">
          <a:xfrm>
            <a:off x="54292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{\displaystyle \mathbf {x} =(x_{1},\ldots ,x_{n})}"/>
          <p:cNvSpPr>
            <a:spLocks noChangeAspect="1" noChangeArrowheads="1"/>
          </p:cNvSpPr>
          <p:nvPr/>
        </p:nvSpPr>
        <p:spPr bwMode="auto">
          <a:xfrm>
            <a:off x="73517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609" y="2409855"/>
            <a:ext cx="3014662" cy="1079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87500" y="3569307"/>
            <a:ext cx="664209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 algn="l"/>
            <a:r>
              <a:rPr lang="en-IN" dirty="0" smtClean="0"/>
              <a:t>In Euclidian space , norm </a:t>
            </a:r>
            <a:r>
              <a:rPr lang="en-US" dirty="0"/>
              <a:t> </a:t>
            </a:r>
            <a:r>
              <a:rPr lang="en-US" dirty="0" smtClean="0"/>
              <a:t>|w|=||w||,  &amp;  ||</a:t>
            </a:r>
            <a:r>
              <a:rPr lang="en-US" b="1" dirty="0"/>
              <a:t>w</a:t>
            </a:r>
            <a:r>
              <a:rPr lang="en-US" dirty="0"/>
              <a:t>||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b="1" dirty="0" err="1" smtClean="0"/>
              <a:t>w</a:t>
            </a:r>
            <a:r>
              <a:rPr lang="en-US" baseline="30000" dirty="0" err="1" smtClean="0"/>
              <a:t>T</a:t>
            </a:r>
            <a:r>
              <a:rPr lang="en-US" b="1" dirty="0" err="1" smtClean="0"/>
              <a:t>w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533400" y="1043597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 smtClean="0"/>
              <a:t>A norm </a:t>
            </a:r>
            <a:r>
              <a:rPr lang="en-US" dirty="0"/>
              <a:t>is a function that assigns a strictly positive length or size to each vector in a vector space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228600" y="4187521"/>
            <a:ext cx="8762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 product (or tensor product 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⊗ v is equivalent to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(m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n) multiplication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provided that u is represented as a m × 1 column vector and v as a n × 1 column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698" y="5180930"/>
            <a:ext cx="872490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Inner product: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n, then one can take the matrix product the other way, yielding a scalar (or 1 × 1 matrix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⟨ u , v ⟩ = u 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standard inner product for Euclidean vector spaces, better known as the dot product. The inner product is the trace of the outer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1000"/>
            <a:ext cx="5827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relevant mathematical terminologies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58148" y="6286520"/>
            <a:ext cx="128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hlinkClick r:id="rId3" action="ppaction://hlinksldjump"/>
              </a:rPr>
              <a:t>Back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270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7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214290"/>
            <a:ext cx="8715404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20" y="6143644"/>
            <a:ext cx="871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IN" sz="22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sz="22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are slacks which make inequalities to equalities constraints. 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69986"/>
            <a:ext cx="7886700" cy="533084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 smtClean="0"/>
              <a:t>Primal: </a:t>
            </a:r>
          </a:p>
          <a:p>
            <a:pPr>
              <a:buNone/>
            </a:pPr>
            <a:r>
              <a:rPr lang="en-IN" b="1" dirty="0" err="1" smtClean="0"/>
              <a:t>Max:Z</a:t>
            </a:r>
            <a:r>
              <a:rPr lang="en-IN" b="1" dirty="0" smtClean="0"/>
              <a:t>= </a:t>
            </a:r>
            <a:r>
              <a:rPr lang="en-IN" dirty="0" smtClean="0"/>
              <a:t>12x</a:t>
            </a:r>
            <a:r>
              <a:rPr lang="en-IN" baseline="-25000" dirty="0" smtClean="0"/>
              <a:t>1</a:t>
            </a:r>
            <a:r>
              <a:rPr lang="en-IN" dirty="0" smtClean="0"/>
              <a:t>+8x</a:t>
            </a:r>
            <a:r>
              <a:rPr lang="en-IN" baseline="-25000" dirty="0" smtClean="0"/>
              <a:t>2</a:t>
            </a:r>
          </a:p>
          <a:p>
            <a:pPr>
              <a:buNone/>
            </a:pPr>
            <a:r>
              <a:rPr lang="en-IN" dirty="0" err="1" smtClean="0"/>
              <a:t>s.t</a:t>
            </a:r>
            <a:r>
              <a:rPr lang="en-IN" dirty="0" smtClean="0"/>
              <a:t>.    X</a:t>
            </a:r>
            <a:r>
              <a:rPr lang="en-IN" baseline="-25000" dirty="0" smtClean="0"/>
              <a:t>1</a:t>
            </a:r>
            <a:r>
              <a:rPr lang="en-IN" dirty="0" smtClean="0"/>
              <a:t>+2x</a:t>
            </a:r>
            <a:r>
              <a:rPr lang="en-IN" baseline="-25000" dirty="0" smtClean="0"/>
              <a:t>2</a:t>
            </a:r>
            <a:r>
              <a:rPr lang="en-IN" b="1" dirty="0" smtClean="0">
                <a:solidFill>
                  <a:srgbClr val="C00000"/>
                </a:solidFill>
              </a:rPr>
              <a:t>≤</a:t>
            </a:r>
            <a:r>
              <a:rPr lang="en-IN" dirty="0" smtClean="0"/>
              <a:t> 12</a:t>
            </a:r>
          </a:p>
          <a:p>
            <a:pPr>
              <a:buNone/>
            </a:pPr>
            <a:r>
              <a:rPr lang="en-IN" dirty="0" smtClean="0"/>
              <a:t>         3x</a:t>
            </a:r>
            <a:r>
              <a:rPr lang="en-IN" baseline="-25000" dirty="0" smtClean="0"/>
              <a:t>1</a:t>
            </a:r>
            <a:r>
              <a:rPr lang="en-IN" dirty="0" smtClean="0"/>
              <a:t>+4x</a:t>
            </a:r>
            <a:r>
              <a:rPr lang="en-IN" baseline="-25000" dirty="0" smtClean="0"/>
              <a:t>2</a:t>
            </a:r>
            <a:r>
              <a:rPr lang="en-IN" dirty="0" smtClean="0"/>
              <a:t> </a:t>
            </a:r>
            <a:r>
              <a:rPr lang="en-IN" b="1" dirty="0" smtClean="0">
                <a:solidFill>
                  <a:srgbClr val="C00000"/>
                </a:solidFill>
              </a:rPr>
              <a:t>≤ </a:t>
            </a:r>
            <a:r>
              <a:rPr lang="en-IN" dirty="0" smtClean="0"/>
              <a:t>24</a:t>
            </a:r>
          </a:p>
          <a:p>
            <a:pPr>
              <a:buNone/>
            </a:pPr>
            <a:r>
              <a:rPr lang="en-IN" dirty="0" smtClean="0"/>
              <a:t>         x</a:t>
            </a:r>
            <a:r>
              <a:rPr lang="en-IN" baseline="-25000" dirty="0" smtClean="0"/>
              <a:t>1</a:t>
            </a:r>
            <a:r>
              <a:rPr lang="en-IN" dirty="0" smtClean="0"/>
              <a:t>,x</a:t>
            </a:r>
            <a:r>
              <a:rPr lang="en-IN" baseline="-25000" dirty="0" smtClean="0"/>
              <a:t>2</a:t>
            </a:r>
            <a:r>
              <a:rPr lang="en-IN" dirty="0" smtClean="0"/>
              <a:t>≥0</a:t>
            </a:r>
          </a:p>
          <a:p>
            <a:pPr>
              <a:buNone/>
            </a:pPr>
            <a:r>
              <a:rPr lang="en-IN" b="1" dirty="0" smtClean="0"/>
              <a:t> </a:t>
            </a:r>
          </a:p>
          <a:p>
            <a:endParaRPr lang="en-IN" b="1" dirty="0" smtClean="0"/>
          </a:p>
          <a:p>
            <a:endParaRPr lang="en-IN" b="1" dirty="0" smtClean="0"/>
          </a:p>
          <a:p>
            <a:pPr>
              <a:buNone/>
            </a:pPr>
            <a:endParaRPr lang="en-IN" b="1" dirty="0" smtClean="0"/>
          </a:p>
          <a:p>
            <a:pPr>
              <a:buNone/>
            </a:pPr>
            <a:r>
              <a:rPr lang="en-IN" b="1" dirty="0" smtClean="0"/>
              <a:t>Min: Z=</a:t>
            </a:r>
            <a:r>
              <a:rPr lang="en-IN" dirty="0" smtClean="0"/>
              <a:t>12y</a:t>
            </a:r>
            <a:r>
              <a:rPr lang="en-IN" baseline="-25000" dirty="0" smtClean="0"/>
              <a:t>1</a:t>
            </a:r>
            <a:r>
              <a:rPr lang="en-IN" dirty="0" smtClean="0"/>
              <a:t>+24y</a:t>
            </a:r>
            <a:r>
              <a:rPr lang="en-IN" baseline="-25000" dirty="0" smtClean="0"/>
              <a:t>2</a:t>
            </a:r>
          </a:p>
          <a:p>
            <a:pPr>
              <a:buNone/>
            </a:pPr>
            <a:r>
              <a:rPr lang="en-IN" dirty="0" err="1" smtClean="0"/>
              <a:t>s.t</a:t>
            </a:r>
            <a:r>
              <a:rPr lang="en-IN" dirty="0" smtClean="0"/>
              <a:t>.    y</a:t>
            </a:r>
            <a:r>
              <a:rPr lang="en-IN" baseline="-25000" dirty="0" smtClean="0"/>
              <a:t>1</a:t>
            </a:r>
            <a:r>
              <a:rPr lang="en-IN" dirty="0" smtClean="0"/>
              <a:t>+3y</a:t>
            </a:r>
            <a:r>
              <a:rPr lang="en-IN" baseline="-25000" dirty="0" smtClean="0"/>
              <a:t>2</a:t>
            </a:r>
            <a:r>
              <a:rPr lang="en-IN" dirty="0" smtClean="0"/>
              <a:t> </a:t>
            </a:r>
            <a:r>
              <a:rPr lang="en-IN" b="1" dirty="0" smtClean="0">
                <a:solidFill>
                  <a:srgbClr val="C00000"/>
                </a:solidFill>
              </a:rPr>
              <a:t>≥ </a:t>
            </a:r>
            <a:r>
              <a:rPr lang="en-IN" dirty="0" smtClean="0"/>
              <a:t>12</a:t>
            </a:r>
          </a:p>
          <a:p>
            <a:pPr>
              <a:buNone/>
            </a:pPr>
            <a:r>
              <a:rPr lang="en-IN" dirty="0" smtClean="0"/>
              <a:t>         2y</a:t>
            </a:r>
            <a:r>
              <a:rPr lang="en-IN" baseline="-25000" dirty="0" smtClean="0"/>
              <a:t>1</a:t>
            </a:r>
            <a:r>
              <a:rPr lang="en-IN" dirty="0" smtClean="0"/>
              <a:t>+4y</a:t>
            </a:r>
            <a:r>
              <a:rPr lang="en-IN" baseline="-25000" dirty="0" smtClean="0"/>
              <a:t>2</a:t>
            </a:r>
            <a:r>
              <a:rPr lang="en-IN" b="1" dirty="0" smtClean="0">
                <a:solidFill>
                  <a:srgbClr val="C00000"/>
                </a:solidFill>
              </a:rPr>
              <a:t> ≥ </a:t>
            </a:r>
            <a:r>
              <a:rPr lang="en-IN" dirty="0" smtClean="0"/>
              <a:t>8</a:t>
            </a:r>
          </a:p>
          <a:p>
            <a:pPr>
              <a:buNone/>
            </a:pPr>
            <a:r>
              <a:rPr lang="en-IN" dirty="0" smtClean="0"/>
              <a:t>         y</a:t>
            </a:r>
            <a:r>
              <a:rPr lang="en-IN" baseline="-25000" dirty="0" smtClean="0"/>
              <a:t>1</a:t>
            </a:r>
            <a:r>
              <a:rPr lang="en-IN" dirty="0" smtClean="0"/>
              <a:t>,y</a:t>
            </a:r>
            <a:r>
              <a:rPr lang="en-IN" baseline="-25000" dirty="0" smtClean="0"/>
              <a:t>2</a:t>
            </a:r>
            <a:r>
              <a:rPr lang="en-IN" dirty="0" smtClean="0"/>
              <a:t>≥0</a:t>
            </a:r>
          </a:p>
          <a:p>
            <a:r>
              <a:rPr lang="en-IN" dirty="0" smtClean="0"/>
              <a:t>              </a:t>
            </a:r>
            <a:endParaRPr 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2717441" y="1008712"/>
            <a:ext cx="6140839" cy="2848918"/>
            <a:chOff x="2717441" y="1000902"/>
            <a:chExt cx="6140839" cy="2570974"/>
          </a:xfrm>
        </p:grpSpPr>
        <p:cxnSp>
          <p:nvCxnSpPr>
            <p:cNvPr id="9" name="Straight Connector 8"/>
            <p:cNvCxnSpPr/>
            <p:nvPr/>
          </p:nvCxnSpPr>
          <p:spPr>
            <a:xfrm rot="5400000">
              <a:off x="4929984" y="1928802"/>
              <a:ext cx="1856594" cy="794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857884" y="2857496"/>
              <a:ext cx="2714644" cy="158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5857884" y="2857496"/>
              <a:ext cx="2643206" cy="285752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IN" sz="1200" b="1" dirty="0" smtClean="0">
                  <a:solidFill>
                    <a:srgbClr val="C00000"/>
                  </a:solidFill>
                </a:rPr>
                <a:t>     2       4       6        8        10        12</a:t>
              </a:r>
              <a:endParaRPr lang="en-US" sz="1200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00694" y="1077618"/>
              <a:ext cx="500066" cy="1785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12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10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8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6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4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2</a:t>
              </a:r>
              <a:endParaRPr lang="en-US" sz="10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000628" y="1643050"/>
              <a:ext cx="3500462" cy="1428760"/>
            </a:xfrm>
            <a:prstGeom prst="line">
              <a:avLst/>
            </a:prstGeom>
            <a:ln w="28575" cmpd="sng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572000" y="1071546"/>
              <a:ext cx="3643338" cy="2500330"/>
            </a:xfrm>
            <a:prstGeom prst="line">
              <a:avLst/>
            </a:prstGeom>
            <a:ln w="28575" cmpd="sng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Triangle 27"/>
            <p:cNvSpPr/>
            <p:nvPr/>
          </p:nvSpPr>
          <p:spPr>
            <a:xfrm>
              <a:off x="5857884" y="2000240"/>
              <a:ext cx="1285884" cy="857256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Curved Right Arrow 28"/>
            <p:cNvSpPr/>
            <p:nvPr/>
          </p:nvSpPr>
          <p:spPr>
            <a:xfrm rot="3935596">
              <a:off x="6544003" y="1357650"/>
              <a:ext cx="551970" cy="1510413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29520" y="1928802"/>
              <a:ext cx="14287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 smtClean="0">
                  <a:solidFill>
                    <a:srgbClr val="C00000"/>
                  </a:solidFill>
                </a:rPr>
                <a:t>Feasible area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Right Arrow 32"/>
            <p:cNvSpPr/>
            <p:nvPr/>
          </p:nvSpPr>
          <p:spPr>
            <a:xfrm rot="19517916">
              <a:off x="2717441" y="1700788"/>
              <a:ext cx="2220831" cy="1600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Arrow 33"/>
            <p:cNvSpPr/>
            <p:nvPr/>
          </p:nvSpPr>
          <p:spPr>
            <a:xfrm rot="21259324">
              <a:off x="2757836" y="1816551"/>
              <a:ext cx="2464388" cy="17651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31175" y="3095333"/>
            <a:ext cx="3869321" cy="1283164"/>
            <a:chOff x="822525" y="2798530"/>
            <a:chExt cx="4035296" cy="1413802"/>
          </a:xfrm>
        </p:grpSpPr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909197" y="3087458"/>
            <a:ext cx="1641475" cy="1039813"/>
          </p:xfrm>
          <a:graphic>
            <a:graphicData uri="http://schemas.openxmlformats.org/presentationml/2006/ole">
              <p:oleObj spid="_x0000_s373762" name="Equation" r:id="rId3" imgW="825500" imgH="520700" progId="">
                <p:embed/>
              </p:oleObj>
            </a:graphicData>
          </a:graphic>
        </p:graphicFrame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>
              <a:off x="822525" y="2798530"/>
              <a:ext cx="1800226" cy="2889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fr-CA" altLang="fr-FR" sz="1800" dirty="0"/>
                <a:t>Primal </a:t>
              </a:r>
              <a:r>
                <a:rPr lang="fr-CA" altLang="fr-FR" sz="1800" dirty="0" err="1"/>
                <a:t>problem</a:t>
              </a:r>
              <a:endParaRPr lang="fr-CA" altLang="fr-FR" sz="1800" dirty="0"/>
            </a:p>
          </p:txBody>
        </p:sp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>
              <a:off x="3130621" y="2798531"/>
              <a:ext cx="1727200" cy="2889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fr-CA" altLang="fr-FR" sz="1800" dirty="0"/>
                <a:t>Dual </a:t>
              </a:r>
              <a:r>
                <a:rPr lang="fr-CA" altLang="fr-FR" sz="1800" dirty="0" err="1"/>
                <a:t>problem</a:t>
              </a:r>
              <a:endParaRPr lang="fr-CA" altLang="fr-FR" sz="1800" dirty="0"/>
            </a:p>
          </p:txBody>
        </p:sp>
        <p:graphicFrame>
          <p:nvGraphicFramePr>
            <p:cNvPr id="7" name="Object 34"/>
            <p:cNvGraphicFramePr>
              <a:graphicFrameLocks noChangeAspect="1"/>
            </p:cNvGraphicFramePr>
            <p:nvPr/>
          </p:nvGraphicFramePr>
          <p:xfrm>
            <a:off x="3218769" y="3166169"/>
            <a:ext cx="1554162" cy="1046163"/>
          </p:xfrm>
          <a:graphic>
            <a:graphicData uri="http://schemas.openxmlformats.org/presentationml/2006/ole">
              <p:oleObj spid="_x0000_s373763" name="Equation" r:id="rId4" imgW="799753" imgH="533169" progId="">
                <p:embed/>
              </p:oleObj>
            </a:graphicData>
          </a:graphic>
        </p:graphicFrame>
        <p:sp>
          <p:nvSpPr>
            <p:cNvPr id="35" name="Right Arrow 34"/>
            <p:cNvSpPr/>
            <p:nvPr/>
          </p:nvSpPr>
          <p:spPr>
            <a:xfrm>
              <a:off x="2500298" y="3429000"/>
              <a:ext cx="785818" cy="42862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Oval 65"/>
          <p:cNvSpPr/>
          <p:nvPr/>
        </p:nvSpPr>
        <p:spPr>
          <a:xfrm>
            <a:off x="7000892" y="2928934"/>
            <a:ext cx="285752" cy="2143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357686" y="3488296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Optimal sol: x1=8,x2=0,Z=96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857620" y="6357958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C00000"/>
                </a:solidFill>
              </a:rPr>
              <a:t>Optimal sol: x1=0,x2=4,Z=96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2609240" y="4000506"/>
            <a:ext cx="6034829" cy="2857494"/>
            <a:chOff x="2609240" y="4000506"/>
            <a:chExt cx="6034829" cy="2857494"/>
          </a:xfrm>
        </p:grpSpPr>
        <p:sp>
          <p:nvSpPr>
            <p:cNvPr id="42" name="TextBox 41"/>
            <p:cNvSpPr txBox="1"/>
            <p:nvPr/>
          </p:nvSpPr>
          <p:spPr>
            <a:xfrm>
              <a:off x="5500694" y="4022680"/>
              <a:ext cx="500066" cy="1978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12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10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8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6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4</a:t>
              </a:r>
            </a:p>
            <a:p>
              <a:pPr>
                <a:spcBef>
                  <a:spcPts val="0"/>
                </a:spcBef>
              </a:pPr>
              <a:endParaRPr lang="en-IN" sz="1000" b="1" dirty="0" smtClean="0">
                <a:solidFill>
                  <a:srgbClr val="C00000"/>
                </a:solidFill>
              </a:endParaRPr>
            </a:p>
            <a:p>
              <a:pPr>
                <a:spcBef>
                  <a:spcPts val="0"/>
                </a:spcBef>
              </a:pPr>
              <a:r>
                <a:rPr lang="en-IN" sz="1000" b="1" dirty="0" smtClean="0">
                  <a:solidFill>
                    <a:srgbClr val="C00000"/>
                  </a:solidFill>
                </a:rPr>
                <a:t>2</a:t>
              </a:r>
              <a:endParaRPr lang="en-US" sz="10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2609240" y="4000506"/>
              <a:ext cx="6034829" cy="2857494"/>
              <a:chOff x="2609240" y="4000506"/>
              <a:chExt cx="6034829" cy="2857494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5400000">
                <a:off x="4829627" y="5037365"/>
                <a:ext cx="2057308" cy="794"/>
              </a:xfrm>
              <a:prstGeom prst="line">
                <a:avLst/>
              </a:prstGeom>
              <a:ln w="28575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5857884" y="6066416"/>
                <a:ext cx="2714644" cy="1760"/>
              </a:xfrm>
              <a:prstGeom prst="line">
                <a:avLst/>
              </a:prstGeom>
              <a:ln w="28575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 40"/>
              <p:cNvSpPr/>
              <p:nvPr/>
            </p:nvSpPr>
            <p:spPr>
              <a:xfrm>
                <a:off x="5857884" y="6066416"/>
                <a:ext cx="2643206" cy="31664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IN" sz="1200" b="1" dirty="0" smtClean="0">
                    <a:solidFill>
                      <a:srgbClr val="C00000"/>
                    </a:solidFill>
                  </a:rPr>
                  <a:t>     2       4       6        8        10        12</a:t>
                </a:r>
                <a:endParaRPr lang="en-US" sz="1200" b="1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44" name="Straight Connector 43"/>
              <p:cNvCxnSpPr/>
              <p:nvPr/>
            </p:nvCxnSpPr>
            <p:spPr>
              <a:xfrm>
                <a:off x="4003325" y="4214818"/>
                <a:ext cx="3429024" cy="2643182"/>
              </a:xfrm>
              <a:prstGeom prst="line">
                <a:avLst/>
              </a:prstGeom>
              <a:ln w="28575" cmpd="sng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ight Arrow 47"/>
              <p:cNvSpPr/>
              <p:nvPr/>
            </p:nvSpPr>
            <p:spPr>
              <a:xfrm rot="19479424">
                <a:off x="2609240" y="4840197"/>
                <a:ext cx="1859478" cy="218316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ight Arrow 48"/>
              <p:cNvSpPr/>
              <p:nvPr/>
            </p:nvSpPr>
            <p:spPr>
              <a:xfrm rot="21161674">
                <a:off x="2793346" y="4981300"/>
                <a:ext cx="1955545" cy="19508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/>
              <p:cNvCxnSpPr>
                <a:endCxn id="41" idx="3"/>
              </p:cNvCxnSpPr>
              <p:nvPr/>
            </p:nvCxnSpPr>
            <p:spPr>
              <a:xfrm>
                <a:off x="4646267" y="4929198"/>
                <a:ext cx="3854823" cy="1295539"/>
              </a:xfrm>
              <a:prstGeom prst="line">
                <a:avLst/>
              </a:prstGeom>
              <a:ln w="28575" cmpd="sng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/>
              <p:cNvGrpSpPr/>
              <p:nvPr/>
            </p:nvGrpSpPr>
            <p:grpSpPr>
              <a:xfrm>
                <a:off x="5857884" y="4000506"/>
                <a:ext cx="2786185" cy="2029330"/>
                <a:chOff x="5857884" y="4000506"/>
                <a:chExt cx="2786185" cy="2029330"/>
              </a:xfrm>
            </p:grpSpPr>
            <p:sp>
              <p:nvSpPr>
                <p:cNvPr id="60" name="Rectangle 59"/>
                <p:cNvSpPr/>
                <p:nvPr/>
              </p:nvSpPr>
              <p:spPr>
                <a:xfrm rot="1153791">
                  <a:off x="6027259" y="4302444"/>
                  <a:ext cx="2312740" cy="142876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ight Triangle 62"/>
                <p:cNvSpPr/>
                <p:nvPr/>
              </p:nvSpPr>
              <p:spPr>
                <a:xfrm rot="15834761">
                  <a:off x="7589256" y="4975024"/>
                  <a:ext cx="1244369" cy="865256"/>
                </a:xfrm>
                <a:prstGeom prst="rtTriangl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ight Triangle 61"/>
                <p:cNvSpPr/>
                <p:nvPr/>
              </p:nvSpPr>
              <p:spPr>
                <a:xfrm rot="5400000">
                  <a:off x="5487003" y="4371387"/>
                  <a:ext cx="1285882" cy="544119"/>
                </a:xfrm>
                <a:prstGeom prst="rtTriangl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7" name="TextBox 46"/>
              <p:cNvSpPr txBox="1"/>
              <p:nvPr/>
            </p:nvSpPr>
            <p:spPr>
              <a:xfrm>
                <a:off x="6572264" y="4641621"/>
                <a:ext cx="1428760" cy="716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>
                    <a:solidFill>
                      <a:srgbClr val="C00000"/>
                    </a:solidFill>
                  </a:rPr>
                  <a:t>Feasible area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67" name="Oval 66"/>
          <p:cNvSpPr/>
          <p:nvPr/>
        </p:nvSpPr>
        <p:spPr>
          <a:xfrm>
            <a:off x="5786446" y="5214950"/>
            <a:ext cx="285752" cy="2143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3071802" y="285728"/>
            <a:ext cx="5143536" cy="500066"/>
            <a:chOff x="3071802" y="285728"/>
            <a:chExt cx="5143536" cy="500066"/>
          </a:xfrm>
        </p:grpSpPr>
        <p:sp>
          <p:nvSpPr>
            <p:cNvPr id="73" name="TextBox 72"/>
            <p:cNvSpPr txBox="1"/>
            <p:nvPr/>
          </p:nvSpPr>
          <p:spPr>
            <a:xfrm>
              <a:off x="3071802" y="357166"/>
              <a:ext cx="514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b="1" dirty="0" smtClean="0"/>
                <a:t>c=         , x=         ,  A=           , b=        ,  y=  </a:t>
              </a:r>
              <a:endParaRPr lang="en-US" b="1" dirty="0"/>
            </a:p>
          </p:txBody>
        </p:sp>
        <p:sp>
          <p:nvSpPr>
            <p:cNvPr id="74" name="Double Bracket 73"/>
            <p:cNvSpPr/>
            <p:nvPr/>
          </p:nvSpPr>
          <p:spPr>
            <a:xfrm>
              <a:off x="3428992" y="285728"/>
              <a:ext cx="500066" cy="50006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/>
                <a:t>12</a:t>
              </a:r>
            </a:p>
            <a:p>
              <a:pPr algn="ctr"/>
              <a:r>
                <a:rPr lang="en-IN" b="1" dirty="0" smtClean="0"/>
                <a:t>8</a:t>
              </a:r>
              <a:endParaRPr lang="en-US" b="1" dirty="0"/>
            </a:p>
          </p:txBody>
        </p:sp>
        <p:sp>
          <p:nvSpPr>
            <p:cNvPr id="75" name="Double Bracket 74"/>
            <p:cNvSpPr/>
            <p:nvPr/>
          </p:nvSpPr>
          <p:spPr>
            <a:xfrm>
              <a:off x="4572000" y="285728"/>
              <a:ext cx="500066" cy="50006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/>
                <a:t>x1</a:t>
              </a:r>
            </a:p>
            <a:p>
              <a:pPr algn="ctr"/>
              <a:r>
                <a:rPr lang="en-IN" b="1" dirty="0" smtClean="0"/>
                <a:t>x2</a:t>
              </a:r>
              <a:endParaRPr lang="en-US" b="1" dirty="0"/>
            </a:p>
          </p:txBody>
        </p:sp>
        <p:sp>
          <p:nvSpPr>
            <p:cNvPr id="76" name="Double Bracket 75"/>
            <p:cNvSpPr/>
            <p:nvPr/>
          </p:nvSpPr>
          <p:spPr>
            <a:xfrm>
              <a:off x="5429256" y="285728"/>
              <a:ext cx="642942" cy="50006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/>
                <a:t>1   2</a:t>
              </a:r>
            </a:p>
            <a:p>
              <a:pPr algn="ctr"/>
              <a:r>
                <a:rPr lang="en-IN" b="1" dirty="0" smtClean="0"/>
                <a:t>3   4   </a:t>
              </a:r>
              <a:endParaRPr lang="en-US" b="1" dirty="0"/>
            </a:p>
          </p:txBody>
        </p:sp>
        <p:sp>
          <p:nvSpPr>
            <p:cNvPr id="77" name="Double Bracket 76"/>
            <p:cNvSpPr/>
            <p:nvPr/>
          </p:nvSpPr>
          <p:spPr>
            <a:xfrm>
              <a:off x="6500826" y="285728"/>
              <a:ext cx="500066" cy="50006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/>
                <a:t>12</a:t>
              </a:r>
            </a:p>
            <a:p>
              <a:pPr algn="ctr"/>
              <a:r>
                <a:rPr lang="en-IN" b="1" dirty="0" smtClean="0"/>
                <a:t>24 </a:t>
              </a:r>
              <a:endParaRPr lang="en-US" b="1" dirty="0"/>
            </a:p>
          </p:txBody>
        </p:sp>
        <p:sp>
          <p:nvSpPr>
            <p:cNvPr id="78" name="Double Bracket 77"/>
            <p:cNvSpPr/>
            <p:nvPr/>
          </p:nvSpPr>
          <p:spPr>
            <a:xfrm>
              <a:off x="7500958" y="285728"/>
              <a:ext cx="500066" cy="50006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IN" b="1" dirty="0" smtClean="0"/>
                <a:t>y1</a:t>
              </a:r>
            </a:p>
            <a:p>
              <a:pPr algn="ctr"/>
              <a:r>
                <a:rPr lang="en-IN" b="1" dirty="0" smtClean="0"/>
                <a:t>y2</a:t>
              </a:r>
              <a:endParaRPr lang="en-US" b="1" dirty="0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286512" y="928670"/>
            <a:ext cx="257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latin typeface="Times New Roman" pitchFamily="18" charset="0"/>
                <a:cs typeface="Times New Roman" pitchFamily="18" charset="0"/>
              </a:rPr>
              <a:t>Family of lines: 12x</a:t>
            </a:r>
            <a:r>
              <a:rPr lang="en-IN" sz="12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1200" b="1" dirty="0" smtClean="0">
                <a:latin typeface="Times New Roman" pitchFamily="18" charset="0"/>
                <a:cs typeface="Times New Roman" pitchFamily="18" charset="0"/>
              </a:rPr>
              <a:t>+8x</a:t>
            </a:r>
            <a:r>
              <a:rPr lang="en-IN" sz="12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1200" b="1" dirty="0" smtClean="0">
                <a:latin typeface="Times New Roman" pitchFamily="18" charset="0"/>
                <a:cs typeface="Times New Roman" pitchFamily="18" charset="0"/>
              </a:rPr>
              <a:t>=k, let k=(24,48,72,96,120)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rot="16200000" flipH="1">
            <a:off x="5214942" y="2285993"/>
            <a:ext cx="1428760" cy="1000132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16200000" flipH="1">
            <a:off x="5143504" y="1785928"/>
            <a:ext cx="1928828" cy="135732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16200000" flipH="1">
            <a:off x="5179225" y="1607332"/>
            <a:ext cx="2286015" cy="1643072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rot="16200000" flipH="1">
            <a:off x="5326861" y="1326343"/>
            <a:ext cx="2428894" cy="1776423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rot="16200000" flipH="1">
            <a:off x="5479261" y="1040592"/>
            <a:ext cx="2428894" cy="1776423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/>
      <p:bldP spid="69" grpId="0"/>
      <p:bldP spid="67" grpId="0" animBg="1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Complementary Slackness theorem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8662" y="4071942"/>
            <a:ext cx="6215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>
                <a:solidFill>
                  <a:srgbClr val="C00000"/>
                </a:solidFill>
              </a:rPr>
              <a:t>Optimal sol: x1=8,x2=0,       </a:t>
            </a:r>
            <a:r>
              <a:rPr lang="en-IN" sz="2600" b="1" dirty="0" smtClean="0"/>
              <a:t>Z</a:t>
            </a:r>
            <a:r>
              <a:rPr lang="en-IN" sz="2200" b="1" dirty="0" smtClean="0"/>
              <a:t>=96</a:t>
            </a:r>
          </a:p>
          <a:p>
            <a:r>
              <a:rPr lang="en-IN" sz="2200" b="1" dirty="0" smtClean="0">
                <a:solidFill>
                  <a:srgbClr val="C00000"/>
                </a:solidFill>
              </a:rPr>
              <a:t>           </a:t>
            </a:r>
            <a:r>
              <a:rPr lang="en-IN" sz="2200" b="1" dirty="0" smtClean="0">
                <a:solidFill>
                  <a:srgbClr val="00B050"/>
                </a:solidFill>
              </a:rPr>
              <a:t>slacks:   s1=4,  s2=0</a:t>
            </a:r>
            <a:endParaRPr lang="en-US" sz="22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538" y="4929198"/>
            <a:ext cx="5857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>
                <a:solidFill>
                  <a:srgbClr val="C00000"/>
                </a:solidFill>
              </a:rPr>
              <a:t>Optimal sol: y1=0, y2=4,       </a:t>
            </a:r>
            <a:r>
              <a:rPr lang="en-IN" sz="2600" b="1" dirty="0" smtClean="0"/>
              <a:t>Z</a:t>
            </a:r>
            <a:r>
              <a:rPr lang="en-IN" sz="2200" b="1" dirty="0" smtClean="0"/>
              <a:t>=96</a:t>
            </a:r>
          </a:p>
          <a:p>
            <a:r>
              <a:rPr lang="en-IN" sz="2200" b="1" dirty="0" smtClean="0">
                <a:solidFill>
                  <a:srgbClr val="C00000"/>
                </a:solidFill>
              </a:rPr>
              <a:t>            </a:t>
            </a:r>
            <a:r>
              <a:rPr lang="en-IN" sz="2200" b="1" dirty="0" smtClean="0">
                <a:solidFill>
                  <a:srgbClr val="00B050"/>
                </a:solidFill>
              </a:rPr>
              <a:t>slacks:  e1=0, e2=-8</a:t>
            </a:r>
          </a:p>
          <a:p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20" y="1214422"/>
            <a:ext cx="8858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Let x=[x1,x2…….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xn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] be the feasible solution of the primal</a:t>
            </a:r>
          </a:p>
          <a:p>
            <a:pPr algn="l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Let y=[y1,y2…….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yn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] be the feasible solution of the dual</a:t>
            </a:r>
          </a:p>
          <a:p>
            <a:pPr algn="l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Then x is primal optimal and y is dual optimal 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iff</a:t>
            </a: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I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IN" sz="24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sz="24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 , for (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=1,2,…n), where n is # of variables in primal</a:t>
            </a:r>
          </a:p>
          <a:p>
            <a:pPr algn="l"/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sz="24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4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for (j=1,2…..m) where n is # of constraints in primal</a:t>
            </a:r>
          </a:p>
          <a:p>
            <a:pPr algn="l"/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06" y="3357562"/>
            <a:ext cx="87154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IN" sz="22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sz="2200" b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are slacks which make inequalities to equalities constraints.</a:t>
            </a:r>
          </a:p>
          <a:p>
            <a:pPr>
              <a:buFont typeface="Arial" pitchFamily="34" charset="0"/>
              <a:buChar char="•"/>
            </a:pPr>
            <a:r>
              <a:rPr lang="en-IN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Once x or y is on the constraints line, the corresponding slack is zero 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844" y="5786454"/>
            <a:ext cx="8215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Having optimal solution: 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sz="2200" b="1" i="1" baseline="30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2200" b="1" i="1" baseline="30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sz="2200" b="1" i="1" baseline="30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2200" b="1" i="1" baseline="30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sz="2200" b="1" i="1" baseline="-25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2200" b="1" i="1" baseline="-25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IN" sz="2200" b="1" i="1" baseline="-25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-b</a:t>
            </a:r>
            <a:r>
              <a:rPr lang="en-IN" sz="2200" b="1" i="1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)=0</a:t>
            </a:r>
            <a:endParaRPr lang="en-US" sz="22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86578" y="5286388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slack</a:t>
            </a:r>
            <a:endParaRPr lang="en-US" b="1" dirty="0"/>
          </a:p>
        </p:txBody>
      </p:sp>
      <p:sp>
        <p:nvSpPr>
          <p:cNvPr id="12" name="Down Arrow 11"/>
          <p:cNvSpPr/>
          <p:nvPr/>
        </p:nvSpPr>
        <p:spPr>
          <a:xfrm>
            <a:off x="6929454" y="5500702"/>
            <a:ext cx="214314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786710" y="6286520"/>
            <a:ext cx="128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  <a:hlinkClick r:id="rId2" action="ppaction://hlinksldjump"/>
              </a:rPr>
              <a:t>Back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7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885828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4787" name="Rectangle 3"/>
          <p:cNvSpPr>
            <a:spLocks noChangeArrowheads="1"/>
          </p:cNvSpPr>
          <p:nvPr/>
        </p:nvSpPr>
        <p:spPr bwMode="auto">
          <a:xfrm>
            <a:off x="71470" y="5864386"/>
            <a:ext cx="8786810" cy="70788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A symmetric function on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 variables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x1,x2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, ...,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xn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 is a function that is unchanged by any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Arial" pitchFamily="34" charset="0"/>
                <a:cs typeface="Arial" pitchFamily="34" charset="0"/>
                <a:hlinkClick r:id="rId3"/>
              </a:rPr>
              <a:t>permutation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 of its variables.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74788" name="Picture 4" descr="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-68263"/>
            <a:ext cx="66675" cy="133351"/>
          </a:xfrm>
          <a:prstGeom prst="rect">
            <a:avLst/>
          </a:prstGeom>
          <a:noFill/>
        </p:spPr>
      </p:pic>
      <p:pic>
        <p:nvPicPr>
          <p:cNvPr id="374789" name="Picture 5" descr="x_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46275" y="-68263"/>
            <a:ext cx="123825" cy="133351"/>
          </a:xfrm>
          <a:prstGeom prst="rect">
            <a:avLst/>
          </a:prstGeom>
          <a:noFill/>
        </p:spPr>
      </p:pic>
      <p:pic>
        <p:nvPicPr>
          <p:cNvPr id="374790" name="Picture 6" descr="x_n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22500" y="-68263"/>
            <a:ext cx="123825" cy="133351"/>
          </a:xfrm>
          <a:prstGeom prst="rect">
            <a:avLst/>
          </a:prstGeom>
          <a:noFill/>
        </p:spPr>
      </p:pic>
      <p:pic>
        <p:nvPicPr>
          <p:cNvPr id="37479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4282" y="3429000"/>
            <a:ext cx="842968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contour plot of the function z=f(</a:t>
            </a:r>
            <a:r>
              <a:rPr lang="en-US" dirty="0" err="1" smtClean="0"/>
              <a:t>x,y</a:t>
            </a:r>
            <a:r>
              <a:rPr lang="en-US" dirty="0" smtClean="0"/>
              <a:t>) consists of a family of curves f(</a:t>
            </a:r>
            <a:r>
              <a:rPr lang="en-US" dirty="0" err="1" smtClean="0"/>
              <a:t>x,y</a:t>
            </a:r>
            <a:r>
              <a:rPr lang="en-US" dirty="0" smtClean="0"/>
              <a:t>)=c (called level or contour curves) in the </a:t>
            </a:r>
            <a:r>
              <a:rPr lang="en-US" dirty="0" err="1" smtClean="0"/>
              <a:t>xy</a:t>
            </a:r>
            <a:r>
              <a:rPr lang="en-US" dirty="0" smtClean="0"/>
              <a:t> plane for various values of 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box{Minimize } \frac 12 ||\mathbf{w}||^2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61"/>
  <p:tag name="PICTUREFILESIZE" val="836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box{ subject to } &#10;1 - y_i ( \mathbf{w}^T \mathbf{x}_i + b) \leq 0&#10;\qquad \mbox{ for } i=1, \dots, 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ALLOWFONTSUBSTITUTION" val="False"/>
  <p:tag name="BITMAPFORMAT" val="pngmono"/>
  <p:tag name="ORIGWIDTH" val="495"/>
  <p:tag name="PICTUREFILESIZE" val="198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newcommand{\jw}{\mathbf{w}}&#10;\newcommand{\jx}{\mathbf{x}}&#10;\begin{align*}&#10;\jw + \sum_{i=1}^n \alpha_i (-y_i) \jx_i &amp;= \mathbf{0}&#10;\quad \Rightarrow &#10;\quad \jw = \sum_{i=1}^n \alpha_i y_i \jx_i&#10;\\&#10;\sum_{i=1}^n \alpha_i y_i &amp;= 0&#10;\end{align*}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ALLOWFONTSUBSTITUTION" val="False"/>
  <p:tag name="BITMAPFORMAT" val="pngmono"/>
  <p:tag name="ORIGWIDTH" val="437"/>
  <p:tag name="PICTUREFILESIZE" val="359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cal{L} = \frac 12 \mathbf{w}^T \mathbf{w} +&#10;\sum_{i=1}^n \alpha_i \left( 1 - y_i(\mathbf{w}^T \mathbf{x}_i + b )  \righ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ALLOWFONTSUBSTITUTION" val="False"/>
  <p:tag name="BITMAPFORMAT" val="pngmono"/>
  <p:tag name="ORIGWIDTH" val="374"/>
  <p:tag name="PICTUREFILESIZE" val="2279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9589</TotalTime>
  <Words>2250</Words>
  <Application>Microsoft Office PowerPoint</Application>
  <PresentationFormat>On-screen Show (4:3)</PresentationFormat>
  <Paragraphs>361</Paragraphs>
  <Slides>34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Custom Design</vt:lpstr>
      <vt:lpstr>Microsoft Equation 3.0</vt:lpstr>
      <vt:lpstr>Equation</vt:lpstr>
      <vt:lpstr>Support Vector Machine &amp; Its implementation with R</vt:lpstr>
      <vt:lpstr>Overview</vt:lpstr>
      <vt:lpstr> Introduction to Support Vector Machines (SVM) </vt:lpstr>
      <vt:lpstr>Slide 4</vt:lpstr>
      <vt:lpstr>Slide 5</vt:lpstr>
      <vt:lpstr>Slide 6</vt:lpstr>
      <vt:lpstr>Formulate Margin:  Distance between the two margin line</vt:lpstr>
      <vt:lpstr>Slide 8</vt:lpstr>
      <vt:lpstr>Lagrangian Multiplier method (for convex Optimization)</vt:lpstr>
      <vt:lpstr>The Dual  Optimization Problem</vt:lpstr>
      <vt:lpstr>Slide 11</vt:lpstr>
      <vt:lpstr>Concept in support</vt:lpstr>
      <vt:lpstr>Slide 13</vt:lpstr>
      <vt:lpstr>Soft Margin Classification</vt:lpstr>
      <vt:lpstr>Slide 15</vt:lpstr>
      <vt:lpstr>Slide 16</vt:lpstr>
      <vt:lpstr>Slide 17</vt:lpstr>
      <vt:lpstr>Slide 18</vt:lpstr>
      <vt:lpstr>Slide 19</vt:lpstr>
      <vt:lpstr>Slide 20</vt:lpstr>
      <vt:lpstr>Properties of SVM</vt:lpstr>
      <vt:lpstr>SVM Applications</vt:lpstr>
      <vt:lpstr>Weakness of SVM</vt:lpstr>
      <vt:lpstr>Slide 24</vt:lpstr>
      <vt:lpstr>Application : Text Categorization</vt:lpstr>
      <vt:lpstr>Slide 26</vt:lpstr>
      <vt:lpstr>Some Issues</vt:lpstr>
      <vt:lpstr>Reference</vt:lpstr>
      <vt:lpstr>Slide 29</vt:lpstr>
      <vt:lpstr>Slide 30</vt:lpstr>
      <vt:lpstr>Example</vt:lpstr>
      <vt:lpstr>Complementary Slackness theorem</vt:lpstr>
      <vt:lpstr>Slide 33</vt:lpstr>
      <vt:lpstr>Slide 34</vt:lpstr>
    </vt:vector>
  </TitlesOfParts>
  <Company>gg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 and Its Applications</dc:title>
  <dc:creator>gg</dc:creator>
  <cp:lastModifiedBy>Windows User</cp:lastModifiedBy>
  <cp:revision>177</cp:revision>
  <dcterms:created xsi:type="dcterms:W3CDTF">2004-11-20T11:26:53Z</dcterms:created>
  <dcterms:modified xsi:type="dcterms:W3CDTF">2026-03-23T04:12:01Z</dcterms:modified>
</cp:coreProperties>
</file>
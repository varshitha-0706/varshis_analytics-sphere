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97" r:id="rId7"/>
    <p:sldId id="299" r:id="rId8"/>
    <p:sldId id="300" r:id="rId9"/>
    <p:sldId id="301" r:id="rId10"/>
    <p:sldId id="302" r:id="rId11"/>
    <p:sldId id="303" r:id="rId12"/>
    <p:sldId id="304" r:id="rId13"/>
    <p:sldId id="261" r:id="rId14"/>
    <p:sldId id="262" r:id="rId15"/>
    <p:sldId id="263" r:id="rId16"/>
    <p:sldId id="264" r:id="rId17"/>
    <p:sldId id="305" r:id="rId18"/>
    <p:sldId id="265" r:id="rId19"/>
    <p:sldId id="293" r:id="rId20"/>
    <p:sldId id="294" r:id="rId21"/>
    <p:sldId id="295" r:id="rId22"/>
    <p:sldId id="296" r:id="rId23"/>
    <p:sldId id="322" r:id="rId24"/>
    <p:sldId id="323" r:id="rId25"/>
    <p:sldId id="325" r:id="rId26"/>
    <p:sldId id="327" r:id="rId27"/>
    <p:sldId id="329" r:id="rId28"/>
    <p:sldId id="331" r:id="rId29"/>
    <p:sldId id="333" r:id="rId30"/>
    <p:sldId id="334" r:id="rId31"/>
    <p:sldId id="335" r:id="rId32"/>
    <p:sldId id="336" r:id="rId33"/>
    <p:sldId id="269" r:id="rId34"/>
    <p:sldId id="268" r:id="rId35"/>
    <p:sldId id="307" r:id="rId36"/>
    <p:sldId id="270" r:id="rId37"/>
    <p:sldId id="308" r:id="rId38"/>
    <p:sldId id="280" r:id="rId39"/>
    <p:sldId id="281" r:id="rId40"/>
    <p:sldId id="282" r:id="rId41"/>
    <p:sldId id="287" r:id="rId42"/>
    <p:sldId id="288" r:id="rId43"/>
    <p:sldId id="289" r:id="rId44"/>
    <p:sldId id="291" r:id="rId45"/>
    <p:sldId id="292" r:id="rId46"/>
    <p:sldId id="290" r:id="rId47"/>
    <p:sldId id="309" r:id="rId48"/>
    <p:sldId id="272" r:id="rId49"/>
    <p:sldId id="273" r:id="rId50"/>
    <p:sldId id="275" r:id="rId51"/>
    <p:sldId id="274" r:id="rId52"/>
    <p:sldId id="276" r:id="rId53"/>
    <p:sldId id="277" r:id="rId54"/>
    <p:sldId id="278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C2BA0A-C609-4329-B9E7-7FCA1BFD86AE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566B13-996F-42E6-A89F-4F5A2783107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60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967f8f99c4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967f8f99c4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1ea835d1542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1ea835d1542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ea835d154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ea835d1542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ea835d1542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ea835d1542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ea835d1542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1ea835d1542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ea835d1542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1ea835d1542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1ea835d1542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1ea835d1542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ea835d1542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ea835d1542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ea835d1542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1ea835d1542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66B13-996F-42E6-A89F-4F5A27831076}" type="slidenum">
              <a:rPr lang="en-US" smtClean="0"/>
              <a:pPr/>
              <a:t>40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0C0F4348-BAB3-4893-84B0-33AFE6912A7D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84651C-FA91-47C7-8BA2-1E25EA04A2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4348-BAB3-4893-84B0-33AFE6912A7D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C84651C-FA91-47C7-8BA2-1E25EA04A2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4348-BAB3-4893-84B0-33AFE6912A7D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7C84651C-FA91-47C7-8BA2-1E25EA04A2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C0F4348-BAB3-4893-84B0-33AFE6912A7D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C84651C-FA91-47C7-8BA2-1E25EA04A2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C0F4348-BAB3-4893-84B0-33AFE6912A7D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C84651C-FA91-47C7-8BA2-1E25EA04A2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4348-BAB3-4893-84B0-33AFE6912A7D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C84651C-FA91-47C7-8BA2-1E25EA04A2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4348-BAB3-4893-84B0-33AFE6912A7D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C84651C-FA91-47C7-8BA2-1E25EA04A2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4348-BAB3-4893-84B0-33AFE6912A7D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C84651C-FA91-47C7-8BA2-1E25EA04A2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0C0F4348-BAB3-4893-84B0-33AFE6912A7D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C84651C-FA91-47C7-8BA2-1E25EA04A24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F4348-BAB3-4893-84B0-33AFE6912A7D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4651C-FA91-47C7-8BA2-1E25EA04A2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0C0F4348-BAB3-4893-84B0-33AFE6912A7D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C84651C-FA91-47C7-8BA2-1E25EA04A24E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68881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0C0F4348-BAB3-4893-84B0-33AFE6912A7D}" type="datetimeFigureOut">
              <a:rPr lang="en-US" smtClean="0"/>
              <a:pPr/>
              <a:t>2/18/2026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C84651C-FA91-47C7-8BA2-1E25EA04A2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ths/prior-probability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ths/posterior-probability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ths/conditional-probability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engineering-mathematics/joint-probability-concept-formula-and-examples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machine-learning/naive-bayes-classifiers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chapter/10.1007/978-3-540-85066-3_3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" TargetMode="External"/><Relationship Id="rId2" Type="http://schemas.openxmlformats.org/officeDocument/2006/relationships/hyperlink" Target="https://www.geeksforgeeks.org/unsupervised-machine-learning-the-future-of-cybersecurity/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UNIT-III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Bayesian Theorem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3743" t="23729" r="39285" b="23729"/>
          <a:stretch>
            <a:fillRect/>
          </a:stretch>
        </p:blipFill>
        <p:spPr bwMode="auto">
          <a:xfrm>
            <a:off x="304800" y="1905000"/>
            <a:ext cx="8229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4696" t="23729" r="39081" b="15254"/>
          <a:stretch>
            <a:fillRect/>
          </a:stretch>
        </p:blipFill>
        <p:spPr bwMode="auto">
          <a:xfrm>
            <a:off x="762001" y="685800"/>
            <a:ext cx="7988060" cy="5700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5649" t="23729" r="38128" b="23729"/>
          <a:stretch>
            <a:fillRect/>
          </a:stretch>
        </p:blipFill>
        <p:spPr bwMode="auto">
          <a:xfrm>
            <a:off x="304800" y="1524000"/>
            <a:ext cx="8846574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Baye’s</a:t>
            </a:r>
            <a:r>
              <a:rPr lang="en-US" dirty="0" smtClean="0"/>
              <a:t> theorem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5649" t="25424" r="41940" b="32203"/>
          <a:stretch>
            <a:fillRect/>
          </a:stretch>
        </p:blipFill>
        <p:spPr bwMode="auto">
          <a:xfrm>
            <a:off x="533400" y="1752600"/>
            <a:ext cx="821436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Bayes</a:t>
            </a:r>
            <a:r>
              <a:rPr lang="en-IN" dirty="0" smtClean="0"/>
              <a:t> Theorem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IN" b="1" dirty="0" err="1" smtClean="0"/>
              <a:t>Bayes</a:t>
            </a:r>
            <a:r>
              <a:rPr lang="en-IN" b="1" dirty="0" smtClean="0"/>
              <a:t>' Theorem</a:t>
            </a:r>
            <a:r>
              <a:rPr lang="en-IN" dirty="0" smtClean="0"/>
              <a:t> is a mathematical formula used to determine the </a:t>
            </a:r>
            <a:r>
              <a:rPr lang="en-IN" b="1" dirty="0" smtClean="0"/>
              <a:t>conditional probability</a:t>
            </a:r>
            <a:r>
              <a:rPr lang="en-IN" dirty="0" smtClean="0"/>
              <a:t> of an event based on prior knowledge and new evidence.</a:t>
            </a:r>
          </a:p>
          <a:p>
            <a:pPr fontAlgn="base"/>
            <a:r>
              <a:rPr lang="en-IN" dirty="0" smtClean="0"/>
              <a:t>It adjusts probabilities when new information comes in and helps make better decisions in uncertain situations.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Bayes</a:t>
            </a:r>
            <a:r>
              <a:rPr lang="en-IN" dirty="0" smtClean="0"/>
              <a:t> Equation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fontAlgn="base"/>
            <a:endParaRPr lang="en-IN" b="1" dirty="0" smtClean="0"/>
          </a:p>
          <a:p>
            <a:pPr fontAlgn="base"/>
            <a:endParaRPr lang="en-IN" b="1" dirty="0" smtClean="0"/>
          </a:p>
          <a:p>
            <a:pPr fontAlgn="base"/>
            <a:endParaRPr lang="en-IN" b="1" dirty="0" smtClean="0"/>
          </a:p>
          <a:p>
            <a:pPr fontAlgn="base"/>
            <a:endParaRPr lang="en-IN" b="1" dirty="0" smtClean="0"/>
          </a:p>
          <a:p>
            <a:pPr fontAlgn="base"/>
            <a:r>
              <a:rPr lang="en-IN" b="1" dirty="0" smtClean="0"/>
              <a:t>P(A)</a:t>
            </a:r>
            <a:r>
              <a:rPr lang="en-IN" dirty="0" smtClean="0"/>
              <a:t> and </a:t>
            </a:r>
            <a:r>
              <a:rPr lang="en-IN" b="1" dirty="0" smtClean="0"/>
              <a:t>P(B)</a:t>
            </a:r>
            <a:r>
              <a:rPr lang="en-IN" dirty="0" smtClean="0"/>
              <a:t> are the probabilities of events A and B; also, P(B) is never equal to zero.</a:t>
            </a:r>
          </a:p>
          <a:p>
            <a:pPr fontAlgn="base"/>
            <a:r>
              <a:rPr lang="en-IN" b="1" dirty="0" smtClean="0"/>
              <a:t>P(A|B)</a:t>
            </a:r>
            <a:r>
              <a:rPr lang="en-IN" dirty="0" smtClean="0"/>
              <a:t> is the probability of event A when event B happens,</a:t>
            </a:r>
          </a:p>
          <a:p>
            <a:pPr fontAlgn="base"/>
            <a:r>
              <a:rPr lang="en-IN" b="1" dirty="0" smtClean="0"/>
              <a:t>P(B|A)</a:t>
            </a:r>
            <a:r>
              <a:rPr lang="en-IN" dirty="0" smtClean="0"/>
              <a:t> is the probability of event B when A happens.</a:t>
            </a:r>
          </a:p>
          <a:p>
            <a:endParaRPr lang="en-IN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l="12320" t="33898" r="12399" b="28814"/>
          <a:stretch>
            <a:fillRect/>
          </a:stretch>
        </p:blipFill>
        <p:spPr bwMode="auto">
          <a:xfrm>
            <a:off x="1295400" y="1676400"/>
            <a:ext cx="60198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IN" b="1" dirty="0" smtClean="0"/>
              <a:t>Priori Probability</a:t>
            </a:r>
            <a:endParaRPr lang="en-IN" dirty="0" smtClean="0"/>
          </a:p>
          <a:p>
            <a:pPr fontAlgn="base"/>
            <a:r>
              <a:rPr lang="en-IN" u="sng" dirty="0" smtClean="0">
                <a:hlinkClick r:id="rId2"/>
              </a:rPr>
              <a:t>Priori Probability</a:t>
            </a:r>
            <a:r>
              <a:rPr lang="en-IN" dirty="0" smtClean="0"/>
              <a:t> P(</a:t>
            </a:r>
            <a:r>
              <a:rPr lang="en-IN" dirty="0" err="1" smtClean="0"/>
              <a:t>E</a:t>
            </a:r>
            <a:r>
              <a:rPr lang="en-IN" baseline="-25000" dirty="0" err="1" smtClean="0"/>
              <a:t>i</a:t>
            </a:r>
            <a:r>
              <a:rPr lang="en-IN" dirty="0" smtClean="0"/>
              <a:t>) is the initial probability of an event occurring before any new data is taken into account.</a:t>
            </a:r>
          </a:p>
          <a:p>
            <a:pPr fontAlgn="base"/>
            <a:r>
              <a:rPr lang="en-IN" dirty="0" smtClean="0"/>
              <a:t>It reflects existing knowledge or assumptions about the event.</a:t>
            </a:r>
          </a:p>
          <a:p>
            <a:pPr fontAlgn="base"/>
            <a:r>
              <a:rPr lang="en-IN" b="1" dirty="0" smtClean="0"/>
              <a:t>Example: </a:t>
            </a:r>
            <a:r>
              <a:rPr lang="en-IN" dirty="0" smtClean="0"/>
              <a:t>The probability of a person having a disease before taking a test.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IN" b="1" dirty="0" smtClean="0"/>
              <a:t>Posterior Probability</a:t>
            </a:r>
            <a:endParaRPr lang="en-IN" dirty="0" smtClean="0"/>
          </a:p>
          <a:p>
            <a:pPr fontAlgn="base"/>
            <a:r>
              <a:rPr lang="en-IN" u="sng" dirty="0" smtClean="0">
                <a:hlinkClick r:id="rId2"/>
              </a:rPr>
              <a:t>Posterior probability</a:t>
            </a:r>
            <a:r>
              <a:rPr lang="en-IN" dirty="0" smtClean="0"/>
              <a:t> (P(</a:t>
            </a:r>
            <a:r>
              <a:rPr lang="en-IN" dirty="0" err="1" smtClean="0"/>
              <a:t>Ei∣A</a:t>
            </a:r>
            <a:r>
              <a:rPr lang="en-IN" dirty="0" smtClean="0"/>
              <a:t>) is the updated probability of an event after considering new information.</a:t>
            </a:r>
          </a:p>
          <a:p>
            <a:pPr fontAlgn="base"/>
            <a:r>
              <a:rPr lang="en-IN" dirty="0" smtClean="0"/>
              <a:t>It is derived using the </a:t>
            </a:r>
            <a:r>
              <a:rPr lang="en-IN" dirty="0" err="1" smtClean="0"/>
              <a:t>Bayes</a:t>
            </a:r>
            <a:r>
              <a:rPr lang="en-IN" dirty="0" smtClean="0"/>
              <a:t> Theorem.</a:t>
            </a:r>
          </a:p>
          <a:p>
            <a:pPr fontAlgn="base"/>
            <a:r>
              <a:rPr lang="en-IN" b="1" dirty="0" smtClean="0"/>
              <a:t>Example:</a:t>
            </a:r>
            <a:r>
              <a:rPr lang="en-IN" dirty="0" smtClean="0"/>
              <a:t> The probability of having a disease given a positive test result.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>
              <a:buNone/>
            </a:pPr>
            <a:r>
              <a:rPr lang="en-IN" b="1" dirty="0" smtClean="0"/>
              <a:t>Conditional Probability</a:t>
            </a:r>
            <a:endParaRPr lang="en-IN" dirty="0" smtClean="0"/>
          </a:p>
          <a:p>
            <a:pPr fontAlgn="base"/>
            <a:r>
              <a:rPr lang="en-IN" dirty="0" smtClean="0"/>
              <a:t>The probability of an event A based on the occurrence of another event B is termed </a:t>
            </a:r>
            <a:r>
              <a:rPr lang="en-IN" u="sng" dirty="0" smtClean="0">
                <a:hlinkClick r:id="rId2"/>
              </a:rPr>
              <a:t>conditional Probability</a:t>
            </a:r>
            <a:r>
              <a:rPr lang="en-IN" dirty="0" smtClean="0"/>
              <a:t>.</a:t>
            </a:r>
          </a:p>
          <a:p>
            <a:pPr fontAlgn="base"/>
            <a:r>
              <a:rPr lang="en-IN" dirty="0" smtClean="0"/>
              <a:t>It is denoted as </a:t>
            </a:r>
            <a:r>
              <a:rPr lang="en-IN" b="1" dirty="0" smtClean="0"/>
              <a:t>P(A|B)</a:t>
            </a:r>
            <a:r>
              <a:rPr lang="en-IN" dirty="0" smtClean="0"/>
              <a:t> and represents the probability of A when event B has already happened.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IN" b="1" dirty="0" smtClean="0"/>
              <a:t>Joint Probability</a:t>
            </a:r>
            <a:endParaRPr lang="en-IN" dirty="0" smtClean="0"/>
          </a:p>
          <a:p>
            <a:pPr fontAlgn="base"/>
            <a:r>
              <a:rPr lang="en-IN" dirty="0" smtClean="0"/>
              <a:t>When the probability of two or more events occurring together and at the same time is measured, it is marked as </a:t>
            </a:r>
            <a:r>
              <a:rPr lang="en-IN" u="sng" dirty="0" smtClean="0">
                <a:hlinkClick r:id="rId2"/>
              </a:rPr>
              <a:t>Joint Probability</a:t>
            </a:r>
            <a:r>
              <a:rPr lang="en-IN" dirty="0" smtClean="0"/>
              <a:t>.</a:t>
            </a:r>
          </a:p>
          <a:p>
            <a:pPr fontAlgn="base"/>
            <a:r>
              <a:rPr lang="en-IN" dirty="0" smtClean="0"/>
              <a:t>For two events A and B, it is denoted by joint probability is denoted as </a:t>
            </a:r>
            <a:r>
              <a:rPr lang="en-IN" b="1" dirty="0" smtClean="0"/>
              <a:t>P(A∩B).</a:t>
            </a: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371600"/>
            <a:ext cx="8153400" cy="4724400"/>
          </a:xfrm>
        </p:spPr>
        <p:txBody>
          <a:bodyPr/>
          <a:lstStyle/>
          <a:p>
            <a:pPr fontAlgn="base">
              <a:buNone/>
            </a:pPr>
            <a:r>
              <a:rPr lang="en-IN" b="1" u="sng" dirty="0" smtClean="0"/>
              <a:t>Key Applications are:</a:t>
            </a:r>
            <a:endParaRPr lang="en-IN" u="sng" dirty="0" smtClean="0"/>
          </a:p>
          <a:p>
            <a:pPr fontAlgn="base"/>
            <a:r>
              <a:rPr lang="en-IN" b="1" dirty="0" smtClean="0"/>
              <a:t>AI &amp; Machine Learning</a:t>
            </a:r>
            <a:r>
              <a:rPr lang="en-IN" dirty="0" smtClean="0"/>
              <a:t> → Used in </a:t>
            </a:r>
            <a:r>
              <a:rPr lang="en-IN" b="1" u="sng" dirty="0" smtClean="0">
                <a:hlinkClick r:id="rId2"/>
              </a:rPr>
              <a:t>Naïve </a:t>
            </a:r>
            <a:r>
              <a:rPr lang="en-IN" b="1" u="sng" dirty="0" err="1" smtClean="0">
                <a:hlinkClick r:id="rId2"/>
              </a:rPr>
              <a:t>Bayes</a:t>
            </a:r>
            <a:r>
              <a:rPr lang="en-IN" b="1" u="sng" dirty="0" smtClean="0">
                <a:hlinkClick r:id="rId2"/>
              </a:rPr>
              <a:t> classifiers</a:t>
            </a:r>
            <a:r>
              <a:rPr lang="en-IN" dirty="0" smtClean="0"/>
              <a:t> to predict outcomes.</a:t>
            </a:r>
          </a:p>
          <a:p>
            <a:pPr fontAlgn="base"/>
            <a:r>
              <a:rPr lang="en-IN" b="1" dirty="0" smtClean="0"/>
              <a:t>Medical Testing</a:t>
            </a:r>
            <a:r>
              <a:rPr lang="en-IN" dirty="0" smtClean="0"/>
              <a:t> → Finding the real probability of having a disease after a positive test.</a:t>
            </a:r>
          </a:p>
          <a:p>
            <a:pPr fontAlgn="base"/>
            <a:r>
              <a:rPr lang="en-IN" b="1" dirty="0" smtClean="0"/>
              <a:t>Spam Filters</a:t>
            </a:r>
            <a:r>
              <a:rPr lang="en-IN" dirty="0" smtClean="0"/>
              <a:t> → Checking if an email is spam based on keywords.</a:t>
            </a:r>
          </a:p>
          <a:p>
            <a:pPr fontAlgn="base"/>
            <a:r>
              <a:rPr lang="en-IN" b="1" dirty="0" smtClean="0"/>
              <a:t>Weather Prediction</a:t>
            </a:r>
            <a:r>
              <a:rPr lang="en-IN" dirty="0" smtClean="0"/>
              <a:t> → Updating the chance of rain based on new data.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6602" t="23729" r="38128" b="20339"/>
          <a:stretch>
            <a:fillRect/>
          </a:stretch>
        </p:blipFill>
        <p:spPr bwMode="auto">
          <a:xfrm>
            <a:off x="457200" y="838200"/>
            <a:ext cx="8437418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4696" t="25424" r="38128" b="27119"/>
          <a:stretch>
            <a:fillRect/>
          </a:stretch>
        </p:blipFill>
        <p:spPr bwMode="auto">
          <a:xfrm>
            <a:off x="457200" y="1524000"/>
            <a:ext cx="8284029" cy="4490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4696" t="23729" r="39081" b="20339"/>
          <a:stretch>
            <a:fillRect/>
          </a:stretch>
        </p:blipFill>
        <p:spPr bwMode="auto">
          <a:xfrm>
            <a:off x="609600" y="685800"/>
            <a:ext cx="80772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5445" t="23729" r="36979" b="21947"/>
          <a:stretch>
            <a:fillRect/>
          </a:stretch>
        </p:blipFill>
        <p:spPr bwMode="auto">
          <a:xfrm>
            <a:off x="609599" y="609600"/>
            <a:ext cx="8135981" cy="5867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990600"/>
            <a:ext cx="8153400" cy="51054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b="1" u="sng" dirty="0" smtClean="0"/>
              <a:t>Prior Distribution:</a:t>
            </a:r>
            <a:endParaRPr lang="en-IN" u="sng" dirty="0" smtClean="0"/>
          </a:p>
          <a:p>
            <a:r>
              <a:rPr lang="en-IN" dirty="0" smtClean="0"/>
              <a:t>Represents existing knowledge or beliefs about a parameter before any new data is observed. </a:t>
            </a:r>
          </a:p>
          <a:p>
            <a:pPr>
              <a:buNone/>
            </a:pPr>
            <a:r>
              <a:rPr lang="en-IN" b="1" u="sng" dirty="0" smtClean="0"/>
              <a:t>Likelihood:</a:t>
            </a:r>
            <a:endParaRPr lang="en-IN" u="sng" dirty="0" smtClean="0"/>
          </a:p>
          <a:p>
            <a:r>
              <a:rPr lang="en-IN" dirty="0" smtClean="0"/>
              <a:t>The probability of observing the given data, assuming a particular value for the parameter. </a:t>
            </a:r>
          </a:p>
          <a:p>
            <a:pPr>
              <a:buNone/>
            </a:pPr>
            <a:r>
              <a:rPr lang="en-IN" b="1" u="sng" dirty="0" smtClean="0"/>
              <a:t>Posterior Distribution:</a:t>
            </a:r>
            <a:endParaRPr lang="en-IN" u="sng" dirty="0" smtClean="0"/>
          </a:p>
          <a:p>
            <a:r>
              <a:rPr lang="en-IN" dirty="0" smtClean="0"/>
              <a:t>The updated probability distribution of the parameter after considering the observed data. It is calculated using </a:t>
            </a:r>
            <a:r>
              <a:rPr lang="en-IN" dirty="0" err="1" smtClean="0"/>
              <a:t>Baye‘s</a:t>
            </a:r>
            <a:r>
              <a:rPr lang="en-IN" dirty="0" smtClean="0"/>
              <a:t> Theorem, which combines the prior and the likelihood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5649" t="25424" r="37175" b="32203"/>
          <a:stretch>
            <a:fillRect/>
          </a:stretch>
        </p:blipFill>
        <p:spPr bwMode="auto">
          <a:xfrm>
            <a:off x="186690" y="1676400"/>
            <a:ext cx="874014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Bayes</a:t>
            </a:r>
            <a:r>
              <a:rPr lang="en-US" dirty="0" smtClean="0"/>
              <a:t> optimal classifier is a probabilistic model that makes the most probable prediction for a new example, given the training dataset.</a:t>
            </a:r>
          </a:p>
          <a:p>
            <a:r>
              <a:rPr lang="en-US" dirty="0" smtClean="0"/>
              <a:t>This model is also referred to as the </a:t>
            </a:r>
            <a:r>
              <a:rPr lang="en-US" dirty="0" err="1" smtClean="0"/>
              <a:t>Bayes</a:t>
            </a:r>
            <a:r>
              <a:rPr lang="en-US" dirty="0" smtClean="0"/>
              <a:t> optimal learner, the </a:t>
            </a:r>
            <a:r>
              <a:rPr lang="en-US" dirty="0" err="1" smtClean="0"/>
              <a:t>Bayes</a:t>
            </a:r>
            <a:r>
              <a:rPr lang="en-US" dirty="0" smtClean="0"/>
              <a:t> classifier, </a:t>
            </a:r>
            <a:r>
              <a:rPr lang="en-US" dirty="0" err="1" smtClean="0"/>
              <a:t>Bayes</a:t>
            </a:r>
            <a:r>
              <a:rPr lang="en-US" dirty="0" smtClean="0"/>
              <a:t> optimal decision boundary, or the </a:t>
            </a:r>
            <a:r>
              <a:rPr lang="en-US" dirty="0" err="1" smtClean="0"/>
              <a:t>Bayes</a:t>
            </a:r>
            <a:r>
              <a:rPr lang="en-US" dirty="0" smtClean="0"/>
              <a:t> optimal </a:t>
            </a:r>
            <a:r>
              <a:rPr lang="en-US" dirty="0" err="1" smtClean="0"/>
              <a:t>discriminant</a:t>
            </a:r>
            <a:r>
              <a:rPr lang="en-US" dirty="0" smtClean="0"/>
              <a:t> function.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Bayes</a:t>
            </a:r>
            <a:r>
              <a:rPr lang="en-US" dirty="0" smtClean="0"/>
              <a:t> optimal classifier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b="1" dirty="0" err="1" smtClean="0"/>
              <a:t>Bayes</a:t>
            </a:r>
            <a:r>
              <a:rPr lang="en-US" b="1" dirty="0" smtClean="0"/>
              <a:t> Classifier</a:t>
            </a:r>
            <a:r>
              <a:rPr lang="en-US" dirty="0" smtClean="0"/>
              <a:t>: Probabilistic model that makes the most probable prediction for new examples.</a:t>
            </a:r>
          </a:p>
          <a:p>
            <a:pPr fontAlgn="base"/>
            <a:r>
              <a:rPr lang="en-US" dirty="0" smtClean="0"/>
              <a:t>Specifically, the </a:t>
            </a:r>
            <a:r>
              <a:rPr lang="en-US" dirty="0" err="1" smtClean="0"/>
              <a:t>Bayes</a:t>
            </a:r>
            <a:r>
              <a:rPr lang="en-US" dirty="0" smtClean="0"/>
              <a:t> optimal classifier answers the question:</a:t>
            </a:r>
          </a:p>
          <a:p>
            <a:r>
              <a:rPr lang="en-US" b="1" i="1" dirty="0" smtClean="0"/>
              <a:t>What is the most probable classification of the new instance given the training data?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This is different from the MAP framework that seeks the most probable hypothesis (model). Instead, we are interested in making a specific prediction.</a:t>
            </a:r>
            <a:endParaRPr lang="en-US" i="1" dirty="0" smtClean="0"/>
          </a:p>
          <a:p>
            <a:r>
              <a:rPr lang="en-US" i="1" dirty="0" smtClean="0"/>
              <a:t>In general, the most probable classification of the new instance is obtained by combining the predictions of all hypotheses, weighted by their posterior probabilities.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32331" t="23729" r="13352" b="15254"/>
          <a:stretch>
            <a:fillRect/>
          </a:stretch>
        </p:blipFill>
        <p:spPr bwMode="auto">
          <a:xfrm>
            <a:off x="228600" y="914400"/>
            <a:ext cx="8686802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IN" dirty="0">
                <a:solidFill>
                  <a:schemeClr val="dk1"/>
                </a:solidFill>
              </a:rPr>
              <a:t>Naïve Bayesian classiﬁer.  </a:t>
            </a:r>
            <a:br>
              <a:rPr lang="en-IN" dirty="0">
                <a:solidFill>
                  <a:schemeClr val="dk1"/>
                </a:solidFill>
              </a:rPr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81000" y="1600200"/>
            <a:ext cx="82296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solidFill>
                  <a:schemeClr val="dk1"/>
                </a:solidFill>
              </a:rPr>
              <a:t>Naïve Bayesian classiﬁer.  </a:t>
            </a:r>
          </a:p>
          <a:p>
            <a:pPr marL="457200" lvl="0" indent="-334327">
              <a:spcBef>
                <a:spcPts val="1200"/>
              </a:spcBef>
              <a:buClr>
                <a:schemeClr val="dk1"/>
              </a:buClr>
              <a:buSzPct val="100000"/>
              <a:buAutoNum type="arabicPeriod"/>
            </a:pPr>
            <a:r>
              <a:rPr lang="en-IN" sz="2000" b="1" dirty="0">
                <a:solidFill>
                  <a:schemeClr val="dk1"/>
                </a:solidFill>
              </a:rPr>
              <a:t>Let D be a training set of tuples and their associated class labels. Each tuple is represented by an n-dimensional attribute vector, X=(x1, x2,..., </a:t>
            </a:r>
            <a:r>
              <a:rPr lang="en-IN" sz="2000" b="1" dirty="0" err="1">
                <a:solidFill>
                  <a:schemeClr val="dk1"/>
                </a:solidFill>
              </a:rPr>
              <a:t>xn</a:t>
            </a:r>
            <a:r>
              <a:rPr lang="en-IN" sz="2000" b="1" dirty="0">
                <a:solidFill>
                  <a:schemeClr val="dk1"/>
                </a:solidFill>
              </a:rPr>
              <a:t>), depicting n measurements made on the tuple from n attributes, respectively, A1, A2,..., An.</a:t>
            </a:r>
          </a:p>
          <a:p>
            <a:pPr marL="457200" lvl="0">
              <a:spcBef>
                <a:spcPts val="1200"/>
              </a:spcBef>
            </a:pPr>
            <a:r>
              <a:rPr lang="en-IN" sz="2000" b="1" dirty="0">
                <a:solidFill>
                  <a:schemeClr val="dk1"/>
                </a:solidFill>
              </a:rPr>
              <a:t> </a:t>
            </a:r>
          </a:p>
          <a:p>
            <a:pPr marL="457200" lvl="0" indent="-334327">
              <a:spcBef>
                <a:spcPts val="1200"/>
              </a:spcBef>
              <a:buClr>
                <a:schemeClr val="dk1"/>
              </a:buClr>
              <a:buSzPct val="100000"/>
              <a:buAutoNum type="arabicPeriod"/>
            </a:pPr>
            <a:r>
              <a:rPr lang="en-IN" sz="2000" b="1" dirty="0">
                <a:solidFill>
                  <a:schemeClr val="dk1"/>
                </a:solidFill>
              </a:rPr>
              <a:t>There are m classes, C1, C2,..., Cm. Given a tuple, X, the classiﬁer will predict that X belongs to the class having the highest posterior probability, conditioned on X. </a:t>
            </a:r>
          </a:p>
          <a:p>
            <a:pPr marL="457200" lvl="0">
              <a:spcBef>
                <a:spcPts val="1200"/>
              </a:spcBef>
            </a:pPr>
            <a:r>
              <a:rPr lang="en-IN" sz="2000" b="1" dirty="0">
                <a:solidFill>
                  <a:schemeClr val="dk1"/>
                </a:solidFill>
              </a:rPr>
              <a:t>That is, the naïve Bayesian classiﬁer predicts that tuple X belongs to the class </a:t>
            </a:r>
            <a:r>
              <a:rPr lang="en-IN" sz="2000" b="1" dirty="0" err="1">
                <a:solidFill>
                  <a:schemeClr val="dk1"/>
                </a:solidFill>
              </a:rPr>
              <a:t>Ci</a:t>
            </a:r>
            <a:r>
              <a:rPr lang="en-IN" sz="2000" b="1" dirty="0">
                <a:solidFill>
                  <a:schemeClr val="dk1"/>
                </a:solidFill>
              </a:rPr>
              <a:t> if and only if </a:t>
            </a:r>
            <a:endParaRPr lang="en-IN" sz="20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282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Thus, we maximize P(Ci|X). The class Ci for which P(Ci|X) is maximized is called the maximum posteriori hypothesis.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 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80" name="Google Shape;280;p48"/>
          <p:cNvSpPr txBox="1">
            <a:spLocks noGrp="1"/>
          </p:cNvSpPr>
          <p:nvPr>
            <p:ph type="title"/>
          </p:nvPr>
        </p:nvSpPr>
        <p:spPr>
          <a:xfrm>
            <a:off x="311700" y="153133"/>
            <a:ext cx="8520600" cy="12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 Naїve Bayesian Classiﬁcation 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281" name="Google Shape;28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9925" y="2755901"/>
            <a:ext cx="3616650" cy="13626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7313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832300" cy="53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3. As P(X) is constant for all classes, only P(X|Ci)P(Ci) needs to be maximized.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If the class prior probabilities are not known, then it is commonly assumed that the classes are equally likely, that is, P(C1)=P(C2)=···=P(Cm), and we would therefore maximize P(X|Ci).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Otherwise, we maximize P(X|Ci)P(Ci).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Class prior probabilities may be estimated by P(Ci)=|Ci,D|/|D|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87" name="Google Shape;287;p49"/>
          <p:cNvSpPr txBox="1">
            <a:spLocks noGrp="1"/>
          </p:cNvSpPr>
          <p:nvPr>
            <p:ph type="title"/>
          </p:nvPr>
        </p:nvSpPr>
        <p:spPr>
          <a:xfrm>
            <a:off x="311700" y="153133"/>
            <a:ext cx="8520600" cy="12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 Naїve Bayesian Classiﬁcation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6887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0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832300" cy="53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4. Given data sets with many attributes, it would be extremely computationally expensive to compute P(X|Ci).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reduce computation in evaluating P(X|Ci), the na¨ıve assumption of </a:t>
            </a:r>
            <a:r>
              <a:rPr lang="en" b="1">
                <a:solidFill>
                  <a:schemeClr val="accent1"/>
                </a:solidFill>
              </a:rPr>
              <a:t>class-conditional independence</a:t>
            </a:r>
            <a:r>
              <a:rPr lang="en">
                <a:solidFill>
                  <a:schemeClr val="dk1"/>
                </a:solidFill>
              </a:rPr>
              <a:t> is made.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presumes that the attributes’ values are conditionally independent of one another, given the class label of the tuple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293" name="Google Shape;293;p50"/>
          <p:cNvSpPr txBox="1">
            <a:spLocks noGrp="1"/>
          </p:cNvSpPr>
          <p:nvPr>
            <p:ph type="title"/>
          </p:nvPr>
        </p:nvSpPr>
        <p:spPr>
          <a:xfrm>
            <a:off x="311700" y="153133"/>
            <a:ext cx="8520600" cy="12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 Naїve Bayesian Classiﬁcation 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294" name="Google Shape;29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6901" y="4756833"/>
            <a:ext cx="5210175" cy="1854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8880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832300" cy="53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attribute, we look at whether the attribute is categorical or continuous-valued.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lphaLcParenBoth"/>
            </a:pPr>
            <a:r>
              <a:rPr lang="en"/>
              <a:t>If A</a:t>
            </a:r>
            <a:r>
              <a:rPr lang="en" sz="1300"/>
              <a:t>k</a:t>
            </a:r>
            <a:r>
              <a:rPr lang="en"/>
              <a:t> is categorical, then P(x</a:t>
            </a:r>
            <a:r>
              <a:rPr lang="en" sz="1300"/>
              <a:t>k</a:t>
            </a:r>
            <a:r>
              <a:rPr lang="en"/>
              <a:t>|Ci) is the number of tuples of class Ci in D having the value x</a:t>
            </a:r>
            <a:r>
              <a:rPr lang="en" sz="1400"/>
              <a:t>k</a:t>
            </a:r>
            <a:r>
              <a:rPr lang="en"/>
              <a:t> for A</a:t>
            </a:r>
            <a:r>
              <a:rPr lang="en" sz="1400"/>
              <a:t>k</a:t>
            </a:r>
            <a:r>
              <a:rPr lang="en"/>
              <a:t>, divided by |Ci,D|, the number of tuples of class Ci in D.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lphaLcParenBoth"/>
            </a:pPr>
            <a:r>
              <a:rPr lang="en"/>
              <a:t>If A</a:t>
            </a:r>
            <a:r>
              <a:rPr lang="en" sz="1400"/>
              <a:t>k</a:t>
            </a:r>
            <a:r>
              <a:rPr lang="en"/>
              <a:t> is continuous-valued, is typically assumed to have a Gaussian distribution with a mean µ and standard deviation σ, deﬁned by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sp>
        <p:nvSpPr>
          <p:cNvPr id="300" name="Google Shape;300;p51"/>
          <p:cNvSpPr txBox="1">
            <a:spLocks noGrp="1"/>
          </p:cNvSpPr>
          <p:nvPr>
            <p:ph type="title"/>
          </p:nvPr>
        </p:nvSpPr>
        <p:spPr>
          <a:xfrm>
            <a:off x="311700" y="153133"/>
            <a:ext cx="8520600" cy="12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 Naїve Bayesian Classiﬁcation 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301" name="Google Shape;30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0150" y="4305301"/>
            <a:ext cx="3683700" cy="2552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898396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5. To predict the class label of X, P(X|Ci)P(Ci) is evaluated for each class Ci. The classiﬁer predicts that the class label of tuple X is the class Ci if and only if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Under certain assumptions, it can be shown that many neural network and curve-ﬁtting algorithms output the </a:t>
            </a:r>
            <a:r>
              <a:rPr lang="en" i="1">
                <a:solidFill>
                  <a:schemeClr val="dk1"/>
                </a:solidFill>
              </a:rPr>
              <a:t>maximum posteriori hypothesis</a:t>
            </a:r>
            <a:r>
              <a:rPr lang="en">
                <a:solidFill>
                  <a:schemeClr val="dk1"/>
                </a:solidFill>
              </a:rPr>
              <a:t>, as does the na¨ıve Bayesian classiﬁer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7" name="Google Shape;307;p52"/>
          <p:cNvSpPr txBox="1">
            <a:spLocks noGrp="1"/>
          </p:cNvSpPr>
          <p:nvPr>
            <p:ph type="title"/>
          </p:nvPr>
        </p:nvSpPr>
        <p:spPr>
          <a:xfrm>
            <a:off x="311700" y="153133"/>
            <a:ext cx="8520600" cy="12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 Naїve Bayesian Classiﬁcation </a:t>
            </a:r>
            <a:endParaRPr b="1">
              <a:solidFill>
                <a:srgbClr val="FF0000"/>
              </a:solidFill>
            </a:endParaRPr>
          </a:p>
        </p:txBody>
      </p:sp>
      <p:pic>
        <p:nvPicPr>
          <p:cNvPr id="308" name="Google Shape;30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584133"/>
            <a:ext cx="8520600" cy="8448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1828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3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Let C1 correspond to the class buys_computer = yes and C2 correspond to buys_computer = no.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tuple we wish to classify is 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</a:rPr>
              <a:t>X = (age = youth, income = medium, student = yes, credit rating = fair)</a:t>
            </a:r>
            <a:endParaRPr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need to maximize </a:t>
            </a:r>
            <a:r>
              <a:rPr lang="en" b="1">
                <a:solidFill>
                  <a:schemeClr val="dk1"/>
                </a:solidFill>
              </a:rPr>
              <a:t>P(X|Ci)P(Ci)</a:t>
            </a:r>
            <a:r>
              <a:rPr lang="en">
                <a:solidFill>
                  <a:schemeClr val="dk1"/>
                </a:solidFill>
              </a:rPr>
              <a:t>, for i=1, 2.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14" name="Google Shape;314;p53"/>
          <p:cNvSpPr txBox="1">
            <a:spLocks noGrp="1"/>
          </p:cNvSpPr>
          <p:nvPr>
            <p:ph type="title"/>
          </p:nvPr>
        </p:nvSpPr>
        <p:spPr>
          <a:xfrm>
            <a:off x="311700" y="153133"/>
            <a:ext cx="8520600" cy="12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 Predict a class label using Naїve Bayesian Classiﬁcation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2818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832300" cy="53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prior probability of each class,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P(buys computer=yes)=9/14=0.643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P(buys computer=no) =5/14=0.357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320" name="Google Shape;320;p54"/>
          <p:cNvSpPr txBox="1">
            <a:spLocks noGrp="1"/>
          </p:cNvSpPr>
          <p:nvPr>
            <p:ph type="title"/>
          </p:nvPr>
        </p:nvSpPr>
        <p:spPr>
          <a:xfrm>
            <a:off x="311700" y="153133"/>
            <a:ext cx="8520600" cy="12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 Naїve Bayesian Classiﬁcation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09281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832300" cy="53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To compute P(X|Ci), for i=1,2, we compute the following conditional probabilities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P(age=youth|buys computer=yes) =2/9=0.222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P(age=youth|buys computer=no) =3/5=0.600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P(income=medium|buys computer=yes)=4/9=0.444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P(income=medium|buys computer=no) =2/5=0.400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P(student=yes|buys computer=yes) =6/9=0.667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P(student=yes|buys computer=no) =1/5=0.200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P(credit rating=fair|buys computer=yes)=6/9=0.667 </a:t>
            </a:r>
            <a:endParaRPr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P(credit rating=fair|buys computer=no) =2/5=0.400 </a:t>
            </a:r>
            <a:endParaRPr/>
          </a:p>
        </p:txBody>
      </p:sp>
      <p:sp>
        <p:nvSpPr>
          <p:cNvPr id="326" name="Google Shape;326;p55"/>
          <p:cNvSpPr txBox="1">
            <a:spLocks noGrp="1"/>
          </p:cNvSpPr>
          <p:nvPr>
            <p:ph type="title"/>
          </p:nvPr>
        </p:nvSpPr>
        <p:spPr>
          <a:xfrm>
            <a:off x="311700" y="153133"/>
            <a:ext cx="8520600" cy="12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</a:rPr>
              <a:t> Naїve Bayesian Classiﬁcation </a:t>
            </a:r>
            <a:endParaRPr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95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6"/>
          <p:cNvSpPr txBox="1">
            <a:spLocks noGrp="1"/>
          </p:cNvSpPr>
          <p:nvPr>
            <p:ph type="title"/>
          </p:nvPr>
        </p:nvSpPr>
        <p:spPr>
          <a:xfrm>
            <a:off x="609600" y="228600"/>
            <a:ext cx="8156448" cy="83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FF0000"/>
                </a:solidFill>
              </a:rPr>
              <a:t> Naїve Bayesian Classiﬁcation 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331" name="Google Shape;331;p56"/>
          <p:cNvSpPr txBox="1">
            <a:spLocks noGrp="1"/>
          </p:cNvSpPr>
          <p:nvPr>
            <p:ph sz="quarter" idx="1"/>
          </p:nvPr>
        </p:nvSpPr>
        <p:spPr>
          <a:xfrm>
            <a:off x="304800" y="1066800"/>
            <a:ext cx="8461248" cy="50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P(X|buys computer=yes) = P(age=youth|buys computer=yes) × P(income=medium|buys computer=yes) × P(student=yes|buys computer=yes) × P(credit rating=fair|buys computer=yes) 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= 0.222 × 0.444 × 0.667 × 0.667 = 0.044. 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Similarly, P(X|buys_computer = no) = 0.600×0.400×0.200×0.400=0.019. 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To ﬁnd the class, Ci, that maximizes P(X|Ci)P(Ci), we compute 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P(X|buys_computer = yes) P(buys_computer=yes)=0.044×0.643=0.028 </a:t>
            </a:r>
            <a:endParaRPr sz="2400" dirty="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P(X|buys_computer = no) P(buys_computer=no)=0.019×0.357=0.007 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400" dirty="0">
                <a:solidFill>
                  <a:schemeClr val="dk1"/>
                </a:solidFill>
              </a:rPr>
              <a:t>Therefore, the na¨ıve Bayesian classiﬁer predicts </a:t>
            </a:r>
            <a:r>
              <a:rPr lang="en" sz="2400" b="1" dirty="0">
                <a:solidFill>
                  <a:schemeClr val="dk1"/>
                </a:solidFill>
              </a:rPr>
              <a:t>buys_computer = yes</a:t>
            </a:r>
            <a:r>
              <a:rPr lang="en" sz="2400" dirty="0">
                <a:solidFill>
                  <a:schemeClr val="dk1"/>
                </a:solidFill>
              </a:rPr>
              <a:t> for tuple X. </a:t>
            </a:r>
            <a:endParaRPr sz="24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36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Bayesian Belief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Bayesian Belief Network </a:t>
            </a:r>
            <a:r>
              <a:rPr lang="en-US" dirty="0" smtClean="0"/>
              <a:t>is a graphical representation of </a:t>
            </a:r>
            <a:r>
              <a:rPr lang="en-US" dirty="0" smtClean="0">
                <a:solidFill>
                  <a:srgbClr val="FF0000"/>
                </a:solidFill>
              </a:rPr>
              <a:t>different probabilistic </a:t>
            </a:r>
            <a:r>
              <a:rPr lang="en-US" dirty="0" smtClean="0"/>
              <a:t>relationships among </a:t>
            </a:r>
            <a:r>
              <a:rPr lang="en-US" dirty="0" smtClean="0">
                <a:solidFill>
                  <a:srgbClr val="FF0000"/>
                </a:solidFill>
              </a:rPr>
              <a:t>random variables </a:t>
            </a:r>
            <a:r>
              <a:rPr lang="en-US" dirty="0" smtClean="0"/>
              <a:t>in a particular set.</a:t>
            </a:r>
          </a:p>
          <a:p>
            <a:r>
              <a:rPr lang="en-US" dirty="0" smtClean="0"/>
              <a:t> It is a classifier with no dependency on attributes </a:t>
            </a:r>
            <a:r>
              <a:rPr lang="en-US" dirty="0" err="1" smtClean="0"/>
              <a:t>i.e</a:t>
            </a:r>
            <a:r>
              <a:rPr lang="en-US" dirty="0" smtClean="0"/>
              <a:t> it is condition independent.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Bayesian belief network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The Bayesian Belief Network (BBN) is a </a:t>
            </a:r>
            <a:r>
              <a:rPr lang="en-US" dirty="0" smtClean="0">
                <a:hlinkClick r:id="rId2"/>
              </a:rPr>
              <a:t>crucial framework technology</a:t>
            </a:r>
            <a:r>
              <a:rPr lang="en-US" dirty="0" smtClean="0"/>
              <a:t> that deals with probabilistic events to resolve an issue that has any given uncertainty.</a:t>
            </a:r>
          </a:p>
          <a:p>
            <a:r>
              <a:rPr lang="en-US" dirty="0" smtClean="0"/>
              <a:t> A probabilistic graphical model visually presents variables and their unique dependencies through a directed graph with no directed cycles (DAG). 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Bayesian Belief Network Example</a:t>
            </a:r>
            <a:endParaRPr lang="en-IN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1838" t="28814" r="34316" b="20339"/>
          <a:stretch>
            <a:fillRect/>
          </a:stretch>
        </p:blipFill>
        <p:spPr bwMode="auto">
          <a:xfrm>
            <a:off x="838200" y="1600200"/>
            <a:ext cx="731774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BBN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32331" t="25424" r="40987" b="33898"/>
          <a:stretch>
            <a:fillRect/>
          </a:stretch>
        </p:blipFill>
        <p:spPr bwMode="auto">
          <a:xfrm>
            <a:off x="1676400" y="1524000"/>
            <a:ext cx="5943600" cy="509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BBN Example</a:t>
            </a:r>
            <a:endParaRPr lang="en-IN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6602" t="28814" r="37175" b="22034"/>
          <a:stretch>
            <a:fillRect/>
          </a:stretch>
        </p:blipFill>
        <p:spPr bwMode="auto">
          <a:xfrm>
            <a:off x="609600" y="1676400"/>
            <a:ext cx="8050924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 of an alarm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18037" t="22034" r="59093" b="32203"/>
          <a:stretch>
            <a:fillRect/>
          </a:stretch>
        </p:blipFill>
        <p:spPr bwMode="auto">
          <a:xfrm>
            <a:off x="1600200" y="1752600"/>
            <a:ext cx="4191000" cy="471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Probability of P1 and P2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18037" t="10169" r="60999" b="59322"/>
          <a:stretch>
            <a:fillRect/>
          </a:stretch>
        </p:blipFill>
        <p:spPr bwMode="auto">
          <a:xfrm>
            <a:off x="1143000" y="2438400"/>
            <a:ext cx="3352800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 l="18037" t="40678" r="60999" b="27119"/>
          <a:stretch>
            <a:fillRect/>
          </a:stretch>
        </p:blipFill>
        <p:spPr bwMode="auto">
          <a:xfrm>
            <a:off x="5181599" y="2590800"/>
            <a:ext cx="3068053" cy="26496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What is the probability that the alarm has sounded but neither a burglary nor fire/earthquake has occurred and both P1 and P2 call ….?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Gibbs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 smtClean="0"/>
              <a:t>Bayes</a:t>
            </a:r>
            <a:r>
              <a:rPr lang="en-US" dirty="0" smtClean="0"/>
              <a:t> optimal classifier provides best optimal.</a:t>
            </a:r>
          </a:p>
          <a:p>
            <a:r>
              <a:rPr lang="en-US" dirty="0" smtClean="0"/>
              <a:t>But it can be quite costly (if there are many hypothesis) to apply due to it computes the posterior probability for every hypothesis in H and then combines the predictions of each hypothesis to classify new instance.	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l="18037" t="57627" r="46704" b="27119"/>
          <a:stretch>
            <a:fillRect/>
          </a:stretch>
        </p:blipFill>
        <p:spPr bwMode="auto">
          <a:xfrm>
            <a:off x="1143000" y="4724400"/>
            <a:ext cx="720513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Gibbs algorithm is an alternative to </a:t>
            </a:r>
            <a:r>
              <a:rPr lang="en-US" dirty="0" err="1" smtClean="0"/>
              <a:t>bayes</a:t>
            </a:r>
            <a:r>
              <a:rPr lang="en-US" dirty="0" smtClean="0"/>
              <a:t> optimal classifier</a:t>
            </a:r>
          </a:p>
          <a:p>
            <a:r>
              <a:rPr lang="en-US" dirty="0" smtClean="0"/>
              <a:t>It provides less optimal defined as follows:</a:t>
            </a:r>
          </a:p>
          <a:p>
            <a:pPr>
              <a:buNone/>
            </a:pPr>
            <a:r>
              <a:rPr lang="en-US" dirty="0" smtClean="0"/>
              <a:t>1. choose </a:t>
            </a:r>
            <a:r>
              <a:rPr lang="en-US" dirty="0" smtClean="0">
                <a:solidFill>
                  <a:srgbClr val="FF0000"/>
                </a:solidFill>
              </a:rPr>
              <a:t>a hypothesis h from H at random</a:t>
            </a:r>
            <a:r>
              <a:rPr lang="en-US" dirty="0" smtClean="0"/>
              <a:t>, according to the posterior probability distribution over H.</a:t>
            </a:r>
          </a:p>
          <a:p>
            <a:pPr>
              <a:buNone/>
            </a:pPr>
            <a:r>
              <a:rPr lang="en-US" dirty="0" smtClean="0"/>
              <a:t>2.Use h to predict the classification of the next instance X.</a:t>
            </a: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Limitation: The expected value of the error of Gibbs algorithm is at worst twice the expected value of the error of the </a:t>
            </a:r>
            <a:r>
              <a:rPr lang="en-US" dirty="0" err="1" smtClean="0"/>
              <a:t>Bayes</a:t>
            </a:r>
            <a:r>
              <a:rPr lang="en-US" dirty="0" smtClean="0"/>
              <a:t> optimal classifier.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 l="13273" t="57627" r="50516" b="28814"/>
          <a:stretch>
            <a:fillRect/>
          </a:stretch>
        </p:blipFill>
        <p:spPr bwMode="auto">
          <a:xfrm>
            <a:off x="1295400" y="3200400"/>
            <a:ext cx="6248400" cy="1315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Minimum description length (MDL)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Minimum description length (MDL), which originated from algorithmic coding theory in computer science, regards both </a:t>
            </a:r>
            <a:r>
              <a:rPr lang="en-US" dirty="0" smtClean="0">
                <a:solidFill>
                  <a:srgbClr val="FF0000"/>
                </a:solidFill>
              </a:rPr>
              <a:t>model and data as codes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 Any data set can be appropriately encoded with the help of a model, and that the more we </a:t>
            </a:r>
            <a:r>
              <a:rPr lang="en-US" dirty="0" smtClean="0">
                <a:solidFill>
                  <a:srgbClr val="FF0000"/>
                </a:solidFill>
              </a:rPr>
              <a:t>compress the data by extracting </a:t>
            </a:r>
            <a:r>
              <a:rPr lang="en-US" dirty="0" smtClean="0"/>
              <a:t>redundancy from it, the </a:t>
            </a:r>
            <a:r>
              <a:rPr lang="en-US" dirty="0" smtClean="0">
                <a:solidFill>
                  <a:srgbClr val="FF0000"/>
                </a:solidFill>
              </a:rPr>
              <a:t>more we uncover </a:t>
            </a:r>
            <a:r>
              <a:rPr lang="en-US" dirty="0" smtClean="0"/>
              <a:t>underlying regularities in the data.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Thus, code length is directly related to the generalization capability of the model, where the model that provides the shortest description of the data should be chosen. </a:t>
            </a:r>
          </a:p>
          <a:p>
            <a:r>
              <a:rPr lang="en-US" dirty="0" smtClean="0"/>
              <a:t>Formally, the total description length of a model is given by</a:t>
            </a:r>
          </a:p>
          <a:p>
            <a:pPr>
              <a:buNone/>
            </a:pPr>
            <a:r>
              <a:rPr lang="en-US" dirty="0" smtClean="0"/>
              <a:t>          </a:t>
            </a:r>
            <a:r>
              <a:rPr lang="en-US" dirty="0" smtClean="0">
                <a:solidFill>
                  <a:srgbClr val="FF0000"/>
                </a:solidFill>
              </a:rPr>
              <a:t>MDL=L(</a:t>
            </a:r>
            <a:r>
              <a:rPr lang="en-US" dirty="0" err="1" smtClean="0">
                <a:solidFill>
                  <a:srgbClr val="FF0000"/>
                </a:solidFill>
              </a:rPr>
              <a:t>data|model</a:t>
            </a:r>
            <a:r>
              <a:rPr lang="en-US" dirty="0" smtClean="0">
                <a:solidFill>
                  <a:srgbClr val="FF0000"/>
                </a:solidFill>
              </a:rPr>
              <a:t>)+L(model)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143000"/>
            <a:ext cx="8153400" cy="4953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dirty="0" smtClean="0">
                <a:solidFill>
                  <a:srgbClr val="FF0000"/>
                </a:solidFill>
              </a:rPr>
              <a:t>Expectation-Maximization (EM) </a:t>
            </a:r>
            <a:r>
              <a:rPr lang="en-US" dirty="0" smtClean="0"/>
              <a:t>algorithm is an iterative optimization method that combines different </a:t>
            </a:r>
            <a:r>
              <a:rPr lang="en-US" u="sng" dirty="0" smtClean="0">
                <a:hlinkClick r:id="rId2"/>
              </a:rPr>
              <a:t>unsupervised</a:t>
            </a:r>
            <a:r>
              <a:rPr lang="en-US" dirty="0" smtClean="0"/>
              <a:t> </a:t>
            </a:r>
            <a:r>
              <a:rPr lang="en-US" u="sng" dirty="0" smtClean="0">
                <a:hlinkClick r:id="rId3"/>
              </a:rPr>
              <a:t>machine learning</a:t>
            </a:r>
            <a:r>
              <a:rPr lang="en-US" dirty="0" smtClean="0"/>
              <a:t> algorithms to find </a:t>
            </a:r>
            <a:r>
              <a:rPr lang="en-US" dirty="0" smtClean="0">
                <a:solidFill>
                  <a:srgbClr val="FF0000"/>
                </a:solidFill>
              </a:rPr>
              <a:t>maximum likelihood or maximum posterior </a:t>
            </a:r>
            <a:r>
              <a:rPr lang="en-US" dirty="0" smtClean="0"/>
              <a:t>estimates of parameters in statistical models that involve unobserved latent variables.</a:t>
            </a:r>
          </a:p>
          <a:p>
            <a:r>
              <a:rPr lang="en-US" dirty="0" smtClean="0"/>
              <a:t>The EM algorithm is commonly used for latent variable models and can handle missing data. It consists of an </a:t>
            </a:r>
            <a:r>
              <a:rPr lang="en-US" dirty="0" smtClean="0">
                <a:solidFill>
                  <a:srgbClr val="FF0000"/>
                </a:solidFill>
              </a:rPr>
              <a:t>estimation step (E-step)</a:t>
            </a:r>
            <a:r>
              <a:rPr lang="en-US" dirty="0" smtClean="0"/>
              <a:t> and a </a:t>
            </a:r>
            <a:r>
              <a:rPr lang="en-US" dirty="0" smtClean="0">
                <a:solidFill>
                  <a:srgbClr val="FF0000"/>
                </a:solidFill>
              </a:rPr>
              <a:t>maximization step (M-step), </a:t>
            </a:r>
            <a:r>
              <a:rPr lang="en-US" dirty="0" smtClean="0"/>
              <a:t>forming an iterative process to improve model fit.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Latent variable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A latent variable is a hidden, unobservable characteristic or feature that influences the observable data but cannot be measured directly. </a:t>
            </a:r>
          </a:p>
          <a:p>
            <a:r>
              <a:rPr lang="en-IN" dirty="0" smtClean="0"/>
              <a:t>Models infer these latent variables from observed data to uncover underlying patterns and create more abstract, condensed representations of information.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In the E step, the algorithm computes the latent variables i.e. expectation of the log-likelihood using the current parameter estimates.</a:t>
            </a:r>
          </a:p>
          <a:p>
            <a:r>
              <a:rPr lang="en-US" dirty="0" smtClean="0"/>
              <a:t>In the M step, the algorithm determines the parameters that maximize the expected log-likelihood obtained in the E step, and corresponding model parameters are updated based on the estimated latent variables. 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 Algorithm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22802" t="13559" r="32411" b="49153"/>
          <a:stretch>
            <a:fillRect/>
          </a:stretch>
        </p:blipFill>
        <p:spPr bwMode="auto">
          <a:xfrm>
            <a:off x="685800" y="1981200"/>
            <a:ext cx="7730836" cy="36186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 Algorithm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l="25661" t="16949" r="35269" b="35593"/>
          <a:stretch>
            <a:fillRect/>
          </a:stretch>
        </p:blipFill>
        <p:spPr bwMode="auto">
          <a:xfrm>
            <a:off x="1142999" y="1676400"/>
            <a:ext cx="6696435" cy="4979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Algorithm in steps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fontAlgn="base"/>
            <a:r>
              <a:rPr lang="en-US" b="1" dirty="0" smtClean="0"/>
              <a:t>Initialization:</a:t>
            </a:r>
            <a:endParaRPr lang="en-US" dirty="0" smtClean="0"/>
          </a:p>
          <a:p>
            <a:pPr lvl="1" fontAlgn="base"/>
            <a:r>
              <a:rPr lang="en-US" dirty="0" smtClean="0"/>
              <a:t>Initially, a set of initial values of the parameters are considered.</a:t>
            </a:r>
          </a:p>
          <a:p>
            <a:pPr lvl="1" fontAlgn="base"/>
            <a:r>
              <a:rPr lang="en-US" dirty="0" smtClean="0"/>
              <a:t> A set of incomplete observed data is given to the system with the assumption that the observed data comes from a specific model.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914400"/>
            <a:ext cx="8153400" cy="5486400"/>
          </a:xfrm>
        </p:spPr>
        <p:txBody>
          <a:bodyPr>
            <a:normAutofit/>
          </a:bodyPr>
          <a:lstStyle/>
          <a:p>
            <a:pPr fontAlgn="base"/>
            <a:r>
              <a:rPr lang="en-US" b="1" dirty="0" smtClean="0"/>
              <a:t>E-Step (Expectation Step):</a:t>
            </a:r>
            <a:r>
              <a:rPr lang="en-US" dirty="0" smtClean="0"/>
              <a:t> In this step, we use the observed data in order to estimate or guess the values of the missing or incomplete data. It is basically used to update the variables. </a:t>
            </a:r>
          </a:p>
          <a:p>
            <a:pPr lvl="1" fontAlgn="base"/>
            <a:r>
              <a:rPr lang="en-US" dirty="0" smtClean="0"/>
              <a:t>Compute the </a:t>
            </a:r>
            <a:r>
              <a:rPr lang="en-US" dirty="0" smtClean="0">
                <a:solidFill>
                  <a:srgbClr val="FF0000"/>
                </a:solidFill>
              </a:rPr>
              <a:t>posterior probability or responsibility </a:t>
            </a:r>
            <a:r>
              <a:rPr lang="en-US" dirty="0" smtClean="0"/>
              <a:t>of each latent variable given the observed data and current parameter estimates.</a:t>
            </a:r>
          </a:p>
          <a:p>
            <a:pPr lvl="1" fontAlgn="base"/>
            <a:r>
              <a:rPr lang="en-US" dirty="0" smtClean="0"/>
              <a:t>Estimate </a:t>
            </a:r>
            <a:r>
              <a:rPr lang="en-US" dirty="0" smtClean="0">
                <a:solidFill>
                  <a:srgbClr val="FF0000"/>
                </a:solidFill>
              </a:rPr>
              <a:t>the missing or incomplete data values </a:t>
            </a:r>
            <a:r>
              <a:rPr lang="en-US" dirty="0" smtClean="0"/>
              <a:t>using the current parameter estimates.</a:t>
            </a:r>
          </a:p>
          <a:p>
            <a:pPr lvl="1" fontAlgn="base"/>
            <a:r>
              <a:rPr lang="en-US" dirty="0" smtClean="0"/>
              <a:t>Compute the </a:t>
            </a:r>
            <a:r>
              <a:rPr lang="en-US" dirty="0" smtClean="0">
                <a:solidFill>
                  <a:srgbClr val="FF0000"/>
                </a:solidFill>
              </a:rPr>
              <a:t>log-likelihood of the observed data based on the current parameter estimates </a:t>
            </a:r>
            <a:r>
              <a:rPr lang="en-US" dirty="0" smtClean="0"/>
              <a:t>and estimated missing data.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685800"/>
            <a:ext cx="8153400" cy="5410200"/>
          </a:xfrm>
        </p:spPr>
        <p:txBody>
          <a:bodyPr>
            <a:normAutofit lnSpcReduction="10000"/>
          </a:bodyPr>
          <a:lstStyle/>
          <a:p>
            <a:pPr fontAlgn="base"/>
            <a:r>
              <a:rPr lang="en-US" b="1" dirty="0" smtClean="0"/>
              <a:t>M-step (Maximization Step):</a:t>
            </a:r>
            <a:r>
              <a:rPr lang="en-US" dirty="0" smtClean="0"/>
              <a:t> In this step, we use the complete data generated in the preceding “Expectation” – step in order to update the values of the parameters. It is basically used to update the hypothesis.</a:t>
            </a:r>
          </a:p>
          <a:p>
            <a:pPr lvl="1" fontAlgn="base"/>
            <a:r>
              <a:rPr lang="en-US" dirty="0" smtClean="0"/>
              <a:t>Update the parameters of the model by maximizing the expected complete data </a:t>
            </a:r>
            <a:r>
              <a:rPr lang="en-US" dirty="0" smtClean="0">
                <a:solidFill>
                  <a:srgbClr val="FF0000"/>
                </a:solidFill>
              </a:rPr>
              <a:t>log-likelihood</a:t>
            </a:r>
            <a:r>
              <a:rPr lang="en-US" dirty="0" smtClean="0"/>
              <a:t> obtained from the E-step.</a:t>
            </a:r>
          </a:p>
          <a:p>
            <a:pPr lvl="1" fontAlgn="base"/>
            <a:r>
              <a:rPr lang="en-US" dirty="0" smtClean="0"/>
              <a:t>This typically involves solving optimization problems to find the parameter values that </a:t>
            </a:r>
            <a:r>
              <a:rPr lang="en-US" dirty="0" smtClean="0">
                <a:solidFill>
                  <a:srgbClr val="FF0000"/>
                </a:solidFill>
              </a:rPr>
              <a:t>maximize the log-likelihood.</a:t>
            </a:r>
          </a:p>
          <a:p>
            <a:pPr lvl="1" fontAlgn="base"/>
            <a:r>
              <a:rPr lang="en-US" dirty="0" smtClean="0"/>
              <a:t>The specific optimization technique used depends on the </a:t>
            </a:r>
            <a:r>
              <a:rPr lang="en-US" dirty="0" smtClean="0">
                <a:solidFill>
                  <a:srgbClr val="FF0000"/>
                </a:solidFill>
              </a:rPr>
              <a:t>nature of the problem</a:t>
            </a:r>
            <a:r>
              <a:rPr lang="en-US" dirty="0" smtClean="0"/>
              <a:t> and the model being used.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990600" y="762000"/>
            <a:ext cx="8153400" cy="5562600"/>
          </a:xfrm>
        </p:spPr>
        <p:txBody>
          <a:bodyPr>
            <a:normAutofit/>
          </a:bodyPr>
          <a:lstStyle/>
          <a:p>
            <a:pPr fontAlgn="base"/>
            <a:r>
              <a:rPr lang="en-US" b="1" dirty="0" smtClean="0"/>
              <a:t>Convergence</a:t>
            </a:r>
            <a:r>
              <a:rPr lang="en-US" dirty="0" smtClean="0"/>
              <a:t>: In this step, it is checked whether the values are converging or not, if yes, then stop otherwise repeat </a:t>
            </a:r>
            <a:r>
              <a:rPr lang="en-US" i="1" dirty="0" smtClean="0"/>
              <a:t>step-2</a:t>
            </a:r>
            <a:r>
              <a:rPr lang="en-US" dirty="0" smtClean="0"/>
              <a:t> and </a:t>
            </a:r>
            <a:r>
              <a:rPr lang="en-US" i="1" dirty="0" smtClean="0"/>
              <a:t>step-3</a:t>
            </a:r>
            <a:r>
              <a:rPr lang="en-US" dirty="0" smtClean="0"/>
              <a:t> i.e. “Expectation” – step and “Maximization” – step until the convergence occurs.</a:t>
            </a:r>
          </a:p>
          <a:p>
            <a:pPr lvl="1" fontAlgn="base"/>
            <a:r>
              <a:rPr lang="en-US" dirty="0" smtClean="0"/>
              <a:t>Check for convergence by comparing the change in log-likelihood or the parameter values between iterations.</a:t>
            </a:r>
          </a:p>
          <a:p>
            <a:pPr lvl="1" fontAlgn="base"/>
            <a:r>
              <a:rPr lang="en-US" dirty="0" smtClean="0"/>
              <a:t>If the change is </a:t>
            </a:r>
            <a:r>
              <a:rPr lang="en-US" dirty="0" smtClean="0">
                <a:solidFill>
                  <a:srgbClr val="FF0000"/>
                </a:solidFill>
              </a:rPr>
              <a:t>below a predefined threshold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stop</a:t>
            </a:r>
            <a:r>
              <a:rPr lang="en-US" dirty="0" smtClean="0"/>
              <a:t> and consider the algorithm converged.</a:t>
            </a:r>
          </a:p>
          <a:p>
            <a:pPr lvl="1" fontAlgn="base"/>
            <a:r>
              <a:rPr lang="en-US" dirty="0" smtClean="0"/>
              <a:t>Otherwise, </a:t>
            </a:r>
            <a:r>
              <a:rPr lang="en-US" dirty="0" smtClean="0">
                <a:solidFill>
                  <a:srgbClr val="FF0000"/>
                </a:solidFill>
              </a:rPr>
              <a:t>go back to the E-step </a:t>
            </a:r>
            <a:r>
              <a:rPr lang="en-US" dirty="0" smtClean="0"/>
              <a:t>and repeat the process until convergence is achieved.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0"/>
            <a:ext cx="8143875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00718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914400"/>
            <a:ext cx="8427993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64472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90600"/>
            <a:ext cx="8339603" cy="4395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857501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0" y="838200"/>
            <a:ext cx="8901403" cy="4719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3562164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914400"/>
            <a:ext cx="8832220" cy="4643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353389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990600"/>
            <a:ext cx="8381999" cy="4386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42625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381999" cy="594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5035038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077200" cy="5867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515957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8229600" cy="601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44908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838201"/>
            <a:ext cx="8382000" cy="6019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9892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3106</TotalTime>
  <Words>1203</Words>
  <Application>Microsoft Office PowerPoint</Application>
  <PresentationFormat>On-screen Show (4:3)</PresentationFormat>
  <Paragraphs>161</Paragraphs>
  <Slides>64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5" baseType="lpstr">
      <vt:lpstr>Median</vt:lpstr>
      <vt:lpstr>Bayesian Theorem</vt:lpstr>
      <vt:lpstr>Introduction </vt:lpstr>
      <vt:lpstr>PowerPoint Presentation</vt:lpstr>
      <vt:lpstr>PowerPoint Presentation</vt:lpstr>
      <vt:lpstr>Baye’s theorem</vt:lpstr>
      <vt:lpstr>Bayes Theorem</vt:lpstr>
      <vt:lpstr>Bayes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Bayes optimal classifier</vt:lpstr>
      <vt:lpstr>PowerPoint Presentation</vt:lpstr>
      <vt:lpstr>PowerPoint Presentation</vt:lpstr>
      <vt:lpstr>Naïve Bayesian classiﬁer.   </vt:lpstr>
      <vt:lpstr> Naїve Bayesian Classiﬁcation </vt:lpstr>
      <vt:lpstr> Naїve Bayesian Classiﬁcation </vt:lpstr>
      <vt:lpstr> Naїve Bayesian Classiﬁcation </vt:lpstr>
      <vt:lpstr> Naїve Bayesian Classiﬁcation </vt:lpstr>
      <vt:lpstr> Naїve Bayesian Classiﬁcation </vt:lpstr>
      <vt:lpstr> Predict a class label using Naїve Bayesian Classiﬁcation </vt:lpstr>
      <vt:lpstr> Naїve Bayesian Classiﬁcation </vt:lpstr>
      <vt:lpstr> Naїve Bayesian Classiﬁcation </vt:lpstr>
      <vt:lpstr> Naїve Bayesian Classiﬁcation </vt:lpstr>
      <vt:lpstr>Bayesian Belief Network</vt:lpstr>
      <vt:lpstr>Bayesian belief network</vt:lpstr>
      <vt:lpstr>Bayesian Belief Network Example</vt:lpstr>
      <vt:lpstr> BBN</vt:lpstr>
      <vt:lpstr>BBN Example</vt:lpstr>
      <vt:lpstr>Probability of an alarm</vt:lpstr>
      <vt:lpstr>Probability of P1 and P2</vt:lpstr>
      <vt:lpstr>Problem </vt:lpstr>
      <vt:lpstr>Gibbs Algorithm</vt:lpstr>
      <vt:lpstr>PowerPoint Presentation</vt:lpstr>
      <vt:lpstr>PowerPoint Presentation</vt:lpstr>
      <vt:lpstr>Minimum description length (MDL)</vt:lpstr>
      <vt:lpstr>PowerPoint Presentation</vt:lpstr>
      <vt:lpstr>EM Algorithm</vt:lpstr>
      <vt:lpstr>Latent variable</vt:lpstr>
      <vt:lpstr>PowerPoint Presentation</vt:lpstr>
      <vt:lpstr>EM Algorithm</vt:lpstr>
      <vt:lpstr>EM Algorithm</vt:lpstr>
      <vt:lpstr>Algorithm in steps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Bayesian Theorem</dc:title>
  <dc:creator>Windows User</dc:creator>
  <cp:lastModifiedBy>Windows User</cp:lastModifiedBy>
  <cp:revision>83</cp:revision>
  <dcterms:created xsi:type="dcterms:W3CDTF">2024-09-04T06:02:21Z</dcterms:created>
  <dcterms:modified xsi:type="dcterms:W3CDTF">2026-02-17T22:40:25Z</dcterms:modified>
</cp:coreProperties>
</file>
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57" r:id="rId4"/>
    <p:sldId id="259" r:id="rId5"/>
    <p:sldId id="260" r:id="rId6"/>
    <p:sldId id="261" r:id="rId7"/>
    <p:sldId id="262" r:id="rId8"/>
    <p:sldId id="266" r:id="rId9"/>
    <p:sldId id="267" r:id="rId10"/>
    <p:sldId id="271" r:id="rId11"/>
    <p:sldId id="263" r:id="rId12"/>
    <p:sldId id="264" r:id="rId13"/>
    <p:sldId id="265" r:id="rId14"/>
    <p:sldId id="269" r:id="rId15"/>
    <p:sldId id="270" r:id="rId16"/>
    <p:sldId id="273" r:id="rId17"/>
    <p:sldId id="272" r:id="rId18"/>
    <p:sldId id="274" r:id="rId19"/>
    <p:sldId id="275" r:id="rId20"/>
    <p:sldId id="276" r:id="rId21"/>
    <p:sldId id="278"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1994958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3614437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3072931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E9B56BF-AABD-4157-A753-2DEB8F7762E0}"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280345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E9B56BF-AABD-4157-A753-2DEB8F7762E0}"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1080950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324702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886064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1772065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9B56BF-AABD-4157-A753-2DEB8F7762E0}"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128223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9B56BF-AABD-4157-A753-2DEB8F7762E0}"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156623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3294839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67952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3729310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12175225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2268102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910983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E9B56BF-AABD-4157-A753-2DEB8F7762E0}"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0E25C2-0E7A-463F-AB44-F2870649DF83}" type="slidenum">
              <a:rPr lang="en-US" smtClean="0"/>
              <a:t>‹#›</a:t>
            </a:fld>
            <a:endParaRPr lang="en-US"/>
          </a:p>
        </p:txBody>
      </p:sp>
    </p:spTree>
    <p:extLst>
      <p:ext uri="{BB962C8B-B14F-4D97-AF65-F5344CB8AC3E}">
        <p14:creationId xmlns:p14="http://schemas.microsoft.com/office/powerpoint/2010/main" val="299094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E9B56BF-AABD-4157-A753-2DEB8F7762E0}" type="datetimeFigureOut">
              <a:rPr lang="en-US" smtClean="0"/>
              <a:t>9/9/2024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D0E25C2-0E7A-463F-AB44-F2870649DF83}" type="slidenum">
              <a:rPr lang="en-US" smtClean="0"/>
              <a:t>‹#›</a:t>
            </a:fld>
            <a:endParaRPr lang="en-US"/>
          </a:p>
        </p:txBody>
      </p:sp>
    </p:spTree>
    <p:extLst>
      <p:ext uri="{BB962C8B-B14F-4D97-AF65-F5344CB8AC3E}">
        <p14:creationId xmlns:p14="http://schemas.microsoft.com/office/powerpoint/2010/main" val="359330919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078" y="563870"/>
            <a:ext cx="8825658" cy="3329581"/>
          </a:xfrm>
        </p:spPr>
        <p:txBody>
          <a:bodyPr/>
          <a:lstStyle/>
          <a:p>
            <a:r>
              <a:rPr lang="en-US" dirty="0" smtClean="0"/>
              <a:t>Views -SQL</a:t>
            </a:r>
            <a:endParaRPr lang="en-US" dirty="0"/>
          </a:p>
        </p:txBody>
      </p:sp>
      <p:sp>
        <p:nvSpPr>
          <p:cNvPr id="3" name="Subtitle 2"/>
          <p:cNvSpPr>
            <a:spLocks noGrp="1"/>
          </p:cNvSpPr>
          <p:nvPr>
            <p:ph type="subTitle" idx="1"/>
          </p:nvPr>
        </p:nvSpPr>
        <p:spPr>
          <a:xfrm>
            <a:off x="499863" y="4094992"/>
            <a:ext cx="8825658" cy="861420"/>
          </a:xfrm>
        </p:spPr>
        <p:txBody>
          <a:bodyPr/>
          <a:lstStyle/>
          <a:p>
            <a:r>
              <a:rPr lang="en-US" dirty="0" smtClean="0"/>
              <a:t>K Krishna </a:t>
            </a:r>
            <a:r>
              <a:rPr lang="en-US" dirty="0" err="1" smtClean="0"/>
              <a:t>priya</a:t>
            </a:r>
            <a:endParaRPr lang="en-US" dirty="0" smtClean="0"/>
          </a:p>
          <a:p>
            <a:r>
              <a:rPr lang="en-US" dirty="0" err="1" smtClean="0"/>
              <a:t>Cse</a:t>
            </a:r>
            <a:r>
              <a:rPr lang="en-US" dirty="0" smtClean="0"/>
              <a:t> </a:t>
            </a:r>
            <a:r>
              <a:rPr lang="en-US" dirty="0" err="1" smtClean="0"/>
              <a:t>department,iiit</a:t>
            </a:r>
            <a:r>
              <a:rPr lang="en-US" dirty="0" smtClean="0"/>
              <a:t> </a:t>
            </a:r>
            <a:r>
              <a:rPr lang="en-US" dirty="0" err="1" smtClean="0"/>
              <a:t>nuzvid</a:t>
            </a:r>
            <a:endParaRPr lang="en-US" dirty="0"/>
          </a:p>
        </p:txBody>
      </p:sp>
      <p:pic>
        <p:nvPicPr>
          <p:cNvPr id="4" name="Picture 3"/>
          <p:cNvPicPr>
            <a:picLocks noChangeAspect="1"/>
          </p:cNvPicPr>
          <p:nvPr/>
        </p:nvPicPr>
        <p:blipFill>
          <a:blip r:embed="rId2"/>
          <a:stretch>
            <a:fillRect/>
          </a:stretch>
        </p:blipFill>
        <p:spPr>
          <a:xfrm>
            <a:off x="5063461" y="563870"/>
            <a:ext cx="6400658" cy="5908300"/>
          </a:xfrm>
          <a:prstGeom prst="rect">
            <a:avLst/>
          </a:prstGeom>
        </p:spPr>
      </p:pic>
    </p:spTree>
    <p:extLst>
      <p:ext uri="{BB962C8B-B14F-4D97-AF65-F5344CB8AC3E}">
        <p14:creationId xmlns:p14="http://schemas.microsoft.com/office/powerpoint/2010/main" val="589853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View in DBMS?</a:t>
            </a:r>
            <a:br>
              <a:rPr lang="en-US" b="1" dirty="0"/>
            </a:br>
            <a:endParaRPr lang="en-US" dirty="0"/>
          </a:p>
        </p:txBody>
      </p:sp>
      <p:sp>
        <p:nvSpPr>
          <p:cNvPr id="3" name="Content Placeholder 2"/>
          <p:cNvSpPr>
            <a:spLocks noGrp="1"/>
          </p:cNvSpPr>
          <p:nvPr>
            <p:ph idx="1"/>
          </p:nvPr>
        </p:nvSpPr>
        <p:spPr>
          <a:xfrm>
            <a:off x="407277" y="1569492"/>
            <a:ext cx="10756592" cy="4897271"/>
          </a:xfrm>
        </p:spPr>
        <p:txBody>
          <a:bodyPr>
            <a:normAutofit/>
          </a:bodyPr>
          <a:lstStyle/>
          <a:p>
            <a:r>
              <a:rPr lang="en-US" dirty="0"/>
              <a:t>Writing Complex queries and Securing Database access is very challenging for any Database Developer and Database Administrator. </a:t>
            </a:r>
            <a:endParaRPr lang="en-US" dirty="0" smtClean="0"/>
          </a:p>
          <a:p>
            <a:r>
              <a:rPr lang="en-US" dirty="0" smtClean="0"/>
              <a:t>Sometimes </a:t>
            </a:r>
            <a:r>
              <a:rPr lang="en-US" dirty="0"/>
              <a:t>SQL queries get very complicated by joins, Group By clauses, and other referential dependencies, So those Types of queries can be simplified to proxy data or virtual data which simplifies the queries</a:t>
            </a:r>
            <a:r>
              <a:rPr lang="en-US" dirty="0" smtClean="0"/>
              <a:t>.</a:t>
            </a:r>
          </a:p>
          <a:p>
            <a:r>
              <a:rPr lang="en-US" dirty="0"/>
              <a:t>Also, Security challenges can also be overcome by giving restricted access to only the data user needs. Let's take an example to understand this better. </a:t>
            </a:r>
            <a:endParaRPr lang="en-US" dirty="0" smtClean="0"/>
          </a:p>
          <a:p>
            <a:r>
              <a:rPr lang="en-US" dirty="0" smtClean="0"/>
              <a:t>Suppose</a:t>
            </a:r>
            <a:r>
              <a:rPr lang="en-US" dirty="0"/>
              <a:t>, the user needs only 2 columns of data, so instead of giving him access to the whole table in the database, the Database Administrator can easily create a virtual table of 2 columns that the user needs using the views. </a:t>
            </a:r>
            <a:endParaRPr lang="en-US" dirty="0" smtClean="0"/>
          </a:p>
          <a:p>
            <a:r>
              <a:rPr lang="en-US" dirty="0" smtClean="0"/>
              <a:t>This </a:t>
            </a:r>
            <a:r>
              <a:rPr lang="en-US" dirty="0"/>
              <a:t>will not give full access to the table and the user is only seeing the projection of only 2 columns and it keeps the database secure.</a:t>
            </a:r>
          </a:p>
        </p:txBody>
      </p:sp>
    </p:spTree>
    <p:extLst>
      <p:ext uri="{BB962C8B-B14F-4D97-AF65-F5344CB8AC3E}">
        <p14:creationId xmlns:p14="http://schemas.microsoft.com/office/powerpoint/2010/main" val="3930474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Views in DBMS</a:t>
            </a:r>
            <a:br>
              <a:rPr lang="en-US" b="1" dirty="0"/>
            </a:br>
            <a:endParaRPr lang="en-US" dirty="0"/>
          </a:p>
        </p:txBody>
      </p:sp>
      <p:sp>
        <p:nvSpPr>
          <p:cNvPr id="3" name="Content Placeholder 2"/>
          <p:cNvSpPr>
            <a:spLocks noGrp="1"/>
          </p:cNvSpPr>
          <p:nvPr>
            <p:ph idx="1"/>
          </p:nvPr>
        </p:nvSpPr>
        <p:spPr>
          <a:xfrm>
            <a:off x="337626" y="1237958"/>
            <a:ext cx="11577710" cy="5010442"/>
          </a:xfrm>
        </p:spPr>
        <p:txBody>
          <a:bodyPr>
            <a:normAutofit/>
          </a:bodyPr>
          <a:lstStyle/>
          <a:p>
            <a:r>
              <a:rPr lang="en-US" sz="2400" dirty="0"/>
              <a:t>A view is a table whose rows are not explicitly stored, a view is a virtual table based on the result-set of an SQL statement. </a:t>
            </a:r>
            <a:endParaRPr lang="en-US" sz="2400" dirty="0" smtClean="0"/>
          </a:p>
          <a:p>
            <a:r>
              <a:rPr lang="en-US" sz="2400" dirty="0"/>
              <a:t>A view can contain all rows of a table or select rows from a table. A view can be created from one or many tables which depends on the written SQL query to create a view</a:t>
            </a:r>
            <a:r>
              <a:rPr lang="en-US" sz="2400" dirty="0" smtClean="0"/>
              <a:t>.</a:t>
            </a:r>
          </a:p>
          <a:p>
            <a:r>
              <a:rPr lang="en-US" sz="2400" dirty="0"/>
              <a:t>We can visualize views in DBMS as some kind of virtual tables that are like projections of data fields from original tables and are not actual tables of the database. We can extract some specific data from multiple tables based on our needs using views</a:t>
            </a:r>
            <a:r>
              <a:rPr lang="en-US" sz="2400" dirty="0" smtClean="0"/>
              <a:t>.</a:t>
            </a:r>
          </a:p>
          <a:p>
            <a:r>
              <a:rPr lang="en-US" sz="2400" dirty="0"/>
              <a:t>Views act as a proxy or virtual table created from the original table.</a:t>
            </a:r>
          </a:p>
          <a:p>
            <a:r>
              <a:rPr lang="en-US" sz="2400" dirty="0"/>
              <a:t> Views simplify SQL queries and allow secure access to underlying tables.</a:t>
            </a:r>
          </a:p>
        </p:txBody>
      </p:sp>
    </p:spTree>
    <p:extLst>
      <p:ext uri="{BB962C8B-B14F-4D97-AF65-F5344CB8AC3E}">
        <p14:creationId xmlns:p14="http://schemas.microsoft.com/office/powerpoint/2010/main" val="85766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6" y="452718"/>
            <a:ext cx="4355792" cy="5768385"/>
          </a:xfrm>
        </p:spPr>
        <p:txBody>
          <a:bodyPr>
            <a:noAutofit/>
          </a:bodyPr>
          <a:lstStyle/>
          <a:p>
            <a:r>
              <a:rPr lang="en-US" sz="2400" dirty="0" smtClean="0"/>
              <a:t>Views </a:t>
            </a:r>
            <a:r>
              <a:rPr lang="en-US" sz="2400" dirty="0"/>
              <a:t>in DBMS can be visualized as virtual tables that are formed by original tables from the database</a:t>
            </a:r>
            <a:r>
              <a:rPr lang="en-US" sz="2400" dirty="0" smtClean="0"/>
              <a:t>.</a:t>
            </a:r>
          </a:p>
          <a:p>
            <a:r>
              <a:rPr lang="en-US" sz="2400" dirty="0"/>
              <a:t>As you can see from the above image, we can extract data columns from more than one table by running queries on the data tables. </a:t>
            </a:r>
            <a:endParaRPr lang="en-US" sz="2400" dirty="0" smtClean="0"/>
          </a:p>
          <a:p>
            <a:r>
              <a:rPr lang="en-US" sz="2400" dirty="0" smtClean="0"/>
              <a:t>Views </a:t>
            </a:r>
            <a:r>
              <a:rPr lang="en-US" sz="2400" dirty="0"/>
              <a:t>contain only the definition of the view data in the data dictionary, not the actual data.</a:t>
            </a:r>
          </a:p>
        </p:txBody>
      </p:sp>
      <p:pic>
        <p:nvPicPr>
          <p:cNvPr id="4" name="Picture 3"/>
          <p:cNvPicPr>
            <a:picLocks noChangeAspect="1"/>
          </p:cNvPicPr>
          <p:nvPr/>
        </p:nvPicPr>
        <p:blipFill rotWithShape="1">
          <a:blip r:embed="rId2"/>
          <a:srcRect b="14153"/>
          <a:stretch/>
        </p:blipFill>
        <p:spPr>
          <a:xfrm>
            <a:off x="4531058" y="452719"/>
            <a:ext cx="7468684" cy="6159096"/>
          </a:xfrm>
          <a:prstGeom prst="rect">
            <a:avLst/>
          </a:prstGeom>
        </p:spPr>
      </p:pic>
    </p:spTree>
    <p:extLst>
      <p:ext uri="{BB962C8B-B14F-4D97-AF65-F5344CB8AC3E}">
        <p14:creationId xmlns:p14="http://schemas.microsoft.com/office/powerpoint/2010/main" val="1852876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view has two primary purposes:</a:t>
            </a:r>
            <a:br>
              <a:rPr lang="en-US" dirty="0"/>
            </a:br>
            <a:endParaRPr lang="en-US" dirty="0"/>
          </a:p>
        </p:txBody>
      </p:sp>
      <p:sp>
        <p:nvSpPr>
          <p:cNvPr id="3" name="Content Placeholder 2"/>
          <p:cNvSpPr>
            <a:spLocks noGrp="1"/>
          </p:cNvSpPr>
          <p:nvPr>
            <p:ph idx="1"/>
          </p:nvPr>
        </p:nvSpPr>
        <p:spPr/>
        <p:txBody>
          <a:bodyPr/>
          <a:lstStyle/>
          <a:p>
            <a:r>
              <a:rPr lang="en-US" sz="4000" dirty="0" smtClean="0"/>
              <a:t>Simplifying </a:t>
            </a:r>
            <a:r>
              <a:rPr lang="en-US" sz="4000" dirty="0"/>
              <a:t>complex SQL queries.</a:t>
            </a:r>
          </a:p>
          <a:p>
            <a:r>
              <a:rPr lang="en-US" sz="4000" dirty="0"/>
              <a:t>Restricting users from accessing sensitive data.</a:t>
            </a:r>
          </a:p>
          <a:p>
            <a:endParaRPr lang="en-US" dirty="0"/>
          </a:p>
        </p:txBody>
      </p:sp>
    </p:spTree>
    <p:extLst>
      <p:ext uri="{BB962C8B-B14F-4D97-AF65-F5344CB8AC3E}">
        <p14:creationId xmlns:p14="http://schemas.microsoft.com/office/powerpoint/2010/main" val="132215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View over database tables</a:t>
            </a:r>
            <a:br>
              <a:rPr lang="en-US" b="1" dirty="0"/>
            </a:br>
            <a:endParaRPr lang="en-US" dirty="0"/>
          </a:p>
        </p:txBody>
      </p:sp>
      <p:sp>
        <p:nvSpPr>
          <p:cNvPr id="3" name="Content Placeholder 2"/>
          <p:cNvSpPr>
            <a:spLocks noGrp="1"/>
          </p:cNvSpPr>
          <p:nvPr>
            <p:ph idx="1"/>
          </p:nvPr>
        </p:nvSpPr>
        <p:spPr/>
        <p:txBody>
          <a:bodyPr/>
          <a:lstStyle/>
          <a:p>
            <a:r>
              <a:rPr lang="en-US" dirty="0" smtClean="0"/>
              <a:t>Using </a:t>
            </a:r>
            <a:r>
              <a:rPr lang="en-US" dirty="0"/>
              <a:t>Views, we can join multiple tables into a single virtual table. </a:t>
            </a:r>
          </a:p>
          <a:p>
            <a:r>
              <a:rPr lang="en-US" dirty="0"/>
              <a:t>Views hide data complexity.</a:t>
            </a:r>
          </a:p>
          <a:p>
            <a:r>
              <a:rPr lang="en-US" dirty="0"/>
              <a:t>In the database, views take less space than tables for storing data because the database contains only the view definition. </a:t>
            </a:r>
          </a:p>
          <a:p>
            <a:r>
              <a:rPr lang="en-US" dirty="0"/>
              <a:t>Views indicate the subset of that data, which is contained in the tables of the database. </a:t>
            </a:r>
          </a:p>
          <a:p>
            <a:endParaRPr lang="en-US" dirty="0"/>
          </a:p>
        </p:txBody>
      </p:sp>
    </p:spTree>
    <p:extLst>
      <p:ext uri="{BB962C8B-B14F-4D97-AF65-F5344CB8AC3E}">
        <p14:creationId xmlns:p14="http://schemas.microsoft.com/office/powerpoint/2010/main" val="178888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Views</a:t>
            </a:r>
            <a:br>
              <a:rPr lang="en-US" b="1" dirty="0"/>
            </a:br>
            <a:endParaRPr lang="en-US" dirty="0"/>
          </a:p>
        </p:txBody>
      </p:sp>
      <p:sp>
        <p:nvSpPr>
          <p:cNvPr id="3" name="Content Placeholder 2"/>
          <p:cNvSpPr>
            <a:spLocks noGrp="1"/>
          </p:cNvSpPr>
          <p:nvPr>
            <p:ph idx="1"/>
          </p:nvPr>
        </p:nvSpPr>
        <p:spPr>
          <a:xfrm>
            <a:off x="775765" y="1351128"/>
            <a:ext cx="10990879" cy="4651611"/>
          </a:xfrm>
        </p:spPr>
        <p:txBody>
          <a:bodyPr/>
          <a:lstStyle/>
          <a:p>
            <a:r>
              <a:rPr lang="en-US" dirty="0"/>
              <a:t>Database views are created using the CREATE VIEW statement. Views can be created from a single table, multiple tables or another view</a:t>
            </a:r>
            <a:r>
              <a:rPr lang="en-US" dirty="0" smtClean="0"/>
              <a:t>.</a:t>
            </a:r>
          </a:p>
          <a:p>
            <a:r>
              <a:rPr lang="en-US" dirty="0"/>
              <a:t>To create a view, a user must have the appropriate system privilege </a:t>
            </a:r>
            <a:r>
              <a:rPr lang="en-US" dirty="0" smtClean="0"/>
              <a:t>according </a:t>
            </a:r>
            <a:r>
              <a:rPr lang="en-US" dirty="0"/>
              <a:t>to the specific implementation</a:t>
            </a:r>
            <a:r>
              <a:rPr lang="en-US" dirty="0" smtClean="0"/>
              <a:t>.</a:t>
            </a:r>
          </a:p>
          <a:p>
            <a:r>
              <a:rPr lang="en-US" dirty="0"/>
              <a:t>The view can be created by using the CREATE VIEW statement, Views can be </a:t>
            </a:r>
            <a:r>
              <a:rPr lang="en-US" b="1" dirty="0">
                <a:solidFill>
                  <a:schemeClr val="accent1">
                    <a:lumMod val="60000"/>
                    <a:lumOff val="40000"/>
                  </a:schemeClr>
                </a:solidFill>
              </a:rPr>
              <a:t>simple or complex depending on their usage.</a:t>
            </a:r>
            <a:endParaRPr lang="en-US" b="1" dirty="0" smtClean="0">
              <a:solidFill>
                <a:schemeClr val="accent1">
                  <a:lumMod val="60000"/>
                  <a:lumOff val="40000"/>
                </a:schemeClr>
              </a:solidFill>
            </a:endParaRPr>
          </a:p>
        </p:txBody>
      </p:sp>
      <p:sp>
        <p:nvSpPr>
          <p:cNvPr id="5" name="Rectangle 4"/>
          <p:cNvSpPr/>
          <p:nvPr/>
        </p:nvSpPr>
        <p:spPr>
          <a:xfrm>
            <a:off x="646111" y="3930554"/>
            <a:ext cx="5454438" cy="256577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dirty="0"/>
              <a:t>C</a:t>
            </a:r>
            <a:r>
              <a:rPr lang="en-US" sz="2800" dirty="0" smtClean="0"/>
              <a:t>REATE VIEW view_name AS</a:t>
            </a:r>
          </a:p>
          <a:p>
            <a:pPr algn="ctr"/>
            <a:r>
              <a:rPr lang="en-US" sz="2800" dirty="0" smtClean="0"/>
              <a:t>SELECT column1, column2, ...</a:t>
            </a:r>
          </a:p>
          <a:p>
            <a:pPr algn="ctr"/>
            <a:r>
              <a:rPr lang="en-US" sz="2800" dirty="0" smtClean="0"/>
              <a:t>FROM table_name</a:t>
            </a:r>
          </a:p>
          <a:p>
            <a:pPr algn="ctr"/>
            <a:r>
              <a:rPr lang="en-US" sz="2800" dirty="0" smtClean="0"/>
              <a:t>WHERE condition;</a:t>
            </a:r>
            <a:endParaRPr lang="en-US" sz="2800" dirty="0"/>
          </a:p>
        </p:txBody>
      </p:sp>
      <p:sp>
        <p:nvSpPr>
          <p:cNvPr id="6" name="Rectangle 5"/>
          <p:cNvSpPr/>
          <p:nvPr/>
        </p:nvSpPr>
        <p:spPr>
          <a:xfrm>
            <a:off x="6312206" y="3930554"/>
            <a:ext cx="5454438" cy="25657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dirty="0" smtClean="0"/>
              <a:t>CREATE VIEW </a:t>
            </a:r>
            <a:r>
              <a:rPr lang="en-US" sz="2800" dirty="0" smtClean="0">
                <a:solidFill>
                  <a:schemeClr val="accent3"/>
                </a:solidFill>
              </a:rPr>
              <a:t>Students_CSE</a:t>
            </a:r>
            <a:r>
              <a:rPr lang="en-US" sz="2800" dirty="0" smtClean="0"/>
              <a:t> AS</a:t>
            </a:r>
          </a:p>
          <a:p>
            <a:pPr algn="ctr"/>
            <a:r>
              <a:rPr lang="en-US" sz="2800" dirty="0" smtClean="0"/>
              <a:t>SELECT </a:t>
            </a:r>
            <a:r>
              <a:rPr lang="en-US" sz="2800" dirty="0" smtClean="0">
                <a:solidFill>
                  <a:schemeClr val="accent3"/>
                </a:solidFill>
              </a:rPr>
              <a:t>Roll_no,Name</a:t>
            </a:r>
          </a:p>
          <a:p>
            <a:pPr algn="ctr"/>
            <a:r>
              <a:rPr lang="en-US" sz="2800" dirty="0" smtClean="0"/>
              <a:t>FROM </a:t>
            </a:r>
            <a:r>
              <a:rPr lang="en-US" sz="2800" dirty="0" smtClean="0">
                <a:solidFill>
                  <a:schemeClr val="accent3"/>
                </a:solidFill>
              </a:rPr>
              <a:t>Students</a:t>
            </a:r>
          </a:p>
          <a:p>
            <a:pPr algn="ctr"/>
            <a:r>
              <a:rPr lang="en-US" sz="2800" dirty="0" smtClean="0"/>
              <a:t>WHERE </a:t>
            </a:r>
            <a:r>
              <a:rPr lang="en-US" sz="2800" dirty="0" smtClean="0">
                <a:solidFill>
                  <a:schemeClr val="accent3"/>
                </a:solidFill>
              </a:rPr>
              <a:t>Branch = 'CSE</a:t>
            </a:r>
            <a:r>
              <a:rPr lang="en-US" sz="2800" dirty="0" smtClean="0"/>
              <a:t>';</a:t>
            </a:r>
            <a:endParaRPr lang="en-US" sz="2800" dirty="0"/>
          </a:p>
        </p:txBody>
      </p:sp>
    </p:spTree>
    <p:extLst>
      <p:ext uri="{BB962C8B-B14F-4D97-AF65-F5344CB8AC3E}">
        <p14:creationId xmlns:p14="http://schemas.microsoft.com/office/powerpoint/2010/main" val="3079103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811" y="401539"/>
            <a:ext cx="11398037" cy="4195481"/>
          </a:xfrm>
        </p:spPr>
        <p:txBody>
          <a:bodyPr/>
          <a:lstStyle/>
          <a:p>
            <a:r>
              <a:rPr lang="en-US" b="1" dirty="0"/>
              <a:t>Employee Table:</a:t>
            </a:r>
            <a:endParaRPr lang="en-US" dirty="0"/>
          </a:p>
          <a:p>
            <a:r>
              <a:rPr lang="en-US" dirty="0"/>
              <a:t>This table contains details of employees in a particular company and has data fields such as </a:t>
            </a:r>
            <a:r>
              <a:rPr lang="en-US" dirty="0" err="1"/>
              <a:t>EmpID</a:t>
            </a:r>
            <a:r>
              <a:rPr lang="en-US" dirty="0"/>
              <a:t>, </a:t>
            </a:r>
            <a:r>
              <a:rPr lang="en-US" dirty="0" err="1"/>
              <a:t>EmpName</a:t>
            </a:r>
            <a:r>
              <a:rPr lang="en-US" dirty="0"/>
              <a:t>, Address, Contact. We have added 6 records of employees for our purpose.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597073994"/>
              </p:ext>
            </p:extLst>
          </p:nvPr>
        </p:nvGraphicFramePr>
        <p:xfrm>
          <a:off x="967474" y="2001140"/>
          <a:ext cx="8128000" cy="259588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pPr algn="ctr"/>
                      <a:r>
                        <a:rPr lang="en-US" dirty="0" err="1">
                          <a:effectLst/>
                        </a:rPr>
                        <a:t>EmpID</a:t>
                      </a:r>
                      <a:endParaRPr lang="en-US" dirty="0">
                        <a:effectLst/>
                      </a:endParaRPr>
                    </a:p>
                  </a:txBody>
                  <a:tcPr anchor="ctr"/>
                </a:tc>
                <a:tc>
                  <a:txBody>
                    <a:bodyPr/>
                    <a:lstStyle/>
                    <a:p>
                      <a:pPr algn="ctr"/>
                      <a:r>
                        <a:rPr lang="en-US">
                          <a:effectLst/>
                        </a:rPr>
                        <a:t>EmpName</a:t>
                      </a:r>
                    </a:p>
                  </a:txBody>
                  <a:tcPr anchor="ctr"/>
                </a:tc>
                <a:tc>
                  <a:txBody>
                    <a:bodyPr/>
                    <a:lstStyle/>
                    <a:p>
                      <a:r>
                        <a:rPr lang="en-US"/>
                        <a:t>Address</a:t>
                      </a:r>
                    </a:p>
                  </a:txBody>
                  <a:tcPr anchor="ctr"/>
                </a:tc>
                <a:tc>
                  <a:txBody>
                    <a:bodyPr/>
                    <a:lstStyle/>
                    <a:p>
                      <a:pPr algn="ctr"/>
                      <a:r>
                        <a:rPr lang="en-US">
                          <a:effectLst/>
                        </a:rPr>
                        <a:t>Contact</a:t>
                      </a:r>
                    </a:p>
                  </a:txBody>
                  <a:tcPr anchor="ctr"/>
                </a:tc>
              </a:tr>
              <a:tr h="370840">
                <a:tc>
                  <a:txBody>
                    <a:bodyPr/>
                    <a:lstStyle/>
                    <a:p>
                      <a:pPr algn="ctr"/>
                      <a:r>
                        <a:rPr lang="en-US">
                          <a:effectLst/>
                        </a:rPr>
                        <a:t>1</a:t>
                      </a:r>
                    </a:p>
                  </a:txBody>
                  <a:tcPr anchor="ctr"/>
                </a:tc>
                <a:tc>
                  <a:txBody>
                    <a:bodyPr/>
                    <a:lstStyle/>
                    <a:p>
                      <a:pPr algn="ctr"/>
                      <a:r>
                        <a:rPr lang="en-US">
                          <a:effectLst/>
                        </a:rPr>
                        <a:t>Alex</a:t>
                      </a:r>
                    </a:p>
                  </a:txBody>
                  <a:tcPr anchor="ctr"/>
                </a:tc>
                <a:tc>
                  <a:txBody>
                    <a:bodyPr/>
                    <a:lstStyle/>
                    <a:p>
                      <a:r>
                        <a:rPr lang="en-US"/>
                        <a:t>London</a:t>
                      </a:r>
                    </a:p>
                  </a:txBody>
                  <a:tcPr anchor="ctr"/>
                </a:tc>
                <a:tc>
                  <a:txBody>
                    <a:bodyPr/>
                    <a:lstStyle/>
                    <a:p>
                      <a:pPr algn="ctr"/>
                      <a:r>
                        <a:rPr lang="en-US">
                          <a:effectLst/>
                        </a:rPr>
                        <a:t>05-12421969</a:t>
                      </a:r>
                    </a:p>
                  </a:txBody>
                  <a:tcPr anchor="ctr"/>
                </a:tc>
              </a:tr>
              <a:tr h="370840">
                <a:tc>
                  <a:txBody>
                    <a:bodyPr/>
                    <a:lstStyle/>
                    <a:p>
                      <a:pPr algn="ctr"/>
                      <a:r>
                        <a:rPr lang="en-US">
                          <a:effectLst/>
                        </a:rPr>
                        <a:t>2</a:t>
                      </a:r>
                    </a:p>
                  </a:txBody>
                  <a:tcPr anchor="ctr"/>
                </a:tc>
                <a:tc>
                  <a:txBody>
                    <a:bodyPr/>
                    <a:lstStyle/>
                    <a:p>
                      <a:pPr algn="ctr"/>
                      <a:r>
                        <a:rPr lang="en-US">
                          <a:effectLst/>
                        </a:rPr>
                        <a:t>Adolf</a:t>
                      </a:r>
                    </a:p>
                  </a:txBody>
                  <a:tcPr anchor="ctr"/>
                </a:tc>
                <a:tc>
                  <a:txBody>
                    <a:bodyPr/>
                    <a:lstStyle/>
                    <a:p>
                      <a:r>
                        <a:rPr lang="en-US"/>
                        <a:t>San Francisco</a:t>
                      </a:r>
                    </a:p>
                  </a:txBody>
                  <a:tcPr anchor="ctr"/>
                </a:tc>
                <a:tc>
                  <a:txBody>
                    <a:bodyPr/>
                    <a:lstStyle/>
                    <a:p>
                      <a:pPr algn="ctr"/>
                      <a:r>
                        <a:rPr lang="en-US">
                          <a:effectLst/>
                        </a:rPr>
                        <a:t>01-12584365</a:t>
                      </a:r>
                    </a:p>
                  </a:txBody>
                  <a:tcPr anchor="ctr"/>
                </a:tc>
              </a:tr>
              <a:tr h="370840">
                <a:tc>
                  <a:txBody>
                    <a:bodyPr/>
                    <a:lstStyle/>
                    <a:p>
                      <a:pPr algn="ctr"/>
                      <a:r>
                        <a:rPr lang="en-US">
                          <a:effectLst/>
                        </a:rPr>
                        <a:t>3</a:t>
                      </a:r>
                    </a:p>
                  </a:txBody>
                  <a:tcPr anchor="ctr"/>
                </a:tc>
                <a:tc>
                  <a:txBody>
                    <a:bodyPr/>
                    <a:lstStyle/>
                    <a:p>
                      <a:pPr algn="ctr"/>
                      <a:r>
                        <a:rPr lang="en-US">
                          <a:effectLst/>
                        </a:rPr>
                        <a:t>Aryan</a:t>
                      </a:r>
                    </a:p>
                  </a:txBody>
                  <a:tcPr anchor="ctr"/>
                </a:tc>
                <a:tc>
                  <a:txBody>
                    <a:bodyPr/>
                    <a:lstStyle/>
                    <a:p>
                      <a:r>
                        <a:rPr lang="en-US"/>
                        <a:t>Delhi</a:t>
                      </a:r>
                    </a:p>
                  </a:txBody>
                  <a:tcPr anchor="ctr"/>
                </a:tc>
                <a:tc>
                  <a:txBody>
                    <a:bodyPr/>
                    <a:lstStyle/>
                    <a:p>
                      <a:pPr algn="ctr"/>
                      <a:r>
                        <a:rPr lang="en-US">
                          <a:effectLst/>
                        </a:rPr>
                        <a:t>91-9672367287</a:t>
                      </a:r>
                    </a:p>
                  </a:txBody>
                  <a:tcPr anchor="ctr"/>
                </a:tc>
              </a:tr>
              <a:tr h="370840">
                <a:tc>
                  <a:txBody>
                    <a:bodyPr/>
                    <a:lstStyle/>
                    <a:p>
                      <a:pPr algn="ctr"/>
                      <a:r>
                        <a:rPr lang="en-US">
                          <a:effectLst/>
                        </a:rPr>
                        <a:t>4</a:t>
                      </a:r>
                    </a:p>
                  </a:txBody>
                  <a:tcPr anchor="ctr"/>
                </a:tc>
                <a:tc>
                  <a:txBody>
                    <a:bodyPr/>
                    <a:lstStyle/>
                    <a:p>
                      <a:pPr algn="ctr"/>
                      <a:r>
                        <a:rPr lang="en-US">
                          <a:effectLst/>
                        </a:rPr>
                        <a:t>Bhuvan</a:t>
                      </a:r>
                    </a:p>
                  </a:txBody>
                  <a:tcPr anchor="ctr"/>
                </a:tc>
                <a:tc>
                  <a:txBody>
                    <a:bodyPr/>
                    <a:lstStyle/>
                    <a:p>
                      <a:r>
                        <a:rPr lang="en-US"/>
                        <a:t>Hyderabad</a:t>
                      </a:r>
                    </a:p>
                  </a:txBody>
                  <a:tcPr anchor="ctr"/>
                </a:tc>
                <a:tc>
                  <a:txBody>
                    <a:bodyPr/>
                    <a:lstStyle/>
                    <a:p>
                      <a:pPr algn="ctr"/>
                      <a:r>
                        <a:rPr lang="en-US">
                          <a:effectLst/>
                        </a:rPr>
                        <a:t>91-9983288383</a:t>
                      </a:r>
                    </a:p>
                  </a:txBody>
                  <a:tcPr anchor="ctr"/>
                </a:tc>
              </a:tr>
              <a:tr h="370840">
                <a:tc>
                  <a:txBody>
                    <a:bodyPr/>
                    <a:lstStyle/>
                    <a:p>
                      <a:pPr algn="ctr"/>
                      <a:r>
                        <a:rPr lang="en-US">
                          <a:effectLst/>
                        </a:rPr>
                        <a:t>5</a:t>
                      </a:r>
                    </a:p>
                  </a:txBody>
                  <a:tcPr anchor="ctr"/>
                </a:tc>
                <a:tc>
                  <a:txBody>
                    <a:bodyPr/>
                    <a:lstStyle/>
                    <a:p>
                      <a:pPr algn="ctr"/>
                      <a:r>
                        <a:rPr lang="en-US">
                          <a:effectLst/>
                        </a:rPr>
                        <a:t>Carol</a:t>
                      </a:r>
                    </a:p>
                  </a:txBody>
                  <a:tcPr anchor="ctr"/>
                </a:tc>
                <a:tc>
                  <a:txBody>
                    <a:bodyPr/>
                    <a:lstStyle/>
                    <a:p>
                      <a:r>
                        <a:rPr lang="en-US"/>
                        <a:t>New York</a:t>
                      </a:r>
                    </a:p>
                  </a:txBody>
                  <a:tcPr anchor="ctr"/>
                </a:tc>
                <a:tc>
                  <a:txBody>
                    <a:bodyPr/>
                    <a:lstStyle/>
                    <a:p>
                      <a:pPr algn="ctr"/>
                      <a:r>
                        <a:rPr lang="en-US">
                          <a:effectLst/>
                        </a:rPr>
                        <a:t>01-18928992</a:t>
                      </a:r>
                    </a:p>
                  </a:txBody>
                  <a:tcPr anchor="ctr"/>
                </a:tc>
              </a:tr>
              <a:tr h="370840">
                <a:tc>
                  <a:txBody>
                    <a:bodyPr/>
                    <a:lstStyle/>
                    <a:p>
                      <a:pPr algn="ctr"/>
                      <a:r>
                        <a:rPr lang="en-US">
                          <a:effectLst/>
                        </a:rPr>
                        <a:t>6</a:t>
                      </a:r>
                    </a:p>
                  </a:txBody>
                  <a:tcPr anchor="ctr"/>
                </a:tc>
                <a:tc>
                  <a:txBody>
                    <a:bodyPr/>
                    <a:lstStyle/>
                    <a:p>
                      <a:pPr algn="ctr"/>
                      <a:r>
                        <a:rPr lang="en-US">
                          <a:effectLst/>
                        </a:rPr>
                        <a:t>Steve</a:t>
                      </a:r>
                    </a:p>
                  </a:txBody>
                  <a:tcPr anchor="ctr"/>
                </a:tc>
                <a:tc>
                  <a:txBody>
                    <a:bodyPr/>
                    <a:lstStyle/>
                    <a:p>
                      <a:r>
                        <a:rPr lang="en-US"/>
                        <a:t>California</a:t>
                      </a:r>
                    </a:p>
                  </a:txBody>
                  <a:tcPr anchor="ctr"/>
                </a:tc>
                <a:tc>
                  <a:txBody>
                    <a:bodyPr/>
                    <a:lstStyle/>
                    <a:p>
                      <a:pPr algn="ctr"/>
                      <a:r>
                        <a:rPr lang="en-US" dirty="0">
                          <a:effectLst/>
                        </a:rPr>
                        <a:t>01-13783282</a:t>
                      </a:r>
                    </a:p>
                  </a:txBody>
                  <a:tcPr anchor="ctr"/>
                </a:tc>
              </a:tr>
            </a:tbl>
          </a:graphicData>
        </a:graphic>
      </p:graphicFrame>
    </p:spTree>
    <p:extLst>
      <p:ext uri="{BB962C8B-B14F-4D97-AF65-F5344CB8AC3E}">
        <p14:creationId xmlns:p14="http://schemas.microsoft.com/office/powerpoint/2010/main" val="1405707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4572" y="210471"/>
            <a:ext cx="10415398" cy="4195481"/>
          </a:xfrm>
        </p:spPr>
        <p:txBody>
          <a:bodyPr/>
          <a:lstStyle/>
          <a:p>
            <a:r>
              <a:rPr lang="en-US" b="1" dirty="0" err="1"/>
              <a:t>EmpRole</a:t>
            </a:r>
            <a:r>
              <a:rPr lang="en-US" b="1" dirty="0"/>
              <a:t> Table:</a:t>
            </a:r>
            <a:endParaRPr lang="en-US" dirty="0"/>
          </a:p>
          <a:p>
            <a:r>
              <a:rPr lang="en-US" dirty="0"/>
              <a:t>This table contains details of employees' roles in a particular company and has data fields as </a:t>
            </a:r>
            <a:r>
              <a:rPr lang="en-US" dirty="0" err="1"/>
              <a:t>EmpID</a:t>
            </a:r>
            <a:r>
              <a:rPr lang="en-US" dirty="0"/>
              <a:t>, Role, Dept. We have stored all the records particular to the </a:t>
            </a:r>
            <a:r>
              <a:rPr lang="en-US" dirty="0" err="1"/>
              <a:t>EmpID</a:t>
            </a:r>
            <a:r>
              <a:rPr lang="en-US" dirty="0"/>
              <a:t> of each employee.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929739547"/>
              </p:ext>
            </p:extLst>
          </p:nvPr>
        </p:nvGraphicFramePr>
        <p:xfrm>
          <a:off x="1063009" y="2029851"/>
          <a:ext cx="5910997" cy="2865120"/>
        </p:xfrm>
        <a:graphic>
          <a:graphicData uri="http://schemas.openxmlformats.org/drawingml/2006/table">
            <a:tbl>
              <a:tblPr firstRow="1" bandRow="1">
                <a:tableStyleId>{5C22544A-7EE6-4342-B048-85BDC9FD1C3A}</a:tableStyleId>
              </a:tblPr>
              <a:tblGrid>
                <a:gridCol w="1013471"/>
                <a:gridCol w="1498703"/>
                <a:gridCol w="3398823"/>
              </a:tblGrid>
              <a:tr h="370840">
                <a:tc>
                  <a:txBody>
                    <a:bodyPr/>
                    <a:lstStyle/>
                    <a:p>
                      <a:pPr algn="ctr"/>
                      <a:r>
                        <a:rPr lang="en-US" dirty="0" err="1">
                          <a:effectLst/>
                        </a:rPr>
                        <a:t>EmpID</a:t>
                      </a:r>
                      <a:endParaRPr lang="en-US" dirty="0">
                        <a:effectLst/>
                      </a:endParaRPr>
                    </a:p>
                  </a:txBody>
                  <a:tcPr anchor="ctr"/>
                </a:tc>
                <a:tc>
                  <a:txBody>
                    <a:bodyPr/>
                    <a:lstStyle/>
                    <a:p>
                      <a:pPr algn="ctr"/>
                      <a:r>
                        <a:rPr lang="en-US">
                          <a:effectLst/>
                        </a:rPr>
                        <a:t>Role</a:t>
                      </a:r>
                    </a:p>
                  </a:txBody>
                  <a:tcPr anchor="ctr"/>
                </a:tc>
                <a:tc>
                  <a:txBody>
                    <a:bodyPr/>
                    <a:lstStyle/>
                    <a:p>
                      <a:pPr algn="ctr"/>
                      <a:r>
                        <a:rPr lang="en-US">
                          <a:effectLst/>
                        </a:rPr>
                        <a:t>Dept</a:t>
                      </a:r>
                    </a:p>
                  </a:txBody>
                  <a:tcPr anchor="ctr"/>
                </a:tc>
              </a:tr>
              <a:tr h="370840">
                <a:tc>
                  <a:txBody>
                    <a:bodyPr/>
                    <a:lstStyle/>
                    <a:p>
                      <a:pPr algn="ctr"/>
                      <a:r>
                        <a:rPr lang="en-US">
                          <a:effectLst/>
                        </a:rPr>
                        <a:t>1</a:t>
                      </a:r>
                    </a:p>
                  </a:txBody>
                  <a:tcPr anchor="ctr"/>
                </a:tc>
                <a:tc>
                  <a:txBody>
                    <a:bodyPr/>
                    <a:lstStyle/>
                    <a:p>
                      <a:pPr algn="ctr"/>
                      <a:r>
                        <a:rPr lang="en-US">
                          <a:effectLst/>
                        </a:rPr>
                        <a:t>Intern</a:t>
                      </a:r>
                    </a:p>
                  </a:txBody>
                  <a:tcPr anchor="ctr"/>
                </a:tc>
                <a:tc>
                  <a:txBody>
                    <a:bodyPr/>
                    <a:lstStyle/>
                    <a:p>
                      <a:pPr algn="ctr"/>
                      <a:r>
                        <a:rPr lang="en-US">
                          <a:effectLst/>
                        </a:rPr>
                        <a:t>Engineering</a:t>
                      </a:r>
                    </a:p>
                  </a:txBody>
                  <a:tcPr anchor="ctr"/>
                </a:tc>
              </a:tr>
              <a:tr h="370840">
                <a:tc>
                  <a:txBody>
                    <a:bodyPr/>
                    <a:lstStyle/>
                    <a:p>
                      <a:pPr algn="ctr"/>
                      <a:r>
                        <a:rPr lang="en-US">
                          <a:effectLst/>
                        </a:rPr>
                        <a:t>2</a:t>
                      </a:r>
                    </a:p>
                  </a:txBody>
                  <a:tcPr anchor="ctr"/>
                </a:tc>
                <a:tc>
                  <a:txBody>
                    <a:bodyPr/>
                    <a:lstStyle/>
                    <a:p>
                      <a:pPr algn="ctr"/>
                      <a:r>
                        <a:rPr lang="en-US">
                          <a:effectLst/>
                        </a:rPr>
                        <a:t>Trainee</a:t>
                      </a:r>
                    </a:p>
                  </a:txBody>
                  <a:tcPr anchor="ctr"/>
                </a:tc>
                <a:tc>
                  <a:txBody>
                    <a:bodyPr/>
                    <a:lstStyle/>
                    <a:p>
                      <a:pPr algn="ctr"/>
                      <a:r>
                        <a:rPr lang="en-US">
                          <a:effectLst/>
                        </a:rPr>
                        <a:t>IT</a:t>
                      </a:r>
                    </a:p>
                  </a:txBody>
                  <a:tcPr anchor="ctr"/>
                </a:tc>
              </a:tr>
              <a:tr h="370840">
                <a:tc>
                  <a:txBody>
                    <a:bodyPr/>
                    <a:lstStyle/>
                    <a:p>
                      <a:pPr algn="ctr"/>
                      <a:r>
                        <a:rPr lang="en-US">
                          <a:effectLst/>
                        </a:rPr>
                        <a:t>3</a:t>
                      </a:r>
                    </a:p>
                  </a:txBody>
                  <a:tcPr anchor="ctr"/>
                </a:tc>
                <a:tc>
                  <a:txBody>
                    <a:bodyPr/>
                    <a:lstStyle/>
                    <a:p>
                      <a:pPr algn="ctr"/>
                      <a:r>
                        <a:rPr lang="en-US">
                          <a:effectLst/>
                        </a:rPr>
                        <a:t>Executive</a:t>
                      </a:r>
                    </a:p>
                  </a:txBody>
                  <a:tcPr anchor="ctr"/>
                </a:tc>
                <a:tc>
                  <a:txBody>
                    <a:bodyPr/>
                    <a:lstStyle/>
                    <a:p>
                      <a:pPr algn="ctr"/>
                      <a:r>
                        <a:rPr lang="en-US">
                          <a:effectLst/>
                        </a:rPr>
                        <a:t>HR</a:t>
                      </a:r>
                    </a:p>
                  </a:txBody>
                  <a:tcPr anchor="ctr"/>
                </a:tc>
              </a:tr>
              <a:tr h="370840">
                <a:tc>
                  <a:txBody>
                    <a:bodyPr/>
                    <a:lstStyle/>
                    <a:p>
                      <a:pPr algn="ctr"/>
                      <a:r>
                        <a:rPr lang="en-US">
                          <a:effectLst/>
                        </a:rPr>
                        <a:t>4</a:t>
                      </a:r>
                    </a:p>
                  </a:txBody>
                  <a:tcPr anchor="ctr"/>
                </a:tc>
                <a:tc>
                  <a:txBody>
                    <a:bodyPr/>
                    <a:lstStyle/>
                    <a:p>
                      <a:pPr algn="ctr"/>
                      <a:r>
                        <a:rPr lang="en-US">
                          <a:effectLst/>
                        </a:rPr>
                        <a:t>SDE-1</a:t>
                      </a:r>
                    </a:p>
                  </a:txBody>
                  <a:tcPr anchor="ctr"/>
                </a:tc>
                <a:tc>
                  <a:txBody>
                    <a:bodyPr/>
                    <a:lstStyle/>
                    <a:p>
                      <a:pPr algn="ctr"/>
                      <a:r>
                        <a:rPr lang="en-US">
                          <a:effectLst/>
                        </a:rPr>
                        <a:t>Engineering</a:t>
                      </a:r>
                    </a:p>
                  </a:txBody>
                  <a:tcPr anchor="ctr"/>
                </a:tc>
              </a:tr>
              <a:tr h="370840">
                <a:tc>
                  <a:txBody>
                    <a:bodyPr/>
                    <a:lstStyle/>
                    <a:p>
                      <a:pPr algn="ctr"/>
                      <a:r>
                        <a:rPr lang="en-US">
                          <a:effectLst/>
                        </a:rPr>
                        <a:t>5</a:t>
                      </a:r>
                    </a:p>
                  </a:txBody>
                  <a:tcPr anchor="ctr"/>
                </a:tc>
                <a:tc>
                  <a:txBody>
                    <a:bodyPr/>
                    <a:lstStyle/>
                    <a:p>
                      <a:pPr algn="ctr"/>
                      <a:r>
                        <a:rPr lang="en-US">
                          <a:effectLst/>
                        </a:rPr>
                        <a:t>SDE-2</a:t>
                      </a:r>
                    </a:p>
                  </a:txBody>
                  <a:tcPr anchor="ctr"/>
                </a:tc>
                <a:tc>
                  <a:txBody>
                    <a:bodyPr/>
                    <a:lstStyle/>
                    <a:p>
                      <a:pPr algn="ctr"/>
                      <a:r>
                        <a:rPr lang="en-US">
                          <a:effectLst/>
                        </a:rPr>
                        <a:t>Engineering</a:t>
                      </a:r>
                    </a:p>
                  </a:txBody>
                  <a:tcPr anchor="ctr"/>
                </a:tc>
              </a:tr>
              <a:tr h="370840">
                <a:tc>
                  <a:txBody>
                    <a:bodyPr/>
                    <a:lstStyle/>
                    <a:p>
                      <a:pPr algn="ctr"/>
                      <a:r>
                        <a:rPr lang="en-US">
                          <a:effectLst/>
                        </a:rPr>
                        <a:t>6</a:t>
                      </a:r>
                    </a:p>
                  </a:txBody>
                  <a:tcPr anchor="ctr"/>
                </a:tc>
                <a:tc>
                  <a:txBody>
                    <a:bodyPr/>
                    <a:lstStyle/>
                    <a:p>
                      <a:pPr algn="ctr"/>
                      <a:r>
                        <a:rPr lang="en-US">
                          <a:effectLst/>
                        </a:rPr>
                        <a:t>Technical Architect</a:t>
                      </a:r>
                    </a:p>
                  </a:txBody>
                  <a:tcPr anchor="ctr"/>
                </a:tc>
                <a:tc>
                  <a:txBody>
                    <a:bodyPr/>
                    <a:lstStyle/>
                    <a:p>
                      <a:pPr algn="ctr"/>
                      <a:r>
                        <a:rPr lang="en-US" dirty="0">
                          <a:effectLst/>
                        </a:rPr>
                        <a:t>Engineering</a:t>
                      </a:r>
                    </a:p>
                  </a:txBody>
                  <a:tcPr anchor="ctr"/>
                </a:tc>
              </a:tr>
            </a:tbl>
          </a:graphicData>
        </a:graphic>
      </p:graphicFrame>
    </p:spTree>
    <p:extLst>
      <p:ext uri="{BB962C8B-B14F-4D97-AF65-F5344CB8AC3E}">
        <p14:creationId xmlns:p14="http://schemas.microsoft.com/office/powerpoint/2010/main" val="2456901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65624" y="193410"/>
            <a:ext cx="9811140" cy="6131963"/>
          </a:xfrm>
          <a:prstGeom prst="rect">
            <a:avLst/>
          </a:prstGeom>
        </p:spPr>
      </p:pic>
    </p:spTree>
    <p:extLst>
      <p:ext uri="{BB962C8B-B14F-4D97-AF65-F5344CB8AC3E}">
        <p14:creationId xmlns:p14="http://schemas.microsoft.com/office/powerpoint/2010/main" val="1421259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a Simple View</a:t>
            </a:r>
            <a:br>
              <a:rPr lang="en-US" b="1" dirty="0"/>
            </a:br>
            <a:endParaRPr lang="en-US" dirty="0"/>
          </a:p>
        </p:txBody>
      </p:sp>
      <p:sp>
        <p:nvSpPr>
          <p:cNvPr id="3" name="Content Placeholder 2"/>
          <p:cNvSpPr>
            <a:spLocks noGrp="1"/>
          </p:cNvSpPr>
          <p:nvPr>
            <p:ph idx="1"/>
          </p:nvPr>
        </p:nvSpPr>
        <p:spPr>
          <a:xfrm>
            <a:off x="1103312" y="1310186"/>
            <a:ext cx="9828545" cy="4938214"/>
          </a:xfrm>
        </p:spPr>
        <p:txBody>
          <a:bodyPr>
            <a:normAutofit/>
          </a:bodyPr>
          <a:lstStyle/>
          <a:p>
            <a:r>
              <a:rPr lang="en-US" sz="2400" dirty="0"/>
              <a:t>Simple view is the view that is made from a single table, It takes only one table and just the conditions, It also does not take any inbuilt SQL functions like AVG(), MIN(), MAX() </a:t>
            </a:r>
            <a:r>
              <a:rPr lang="en-US" sz="2400" dirty="0" err="1"/>
              <a:t>etc</a:t>
            </a:r>
            <a:r>
              <a:rPr lang="en-US" sz="2400" dirty="0"/>
              <a:t>, or GROUP BY clause.</a:t>
            </a:r>
          </a:p>
          <a:p>
            <a:r>
              <a:rPr lang="en-US" sz="2400" dirty="0"/>
              <a:t>While creating a simple view, we are not creating an actual table, we are just projecting the data from the original table to create a view table.</a:t>
            </a:r>
          </a:p>
          <a:p>
            <a:r>
              <a:rPr lang="en-US" sz="2400" b="1" dirty="0"/>
              <a:t>Example 1:</a:t>
            </a:r>
            <a:r>
              <a:rPr lang="en-US" sz="2400" dirty="0"/>
              <a:t> In this example, we are creating a view table from Employee Table for getting the </a:t>
            </a:r>
            <a:r>
              <a:rPr lang="en-US" sz="2400" dirty="0" err="1"/>
              <a:t>EmpID</a:t>
            </a:r>
            <a:r>
              <a:rPr lang="en-US" sz="2400" dirty="0"/>
              <a:t> and </a:t>
            </a:r>
            <a:r>
              <a:rPr lang="en-US" sz="2400" dirty="0" err="1"/>
              <a:t>EmpName</a:t>
            </a:r>
            <a:r>
              <a:rPr lang="en-US" sz="2400" dirty="0"/>
              <a:t>. So the query will be</a:t>
            </a:r>
            <a:r>
              <a:rPr lang="en-US" sz="2400" dirty="0" smtClean="0"/>
              <a:t>:</a:t>
            </a:r>
          </a:p>
        </p:txBody>
      </p:sp>
      <p:sp>
        <p:nvSpPr>
          <p:cNvPr id="4" name="Rectangle 3"/>
          <p:cNvSpPr/>
          <p:nvPr/>
        </p:nvSpPr>
        <p:spPr>
          <a:xfrm>
            <a:off x="932714" y="5390865"/>
            <a:ext cx="9603358" cy="11737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smtClean="0"/>
              <a:t>CREATE  VIEW EmpView1 AS </a:t>
            </a:r>
            <a:r>
              <a:rPr lang="en-US" sz="2400" b="1" dirty="0" err="1" smtClean="0"/>
              <a:t>EmpID</a:t>
            </a:r>
            <a:r>
              <a:rPr lang="en-US" sz="2400" b="1" dirty="0" smtClean="0"/>
              <a:t> , </a:t>
            </a:r>
            <a:r>
              <a:rPr lang="en-US" sz="2400" b="1" dirty="0" err="1" smtClean="0"/>
              <a:t>EmpName</a:t>
            </a:r>
            <a:r>
              <a:rPr lang="en-US" sz="2400" b="1" dirty="0" smtClean="0"/>
              <a:t> from Employee;</a:t>
            </a:r>
            <a:endParaRPr lang="en-US" sz="2400" b="1" dirty="0"/>
          </a:p>
        </p:txBody>
      </p:sp>
    </p:spTree>
    <p:extLst>
      <p:ext uri="{BB962C8B-B14F-4D97-AF65-F5344CB8AC3E}">
        <p14:creationId xmlns:p14="http://schemas.microsoft.com/office/powerpoint/2010/main" val="183770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Output:</a:t>
            </a:r>
            <a:endParaRPr lang="en-US" dirty="0"/>
          </a:p>
          <a:p>
            <a:r>
              <a:rPr lang="en-US" dirty="0"/>
              <a:t>The view table EmpView1 that we have created from Employee Table contains </a:t>
            </a:r>
            <a:r>
              <a:rPr lang="en-US" dirty="0" err="1"/>
              <a:t>EmpID</a:t>
            </a:r>
            <a:r>
              <a:rPr lang="en-US" dirty="0"/>
              <a:t> and </a:t>
            </a:r>
            <a:r>
              <a:rPr lang="en-US" dirty="0" err="1"/>
              <a:t>EmpName</a:t>
            </a:r>
            <a:r>
              <a:rPr lang="en-US" dirty="0"/>
              <a:t> as its data fields.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562694596"/>
              </p:ext>
            </p:extLst>
          </p:nvPr>
        </p:nvGraphicFramePr>
        <p:xfrm>
          <a:off x="1103312" y="3449218"/>
          <a:ext cx="3973655" cy="2595880"/>
        </p:xfrm>
        <a:graphic>
          <a:graphicData uri="http://schemas.openxmlformats.org/drawingml/2006/table">
            <a:tbl>
              <a:tblPr firstRow="1" bandRow="1">
                <a:tableStyleId>{5C22544A-7EE6-4342-B048-85BDC9FD1C3A}</a:tableStyleId>
              </a:tblPr>
              <a:tblGrid>
                <a:gridCol w="1168686"/>
                <a:gridCol w="2804969"/>
              </a:tblGrid>
              <a:tr h="370840">
                <a:tc>
                  <a:txBody>
                    <a:bodyPr/>
                    <a:lstStyle/>
                    <a:p>
                      <a:pPr algn="ctr"/>
                      <a:r>
                        <a:rPr lang="en-US" dirty="0" err="1">
                          <a:effectLst/>
                        </a:rPr>
                        <a:t>EmpID</a:t>
                      </a:r>
                      <a:endParaRPr lang="en-US" dirty="0">
                        <a:effectLst/>
                      </a:endParaRPr>
                    </a:p>
                  </a:txBody>
                  <a:tcPr anchor="ctr"/>
                </a:tc>
                <a:tc>
                  <a:txBody>
                    <a:bodyPr/>
                    <a:lstStyle/>
                    <a:p>
                      <a:pPr algn="ctr"/>
                      <a:r>
                        <a:rPr lang="en-US">
                          <a:effectLst/>
                        </a:rPr>
                        <a:t>EmpName</a:t>
                      </a:r>
                    </a:p>
                  </a:txBody>
                  <a:tcPr anchor="ctr"/>
                </a:tc>
              </a:tr>
              <a:tr h="370840">
                <a:tc>
                  <a:txBody>
                    <a:bodyPr/>
                    <a:lstStyle/>
                    <a:p>
                      <a:pPr algn="ctr"/>
                      <a:r>
                        <a:rPr lang="en-US">
                          <a:effectLst/>
                        </a:rPr>
                        <a:t>1</a:t>
                      </a:r>
                    </a:p>
                  </a:txBody>
                  <a:tcPr anchor="ctr"/>
                </a:tc>
                <a:tc>
                  <a:txBody>
                    <a:bodyPr/>
                    <a:lstStyle/>
                    <a:p>
                      <a:pPr algn="ctr"/>
                      <a:r>
                        <a:rPr lang="en-US">
                          <a:effectLst/>
                        </a:rPr>
                        <a:t>Alex</a:t>
                      </a:r>
                    </a:p>
                  </a:txBody>
                  <a:tcPr anchor="ctr"/>
                </a:tc>
              </a:tr>
              <a:tr h="370840">
                <a:tc>
                  <a:txBody>
                    <a:bodyPr/>
                    <a:lstStyle/>
                    <a:p>
                      <a:pPr algn="ctr"/>
                      <a:r>
                        <a:rPr lang="en-US">
                          <a:effectLst/>
                        </a:rPr>
                        <a:t>2</a:t>
                      </a:r>
                    </a:p>
                  </a:txBody>
                  <a:tcPr anchor="ctr"/>
                </a:tc>
                <a:tc>
                  <a:txBody>
                    <a:bodyPr/>
                    <a:lstStyle/>
                    <a:p>
                      <a:pPr algn="ctr"/>
                      <a:r>
                        <a:rPr lang="en-US">
                          <a:effectLst/>
                        </a:rPr>
                        <a:t>Adolf</a:t>
                      </a:r>
                    </a:p>
                  </a:txBody>
                  <a:tcPr anchor="ctr"/>
                </a:tc>
              </a:tr>
              <a:tr h="370840">
                <a:tc>
                  <a:txBody>
                    <a:bodyPr/>
                    <a:lstStyle/>
                    <a:p>
                      <a:pPr algn="ctr"/>
                      <a:r>
                        <a:rPr lang="en-US">
                          <a:effectLst/>
                        </a:rPr>
                        <a:t>3</a:t>
                      </a:r>
                    </a:p>
                  </a:txBody>
                  <a:tcPr anchor="ctr"/>
                </a:tc>
                <a:tc>
                  <a:txBody>
                    <a:bodyPr/>
                    <a:lstStyle/>
                    <a:p>
                      <a:pPr algn="ctr"/>
                      <a:r>
                        <a:rPr lang="en-US">
                          <a:effectLst/>
                        </a:rPr>
                        <a:t>Aryan</a:t>
                      </a:r>
                    </a:p>
                  </a:txBody>
                  <a:tcPr anchor="ctr"/>
                </a:tc>
              </a:tr>
              <a:tr h="370840">
                <a:tc>
                  <a:txBody>
                    <a:bodyPr/>
                    <a:lstStyle/>
                    <a:p>
                      <a:pPr algn="ctr"/>
                      <a:r>
                        <a:rPr lang="en-US">
                          <a:effectLst/>
                        </a:rPr>
                        <a:t>4</a:t>
                      </a:r>
                    </a:p>
                  </a:txBody>
                  <a:tcPr anchor="ctr"/>
                </a:tc>
                <a:tc>
                  <a:txBody>
                    <a:bodyPr/>
                    <a:lstStyle/>
                    <a:p>
                      <a:pPr algn="ctr"/>
                      <a:r>
                        <a:rPr lang="en-US">
                          <a:effectLst/>
                        </a:rPr>
                        <a:t>Bhuvan</a:t>
                      </a:r>
                    </a:p>
                  </a:txBody>
                  <a:tcPr anchor="ctr"/>
                </a:tc>
              </a:tr>
              <a:tr h="370840">
                <a:tc>
                  <a:txBody>
                    <a:bodyPr/>
                    <a:lstStyle/>
                    <a:p>
                      <a:pPr algn="ctr"/>
                      <a:r>
                        <a:rPr lang="en-US">
                          <a:effectLst/>
                        </a:rPr>
                        <a:t>5</a:t>
                      </a:r>
                    </a:p>
                  </a:txBody>
                  <a:tcPr anchor="ctr"/>
                </a:tc>
                <a:tc>
                  <a:txBody>
                    <a:bodyPr/>
                    <a:lstStyle/>
                    <a:p>
                      <a:pPr algn="ctr"/>
                      <a:r>
                        <a:rPr lang="en-US">
                          <a:effectLst/>
                        </a:rPr>
                        <a:t>Carol</a:t>
                      </a:r>
                    </a:p>
                  </a:txBody>
                  <a:tcPr anchor="ctr"/>
                </a:tc>
              </a:tr>
              <a:tr h="370840">
                <a:tc>
                  <a:txBody>
                    <a:bodyPr/>
                    <a:lstStyle/>
                    <a:p>
                      <a:pPr algn="ctr"/>
                      <a:r>
                        <a:rPr lang="en-US">
                          <a:effectLst/>
                        </a:rPr>
                        <a:t>6</a:t>
                      </a:r>
                    </a:p>
                  </a:txBody>
                  <a:tcPr anchor="ctr"/>
                </a:tc>
                <a:tc>
                  <a:txBody>
                    <a:bodyPr/>
                    <a:lstStyle/>
                    <a:p>
                      <a:pPr algn="ctr"/>
                      <a:r>
                        <a:rPr lang="en-US" dirty="0">
                          <a:effectLst/>
                        </a:rPr>
                        <a:t>Steve</a:t>
                      </a:r>
                    </a:p>
                  </a:txBody>
                  <a:tcPr anchor="ctr"/>
                </a:tc>
              </a:tr>
            </a:tbl>
          </a:graphicData>
        </a:graphic>
      </p:graphicFrame>
      <p:sp>
        <p:nvSpPr>
          <p:cNvPr id="5" name="Rectangle 4"/>
          <p:cNvSpPr/>
          <p:nvPr/>
        </p:nvSpPr>
        <p:spPr>
          <a:xfrm>
            <a:off x="823415" y="578977"/>
            <a:ext cx="9226438" cy="1384995"/>
          </a:xfrm>
          <a:prstGeom prst="rect">
            <a:avLst/>
          </a:prstGeom>
        </p:spPr>
        <p:txBody>
          <a:bodyPr wrap="square">
            <a:spAutoFit/>
          </a:bodyPr>
          <a:lstStyle/>
          <a:p>
            <a:r>
              <a:rPr lang="en-US" sz="2800" dirty="0" smtClean="0"/>
              <a:t>Now to see the data in the EmpView1 view created by us, We have to simply use the SELECT statement.</a:t>
            </a:r>
          </a:p>
          <a:p>
            <a:r>
              <a:rPr lang="en-US" sz="2800" dirty="0" smtClean="0"/>
              <a:t>Select  *from EmpView1;</a:t>
            </a:r>
            <a:endParaRPr lang="en-US" sz="2800" dirty="0"/>
          </a:p>
        </p:txBody>
      </p:sp>
    </p:spTree>
    <p:extLst>
      <p:ext uri="{BB962C8B-B14F-4D97-AF65-F5344CB8AC3E}">
        <p14:creationId xmlns:p14="http://schemas.microsoft.com/office/powerpoint/2010/main" val="4209615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277" y="292357"/>
            <a:ext cx="10674706" cy="6340455"/>
          </a:xfrm>
        </p:spPr>
        <p:txBody>
          <a:bodyPr>
            <a:normAutofit/>
          </a:bodyPr>
          <a:lstStyle/>
          <a:p>
            <a:r>
              <a:rPr lang="en-US" dirty="0"/>
              <a:t>Example 2: In this example, we are creating a view table from </a:t>
            </a:r>
            <a:r>
              <a:rPr lang="en-US" dirty="0" err="1"/>
              <a:t>EmpRole</a:t>
            </a:r>
            <a:r>
              <a:rPr lang="en-US" dirty="0"/>
              <a:t> Table for getting the </a:t>
            </a:r>
            <a:r>
              <a:rPr lang="en-US" dirty="0" err="1"/>
              <a:t>EmpID</a:t>
            </a:r>
            <a:r>
              <a:rPr lang="en-US" dirty="0"/>
              <a:t> and </a:t>
            </a:r>
            <a:r>
              <a:rPr lang="en-US" dirty="0" err="1"/>
              <a:t>Dept</a:t>
            </a:r>
            <a:r>
              <a:rPr lang="en-US" dirty="0"/>
              <a:t> for employees having </a:t>
            </a:r>
            <a:r>
              <a:rPr lang="en-US" dirty="0" err="1"/>
              <a:t>EmpIDs</a:t>
            </a:r>
            <a:r>
              <a:rPr lang="en-US" dirty="0"/>
              <a:t> less than 4. So the query will be:</a:t>
            </a:r>
          </a:p>
          <a:p>
            <a:endParaRPr lang="en-US" dirty="0" smtClean="0"/>
          </a:p>
          <a:p>
            <a:endParaRPr lang="en-US" dirty="0"/>
          </a:p>
          <a:p>
            <a:endParaRPr lang="en-US" dirty="0" smtClean="0"/>
          </a:p>
          <a:p>
            <a:endParaRPr lang="en-US" dirty="0"/>
          </a:p>
          <a:p>
            <a:r>
              <a:rPr lang="en-US" dirty="0"/>
              <a:t>Now to see the data in the EmpView2 view created by us, We have to simply use the SELECT statement.</a:t>
            </a:r>
          </a:p>
          <a:p>
            <a:endParaRPr lang="en-US" dirty="0" smtClean="0"/>
          </a:p>
          <a:p>
            <a:r>
              <a:rPr lang="en-US" sz="3200" b="1" dirty="0" smtClean="0"/>
              <a:t>Select * from EmpView2;</a:t>
            </a:r>
          </a:p>
          <a:p>
            <a:r>
              <a:rPr lang="en-US" b="1" dirty="0"/>
              <a:t>Output</a:t>
            </a:r>
            <a:r>
              <a:rPr lang="en-US" dirty="0"/>
              <a:t>:</a:t>
            </a:r>
          </a:p>
          <a:p>
            <a:r>
              <a:rPr lang="en-US" dirty="0"/>
              <a:t>The view table</a:t>
            </a:r>
            <a:r>
              <a:rPr lang="en-US" sz="2400" b="1" dirty="0"/>
              <a:t> EmpView2 </a:t>
            </a:r>
            <a:r>
              <a:rPr lang="en-US" dirty="0"/>
              <a:t>that we </a:t>
            </a:r>
            <a:r>
              <a:rPr lang="en-US" dirty="0" smtClean="0"/>
              <a:t>have</a:t>
            </a:r>
          </a:p>
          <a:p>
            <a:r>
              <a:rPr lang="en-US" dirty="0" smtClean="0"/>
              <a:t> </a:t>
            </a:r>
            <a:r>
              <a:rPr lang="en-US" dirty="0"/>
              <a:t>created from </a:t>
            </a:r>
            <a:r>
              <a:rPr lang="en-US" dirty="0" err="1"/>
              <a:t>EmpRole</a:t>
            </a:r>
            <a:r>
              <a:rPr lang="en-US" dirty="0"/>
              <a:t> Table </a:t>
            </a:r>
            <a:r>
              <a:rPr lang="en-US" dirty="0" smtClean="0"/>
              <a:t>contains</a:t>
            </a:r>
          </a:p>
          <a:p>
            <a:r>
              <a:rPr lang="en-US" dirty="0" smtClean="0"/>
              <a:t> </a:t>
            </a:r>
            <a:r>
              <a:rPr lang="en-US" dirty="0" err="1"/>
              <a:t>EmpID</a:t>
            </a:r>
            <a:r>
              <a:rPr lang="en-US" dirty="0"/>
              <a:t> and </a:t>
            </a:r>
            <a:r>
              <a:rPr lang="en-US" dirty="0" err="1"/>
              <a:t>Dept</a:t>
            </a:r>
            <a:r>
              <a:rPr lang="en-US" dirty="0"/>
              <a:t> as its data fields.</a:t>
            </a:r>
          </a:p>
          <a:p>
            <a:endParaRPr lang="en-US" sz="3200" b="1" dirty="0"/>
          </a:p>
        </p:txBody>
      </p:sp>
      <p:sp>
        <p:nvSpPr>
          <p:cNvPr id="5" name="Rectangle 4"/>
          <p:cNvSpPr/>
          <p:nvPr/>
        </p:nvSpPr>
        <p:spPr>
          <a:xfrm>
            <a:off x="1473958" y="1542197"/>
            <a:ext cx="8325135" cy="150125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smtClean="0"/>
              <a:t>Create View EmpView2 As select </a:t>
            </a:r>
            <a:r>
              <a:rPr lang="en-US" sz="2400" b="1" dirty="0" err="1" smtClean="0"/>
              <a:t>EmpID</a:t>
            </a:r>
            <a:r>
              <a:rPr lang="en-US" sz="2400" b="1" dirty="0" smtClean="0"/>
              <a:t> ,</a:t>
            </a:r>
            <a:r>
              <a:rPr lang="en-US" sz="2400" b="1" dirty="0" err="1" smtClean="0"/>
              <a:t>Dept</a:t>
            </a:r>
            <a:r>
              <a:rPr lang="en-US" sz="2400" b="1" dirty="0" smtClean="0"/>
              <a:t> from </a:t>
            </a:r>
            <a:r>
              <a:rPr lang="en-US" sz="2400" b="1" dirty="0" err="1" smtClean="0"/>
              <a:t>EmpRole</a:t>
            </a:r>
            <a:r>
              <a:rPr lang="en-US" sz="2400" b="1" dirty="0" smtClean="0"/>
              <a:t> </a:t>
            </a:r>
          </a:p>
          <a:p>
            <a:pPr algn="ctr"/>
            <a:r>
              <a:rPr lang="en-US" sz="2400" b="1" dirty="0" smtClean="0"/>
              <a:t>Where </a:t>
            </a:r>
            <a:r>
              <a:rPr lang="en-US" sz="2400" b="1" dirty="0" err="1" smtClean="0"/>
              <a:t>EmpID</a:t>
            </a:r>
            <a:r>
              <a:rPr lang="en-US" sz="2400" b="1" dirty="0" smtClean="0"/>
              <a:t>&lt;4;</a:t>
            </a:r>
            <a:endParaRPr lang="en-US" sz="2400" b="1" dirty="0"/>
          </a:p>
        </p:txBody>
      </p:sp>
      <p:graphicFrame>
        <p:nvGraphicFramePr>
          <p:cNvPr id="6" name="Table 5"/>
          <p:cNvGraphicFramePr>
            <a:graphicFrameLocks noGrp="1"/>
          </p:cNvGraphicFramePr>
          <p:nvPr>
            <p:extLst>
              <p:ext uri="{D42A27DB-BD31-4B8C-83A1-F6EECF244321}">
                <p14:modId xmlns:p14="http://schemas.microsoft.com/office/powerpoint/2010/main" val="976344853"/>
              </p:ext>
            </p:extLst>
          </p:nvPr>
        </p:nvGraphicFramePr>
        <p:xfrm>
          <a:off x="6385637" y="4991415"/>
          <a:ext cx="4696346" cy="1483360"/>
        </p:xfrm>
        <a:graphic>
          <a:graphicData uri="http://schemas.openxmlformats.org/drawingml/2006/table">
            <a:tbl>
              <a:tblPr firstRow="1" bandRow="1">
                <a:tableStyleId>{5C22544A-7EE6-4342-B048-85BDC9FD1C3A}</a:tableStyleId>
              </a:tblPr>
              <a:tblGrid>
                <a:gridCol w="2471761"/>
                <a:gridCol w="2224585"/>
              </a:tblGrid>
              <a:tr h="370840">
                <a:tc>
                  <a:txBody>
                    <a:bodyPr/>
                    <a:lstStyle/>
                    <a:p>
                      <a:pPr algn="ctr"/>
                      <a:r>
                        <a:rPr lang="en-US" dirty="0" err="1">
                          <a:effectLst/>
                        </a:rPr>
                        <a:t>EmpID</a:t>
                      </a:r>
                      <a:endParaRPr lang="en-US" dirty="0">
                        <a:effectLst/>
                      </a:endParaRPr>
                    </a:p>
                  </a:txBody>
                  <a:tcPr anchor="ctr"/>
                </a:tc>
                <a:tc>
                  <a:txBody>
                    <a:bodyPr/>
                    <a:lstStyle/>
                    <a:p>
                      <a:pPr algn="ctr"/>
                      <a:r>
                        <a:rPr lang="en-US">
                          <a:effectLst/>
                        </a:rPr>
                        <a:t>Dept</a:t>
                      </a:r>
                    </a:p>
                  </a:txBody>
                  <a:tcPr anchor="ctr"/>
                </a:tc>
              </a:tr>
              <a:tr h="370840">
                <a:tc>
                  <a:txBody>
                    <a:bodyPr/>
                    <a:lstStyle/>
                    <a:p>
                      <a:pPr algn="ctr"/>
                      <a:r>
                        <a:rPr lang="en-US">
                          <a:effectLst/>
                        </a:rPr>
                        <a:t>1</a:t>
                      </a:r>
                    </a:p>
                  </a:txBody>
                  <a:tcPr anchor="ctr"/>
                </a:tc>
                <a:tc>
                  <a:txBody>
                    <a:bodyPr/>
                    <a:lstStyle/>
                    <a:p>
                      <a:pPr algn="ctr"/>
                      <a:r>
                        <a:rPr lang="en-US">
                          <a:effectLst/>
                        </a:rPr>
                        <a:t>Engineering</a:t>
                      </a:r>
                    </a:p>
                  </a:txBody>
                  <a:tcPr anchor="ctr"/>
                </a:tc>
              </a:tr>
              <a:tr h="370840">
                <a:tc>
                  <a:txBody>
                    <a:bodyPr/>
                    <a:lstStyle/>
                    <a:p>
                      <a:pPr algn="ctr"/>
                      <a:r>
                        <a:rPr lang="en-US">
                          <a:effectLst/>
                        </a:rPr>
                        <a:t>2</a:t>
                      </a:r>
                    </a:p>
                  </a:txBody>
                  <a:tcPr anchor="ctr"/>
                </a:tc>
                <a:tc>
                  <a:txBody>
                    <a:bodyPr/>
                    <a:lstStyle/>
                    <a:p>
                      <a:pPr algn="ctr"/>
                      <a:r>
                        <a:rPr lang="en-US">
                          <a:effectLst/>
                        </a:rPr>
                        <a:t>IT</a:t>
                      </a:r>
                    </a:p>
                  </a:txBody>
                  <a:tcPr anchor="ctr"/>
                </a:tc>
              </a:tr>
              <a:tr h="370840">
                <a:tc>
                  <a:txBody>
                    <a:bodyPr/>
                    <a:lstStyle/>
                    <a:p>
                      <a:pPr algn="ctr"/>
                      <a:r>
                        <a:rPr lang="en-US">
                          <a:effectLst/>
                        </a:rPr>
                        <a:t>3</a:t>
                      </a:r>
                    </a:p>
                  </a:txBody>
                  <a:tcPr anchor="ctr"/>
                </a:tc>
                <a:tc>
                  <a:txBody>
                    <a:bodyPr/>
                    <a:lstStyle/>
                    <a:p>
                      <a:pPr algn="ctr"/>
                      <a:r>
                        <a:rPr lang="en-US" dirty="0">
                          <a:effectLst/>
                        </a:rPr>
                        <a:t>HR</a:t>
                      </a:r>
                    </a:p>
                  </a:txBody>
                  <a:tcPr anchor="ctr"/>
                </a:tc>
              </a:tr>
            </a:tbl>
          </a:graphicData>
        </a:graphic>
      </p:graphicFrame>
    </p:spTree>
    <p:extLst>
      <p:ext uri="{BB962C8B-B14F-4D97-AF65-F5344CB8AC3E}">
        <p14:creationId xmlns:p14="http://schemas.microsoft.com/office/powerpoint/2010/main" val="81837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a Complex View</a:t>
            </a:r>
            <a:br>
              <a:rPr lang="en-US" b="1" dirty="0"/>
            </a:br>
            <a:endParaRPr lang="en-US" dirty="0"/>
          </a:p>
        </p:txBody>
      </p:sp>
      <p:sp>
        <p:nvSpPr>
          <p:cNvPr id="3" name="Content Placeholder 2"/>
          <p:cNvSpPr>
            <a:spLocks noGrp="1"/>
          </p:cNvSpPr>
          <p:nvPr>
            <p:ph idx="1"/>
          </p:nvPr>
        </p:nvSpPr>
        <p:spPr>
          <a:xfrm>
            <a:off x="1103312" y="1405720"/>
            <a:ext cx="10674706" cy="4842680"/>
          </a:xfrm>
        </p:spPr>
        <p:txBody>
          <a:bodyPr>
            <a:normAutofit/>
          </a:bodyPr>
          <a:lstStyle/>
          <a:p>
            <a:r>
              <a:rPr lang="en-US" dirty="0"/>
              <a:t>The complex view is the view that is made from multiple tables, It takes multiple tables in which data is accessed using joins or cross products, It contains inbuilt SQL functions like AVG(), MIN(), MAX() </a:t>
            </a:r>
            <a:r>
              <a:rPr lang="en-US" dirty="0" err="1"/>
              <a:t>etc</a:t>
            </a:r>
            <a:r>
              <a:rPr lang="en-US" dirty="0"/>
              <a:t>, or GROUP BY clause. </a:t>
            </a:r>
            <a:endParaRPr lang="en-US" dirty="0" smtClean="0"/>
          </a:p>
          <a:p>
            <a:r>
              <a:rPr lang="en-US" dirty="0" smtClean="0"/>
              <a:t>So</a:t>
            </a:r>
            <a:r>
              <a:rPr lang="en-US" dirty="0"/>
              <a:t>, whenever we need to access data from multiple tables we can make use of Complex Views</a:t>
            </a:r>
            <a:r>
              <a:rPr lang="en-US" dirty="0" smtClean="0"/>
              <a:t>.</a:t>
            </a:r>
            <a:endParaRPr lang="en-US" dirty="0"/>
          </a:p>
          <a:p>
            <a:r>
              <a:rPr lang="en-US" dirty="0"/>
              <a:t>Let's look at some examples for creating the complex view</a:t>
            </a:r>
            <a:r>
              <a:rPr lang="en-US" dirty="0" smtClean="0"/>
              <a:t>.</a:t>
            </a:r>
            <a:endParaRPr lang="en-US" dirty="0"/>
          </a:p>
          <a:p>
            <a:r>
              <a:rPr lang="en-US" dirty="0"/>
              <a:t>Example</a:t>
            </a:r>
            <a:r>
              <a:rPr lang="en-US" dirty="0" smtClean="0"/>
              <a:t>:</a:t>
            </a:r>
            <a:endParaRPr lang="en-US" dirty="0"/>
          </a:p>
          <a:p>
            <a:r>
              <a:rPr lang="en-US" dirty="0"/>
              <a:t>In this example, we are creating a view table using Employee Table and </a:t>
            </a:r>
            <a:r>
              <a:rPr lang="en-US" dirty="0" err="1"/>
              <a:t>EmpDept</a:t>
            </a:r>
            <a:r>
              <a:rPr lang="en-US" dirty="0"/>
              <a:t> table for getting the </a:t>
            </a:r>
            <a:r>
              <a:rPr lang="en-US" dirty="0" err="1"/>
              <a:t>EmpName</a:t>
            </a:r>
            <a:r>
              <a:rPr lang="en-US" dirty="0"/>
              <a:t> from the Employee table and </a:t>
            </a:r>
            <a:r>
              <a:rPr lang="en-US" dirty="0" err="1"/>
              <a:t>Dept</a:t>
            </a:r>
            <a:r>
              <a:rPr lang="en-US" dirty="0"/>
              <a:t> from </a:t>
            </a:r>
            <a:r>
              <a:rPr lang="en-US" dirty="0" err="1"/>
              <a:t>EmpDept</a:t>
            </a:r>
            <a:r>
              <a:rPr lang="en-US" dirty="0"/>
              <a:t>. So the query will be:</a:t>
            </a:r>
          </a:p>
          <a:p>
            <a:endParaRPr lang="en-US" dirty="0"/>
          </a:p>
        </p:txBody>
      </p:sp>
      <p:sp>
        <p:nvSpPr>
          <p:cNvPr id="5" name="Rectangle 4"/>
          <p:cNvSpPr/>
          <p:nvPr/>
        </p:nvSpPr>
        <p:spPr>
          <a:xfrm>
            <a:off x="1629457" y="5233917"/>
            <a:ext cx="7438030" cy="16240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b="1" dirty="0" smtClean="0"/>
              <a:t>CREATE VIEW EmpView1 AS</a:t>
            </a:r>
          </a:p>
          <a:p>
            <a:pPr algn="ctr"/>
            <a:r>
              <a:rPr lang="en-US" sz="2000" b="1" dirty="0" smtClean="0"/>
              <a:t>SELECT </a:t>
            </a:r>
            <a:r>
              <a:rPr lang="en-US" sz="2000" b="1" dirty="0" err="1" smtClean="0"/>
              <a:t>Employee.EmpName</a:t>
            </a:r>
            <a:r>
              <a:rPr lang="en-US" sz="2000" b="1" dirty="0" smtClean="0"/>
              <a:t>, </a:t>
            </a:r>
            <a:r>
              <a:rPr lang="en-US" sz="2000" b="1" dirty="0" err="1" smtClean="0"/>
              <a:t>EmpRole.Dept</a:t>
            </a:r>
            <a:endParaRPr lang="en-US" sz="2000" b="1" dirty="0" smtClean="0"/>
          </a:p>
          <a:p>
            <a:pPr algn="ctr"/>
            <a:r>
              <a:rPr lang="en-US" sz="2000" b="1" dirty="0" smtClean="0"/>
              <a:t>FROM Employee, </a:t>
            </a:r>
            <a:r>
              <a:rPr lang="en-US" sz="2000" b="1" dirty="0" err="1" smtClean="0"/>
              <a:t>EmpRole</a:t>
            </a:r>
            <a:endParaRPr lang="en-US" sz="2000" b="1" dirty="0" smtClean="0"/>
          </a:p>
          <a:p>
            <a:pPr algn="ctr"/>
            <a:r>
              <a:rPr lang="en-US" sz="2000" b="1" dirty="0" smtClean="0"/>
              <a:t>WHERE </a:t>
            </a:r>
            <a:r>
              <a:rPr lang="en-US" sz="2000" b="1" dirty="0" err="1" smtClean="0"/>
              <a:t>Employee.EmpID</a:t>
            </a:r>
            <a:r>
              <a:rPr lang="en-US" sz="2000" b="1" dirty="0" smtClean="0"/>
              <a:t> = </a:t>
            </a:r>
            <a:r>
              <a:rPr lang="en-US" sz="2000" b="1" dirty="0" err="1" smtClean="0"/>
              <a:t>EmpRole.EmpID</a:t>
            </a:r>
            <a:r>
              <a:rPr lang="en-US" sz="2000" b="1" dirty="0" smtClean="0"/>
              <a:t>;</a:t>
            </a:r>
            <a:endParaRPr lang="en-US" sz="2000" b="1" dirty="0"/>
          </a:p>
        </p:txBody>
      </p:sp>
    </p:spTree>
    <p:extLst>
      <p:ext uri="{BB962C8B-B14F-4D97-AF65-F5344CB8AC3E}">
        <p14:creationId xmlns:p14="http://schemas.microsoft.com/office/powerpoint/2010/main" val="4127953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0357" y="606256"/>
            <a:ext cx="8946541" cy="4195481"/>
          </a:xfrm>
        </p:spPr>
        <p:txBody>
          <a:bodyPr/>
          <a:lstStyle/>
          <a:p>
            <a:r>
              <a:rPr lang="en-US" b="1" dirty="0"/>
              <a:t>Output:</a:t>
            </a:r>
            <a:endParaRPr lang="en-US" dirty="0"/>
          </a:p>
          <a:p>
            <a:r>
              <a:rPr lang="en-US" dirty="0"/>
              <a:t>The view table </a:t>
            </a:r>
            <a:r>
              <a:rPr lang="en-US" dirty="0" smtClean="0"/>
              <a:t> </a:t>
            </a:r>
            <a:r>
              <a:rPr lang="en-US" dirty="0"/>
              <a:t>that we have created from Employee Table and </a:t>
            </a:r>
            <a:r>
              <a:rPr lang="en-US" dirty="0" err="1"/>
              <a:t>EmpRole</a:t>
            </a:r>
            <a:r>
              <a:rPr lang="en-US" dirty="0"/>
              <a:t> Table contains </a:t>
            </a:r>
            <a:r>
              <a:rPr lang="en-US" dirty="0" err="1"/>
              <a:t>EmpName</a:t>
            </a:r>
            <a:r>
              <a:rPr lang="en-US" dirty="0"/>
              <a:t> and </a:t>
            </a:r>
            <a:r>
              <a:rPr lang="en-US" dirty="0" err="1"/>
              <a:t>Dept</a:t>
            </a:r>
            <a:r>
              <a:rPr lang="en-US" dirty="0"/>
              <a:t> as its data fields. </a:t>
            </a:r>
            <a:endParaRPr lang="en-US" dirty="0" smtClean="0"/>
          </a:p>
          <a:p>
            <a:r>
              <a:rPr lang="en-US" dirty="0" smtClean="0"/>
              <a:t>We can also use </a:t>
            </a:r>
            <a:r>
              <a:rPr lang="en-US" dirty="0"/>
              <a:t>the cross-join to get our necessary data.</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360398774"/>
              </p:ext>
            </p:extLst>
          </p:nvPr>
        </p:nvGraphicFramePr>
        <p:xfrm>
          <a:off x="1239627" y="2507523"/>
          <a:ext cx="8128000" cy="2595880"/>
        </p:xfrm>
        <a:graphic>
          <a:graphicData uri="http://schemas.openxmlformats.org/drawingml/2006/table">
            <a:tbl>
              <a:tblPr firstRow="1" bandRow="1">
                <a:tableStyleId>{5C22544A-7EE6-4342-B048-85BDC9FD1C3A}</a:tableStyleId>
              </a:tblPr>
              <a:tblGrid>
                <a:gridCol w="4064000"/>
                <a:gridCol w="4064000"/>
              </a:tblGrid>
              <a:tr h="370840">
                <a:tc>
                  <a:txBody>
                    <a:bodyPr/>
                    <a:lstStyle/>
                    <a:p>
                      <a:pPr algn="ctr"/>
                      <a:r>
                        <a:rPr lang="en-US" dirty="0" err="1">
                          <a:effectLst/>
                        </a:rPr>
                        <a:t>EmpName</a:t>
                      </a:r>
                      <a:endParaRPr lang="en-US" dirty="0">
                        <a:effectLst/>
                      </a:endParaRPr>
                    </a:p>
                  </a:txBody>
                  <a:tcPr anchor="ctr"/>
                </a:tc>
                <a:tc>
                  <a:txBody>
                    <a:bodyPr/>
                    <a:lstStyle/>
                    <a:p>
                      <a:pPr algn="ctr"/>
                      <a:r>
                        <a:rPr lang="en-US">
                          <a:effectLst/>
                        </a:rPr>
                        <a:t>Dept</a:t>
                      </a:r>
                    </a:p>
                  </a:txBody>
                  <a:tcPr anchor="ctr"/>
                </a:tc>
              </a:tr>
              <a:tr h="370840">
                <a:tc>
                  <a:txBody>
                    <a:bodyPr/>
                    <a:lstStyle/>
                    <a:p>
                      <a:pPr algn="ctr"/>
                      <a:r>
                        <a:rPr lang="en-US">
                          <a:effectLst/>
                        </a:rPr>
                        <a:t>Alex</a:t>
                      </a:r>
                    </a:p>
                  </a:txBody>
                  <a:tcPr anchor="ctr"/>
                </a:tc>
                <a:tc>
                  <a:txBody>
                    <a:bodyPr/>
                    <a:lstStyle/>
                    <a:p>
                      <a:pPr algn="ctr"/>
                      <a:r>
                        <a:rPr lang="en-US">
                          <a:effectLst/>
                        </a:rPr>
                        <a:t>Engineering</a:t>
                      </a:r>
                    </a:p>
                  </a:txBody>
                  <a:tcPr anchor="ctr"/>
                </a:tc>
              </a:tr>
              <a:tr h="370840">
                <a:tc>
                  <a:txBody>
                    <a:bodyPr/>
                    <a:lstStyle/>
                    <a:p>
                      <a:pPr algn="ctr"/>
                      <a:r>
                        <a:rPr lang="en-US">
                          <a:effectLst/>
                        </a:rPr>
                        <a:t>Adolf</a:t>
                      </a:r>
                    </a:p>
                  </a:txBody>
                  <a:tcPr anchor="ctr"/>
                </a:tc>
                <a:tc>
                  <a:txBody>
                    <a:bodyPr/>
                    <a:lstStyle/>
                    <a:p>
                      <a:pPr algn="ctr"/>
                      <a:r>
                        <a:rPr lang="en-US">
                          <a:effectLst/>
                        </a:rPr>
                        <a:t>IT</a:t>
                      </a:r>
                    </a:p>
                  </a:txBody>
                  <a:tcPr anchor="ctr"/>
                </a:tc>
              </a:tr>
              <a:tr h="370840">
                <a:tc>
                  <a:txBody>
                    <a:bodyPr/>
                    <a:lstStyle/>
                    <a:p>
                      <a:pPr algn="ctr"/>
                      <a:r>
                        <a:rPr lang="en-US">
                          <a:effectLst/>
                        </a:rPr>
                        <a:t>Aryan</a:t>
                      </a:r>
                    </a:p>
                  </a:txBody>
                  <a:tcPr anchor="ctr"/>
                </a:tc>
                <a:tc>
                  <a:txBody>
                    <a:bodyPr/>
                    <a:lstStyle/>
                    <a:p>
                      <a:pPr algn="ctr"/>
                      <a:r>
                        <a:rPr lang="en-US">
                          <a:effectLst/>
                        </a:rPr>
                        <a:t>HR</a:t>
                      </a:r>
                    </a:p>
                  </a:txBody>
                  <a:tcPr anchor="ctr"/>
                </a:tc>
              </a:tr>
              <a:tr h="370840">
                <a:tc>
                  <a:txBody>
                    <a:bodyPr/>
                    <a:lstStyle/>
                    <a:p>
                      <a:pPr algn="ctr"/>
                      <a:r>
                        <a:rPr lang="en-US">
                          <a:effectLst/>
                        </a:rPr>
                        <a:t>Bhuvan</a:t>
                      </a:r>
                    </a:p>
                  </a:txBody>
                  <a:tcPr anchor="ctr"/>
                </a:tc>
                <a:tc>
                  <a:txBody>
                    <a:bodyPr/>
                    <a:lstStyle/>
                    <a:p>
                      <a:pPr algn="ctr"/>
                      <a:r>
                        <a:rPr lang="en-US">
                          <a:effectLst/>
                        </a:rPr>
                        <a:t>Engineering</a:t>
                      </a:r>
                    </a:p>
                  </a:txBody>
                  <a:tcPr anchor="ctr"/>
                </a:tc>
              </a:tr>
              <a:tr h="370840">
                <a:tc>
                  <a:txBody>
                    <a:bodyPr/>
                    <a:lstStyle/>
                    <a:p>
                      <a:pPr algn="ctr"/>
                      <a:r>
                        <a:rPr lang="en-US">
                          <a:effectLst/>
                        </a:rPr>
                        <a:t>Carol</a:t>
                      </a:r>
                    </a:p>
                  </a:txBody>
                  <a:tcPr anchor="ctr"/>
                </a:tc>
                <a:tc>
                  <a:txBody>
                    <a:bodyPr/>
                    <a:lstStyle/>
                    <a:p>
                      <a:pPr algn="ctr"/>
                      <a:r>
                        <a:rPr lang="en-US">
                          <a:effectLst/>
                        </a:rPr>
                        <a:t>Engineering</a:t>
                      </a:r>
                    </a:p>
                  </a:txBody>
                  <a:tcPr anchor="ctr"/>
                </a:tc>
              </a:tr>
              <a:tr h="370840">
                <a:tc>
                  <a:txBody>
                    <a:bodyPr/>
                    <a:lstStyle/>
                    <a:p>
                      <a:pPr algn="ctr"/>
                      <a:r>
                        <a:rPr lang="en-US">
                          <a:effectLst/>
                        </a:rPr>
                        <a:t>Steve</a:t>
                      </a:r>
                    </a:p>
                  </a:txBody>
                  <a:tcPr anchor="ctr"/>
                </a:tc>
                <a:tc>
                  <a:txBody>
                    <a:bodyPr/>
                    <a:lstStyle/>
                    <a:p>
                      <a:pPr algn="ctr"/>
                      <a:r>
                        <a:rPr lang="en-US" dirty="0">
                          <a:effectLst/>
                        </a:rPr>
                        <a:t>Engineering</a:t>
                      </a:r>
                    </a:p>
                  </a:txBody>
                  <a:tcPr anchor="ctr"/>
                </a:tc>
              </a:tr>
            </a:tbl>
          </a:graphicData>
        </a:graphic>
      </p:graphicFrame>
    </p:spTree>
    <p:extLst>
      <p:ext uri="{BB962C8B-B14F-4D97-AF65-F5344CB8AC3E}">
        <p14:creationId xmlns:p14="http://schemas.microsoft.com/office/powerpoint/2010/main" val="857920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Updating a View</a:t>
            </a:r>
            <a:br>
              <a:rPr lang="en-US" b="1" dirty="0"/>
            </a:br>
            <a:endParaRPr lang="en-US" dirty="0"/>
          </a:p>
        </p:txBody>
      </p:sp>
      <p:sp>
        <p:nvSpPr>
          <p:cNvPr id="3" name="Content Placeholder 2"/>
          <p:cNvSpPr>
            <a:spLocks noGrp="1"/>
          </p:cNvSpPr>
          <p:nvPr>
            <p:ph idx="1"/>
          </p:nvPr>
        </p:nvSpPr>
        <p:spPr>
          <a:xfrm>
            <a:off x="100199" y="1343235"/>
            <a:ext cx="11923479" cy="4195481"/>
          </a:xfrm>
        </p:spPr>
        <p:txBody>
          <a:bodyPr>
            <a:noAutofit/>
          </a:bodyPr>
          <a:lstStyle/>
          <a:p>
            <a:r>
              <a:rPr lang="en-US" sz="2400" dirty="0"/>
              <a:t>A view can be updated with the CREATE OR REPLACE VIEW statement</a:t>
            </a:r>
            <a:r>
              <a:rPr lang="en-US" sz="2400" dirty="0" smtClean="0"/>
              <a:t>.</a:t>
            </a:r>
          </a:p>
          <a:p>
            <a:r>
              <a:rPr lang="en-US" sz="2400" dirty="0"/>
              <a:t>Create or replace view statement is </a:t>
            </a:r>
            <a:r>
              <a:rPr lang="en-US" sz="2400" b="1" i="1" dirty="0"/>
              <a:t>used to add or remove fields from existing views</a:t>
            </a:r>
            <a:endParaRPr lang="en-US" sz="2400" b="1" dirty="0" smtClean="0"/>
          </a:p>
          <a:p>
            <a:r>
              <a:rPr lang="en-US" sz="2400" dirty="0"/>
              <a:t>Views are </a:t>
            </a:r>
            <a:r>
              <a:rPr lang="en-US" sz="2400" b="1" i="1" dirty="0"/>
              <a:t>updated only if certain conditions are met</a:t>
            </a:r>
            <a:r>
              <a:rPr lang="en-US" sz="2400" i="1" dirty="0"/>
              <a:t> </a:t>
            </a:r>
            <a:r>
              <a:rPr lang="en-US" sz="2400" dirty="0"/>
              <a:t>otherwise if any one of the conditions are not met views will not be </a:t>
            </a:r>
            <a:r>
              <a:rPr lang="en-US" sz="2400" dirty="0" smtClean="0"/>
              <a:t>updated.</a:t>
            </a:r>
          </a:p>
          <a:p>
            <a:r>
              <a:rPr lang="en-US" sz="2400" b="1" u="sng" dirty="0"/>
              <a:t>Criteria for View Updating</a:t>
            </a:r>
            <a:r>
              <a:rPr lang="en-US" sz="2400" dirty="0"/>
              <a:t> </a:t>
            </a:r>
            <a:endParaRPr lang="en-US" sz="2400" b="1" dirty="0"/>
          </a:p>
          <a:p>
            <a:r>
              <a:rPr lang="en-US" sz="2400" dirty="0"/>
              <a:t>The </a:t>
            </a:r>
            <a:r>
              <a:rPr lang="en-US" sz="2400" b="1" i="1" dirty="0"/>
              <a:t>select statement</a:t>
            </a:r>
            <a:r>
              <a:rPr lang="en-US" sz="2400" dirty="0"/>
              <a:t> used in the create view statement </a:t>
            </a:r>
            <a:r>
              <a:rPr lang="en-US" sz="2400" b="1" i="1" dirty="0"/>
              <a:t>should not include group by clause or order by clause</a:t>
            </a:r>
            <a:endParaRPr lang="en-US" sz="2400" dirty="0"/>
          </a:p>
          <a:p>
            <a:r>
              <a:rPr lang="en-US" sz="2400" dirty="0"/>
              <a:t>The select statement </a:t>
            </a:r>
            <a:r>
              <a:rPr lang="en-US" sz="2400" b="1" i="1" dirty="0"/>
              <a:t>must not contain distinct keyword</a:t>
            </a:r>
            <a:endParaRPr lang="en-US" sz="2400" dirty="0"/>
          </a:p>
          <a:p>
            <a:r>
              <a:rPr lang="en-US" sz="2400" dirty="0"/>
              <a:t>A view </a:t>
            </a:r>
            <a:r>
              <a:rPr lang="en-US" sz="2400" b="1" i="1" dirty="0"/>
              <a:t>should not be created from nested or Complex queries</a:t>
            </a:r>
            <a:endParaRPr lang="en-US" sz="2400" dirty="0"/>
          </a:p>
          <a:p>
            <a:r>
              <a:rPr lang="en-US" sz="2400" dirty="0"/>
              <a:t>A view should be</a:t>
            </a:r>
            <a:r>
              <a:rPr lang="en-US" sz="2400" b="1" i="1" dirty="0"/>
              <a:t> created from a single table</a:t>
            </a:r>
            <a:r>
              <a:rPr lang="en-US" sz="2400" dirty="0"/>
              <a:t> but</a:t>
            </a:r>
            <a:r>
              <a:rPr lang="en-US" sz="2400" b="1" i="1" dirty="0"/>
              <a:t> if the view is created from more than one table then it is not allowed for updating</a:t>
            </a:r>
            <a:endParaRPr lang="en-US" sz="2400" dirty="0"/>
          </a:p>
          <a:p>
            <a:endParaRPr lang="en-US" sz="2400" dirty="0"/>
          </a:p>
        </p:txBody>
      </p:sp>
    </p:spTree>
    <p:extLst>
      <p:ext uri="{BB962C8B-B14F-4D97-AF65-F5344CB8AC3E}">
        <p14:creationId xmlns:p14="http://schemas.microsoft.com/office/powerpoint/2010/main" val="1728081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269" y="111524"/>
            <a:ext cx="9404723" cy="1400530"/>
          </a:xfrm>
        </p:spPr>
        <p:txBody>
          <a:bodyPr/>
          <a:lstStyle/>
          <a:p>
            <a:r>
              <a:rPr lang="en-US" dirty="0"/>
              <a:t>Syntax:</a:t>
            </a:r>
            <a:br>
              <a:rPr lang="en-US" dirty="0"/>
            </a:br>
            <a:endParaRPr lang="en-US" dirty="0"/>
          </a:p>
        </p:txBody>
      </p:sp>
      <p:sp>
        <p:nvSpPr>
          <p:cNvPr id="3" name="Content Placeholder 2"/>
          <p:cNvSpPr>
            <a:spLocks noGrp="1"/>
          </p:cNvSpPr>
          <p:nvPr>
            <p:ph idx="1"/>
          </p:nvPr>
        </p:nvSpPr>
        <p:spPr>
          <a:xfrm>
            <a:off x="0" y="3131091"/>
            <a:ext cx="12038501" cy="4195481"/>
          </a:xfrm>
        </p:spPr>
        <p:txBody>
          <a:bodyPr>
            <a:normAutofit/>
          </a:bodyPr>
          <a:lstStyle/>
          <a:p>
            <a:r>
              <a:rPr lang="en-US" sz="2400" dirty="0"/>
              <a:t>The following SQL adds the "Mobile" column to the "Students_CSE" view:</a:t>
            </a:r>
          </a:p>
        </p:txBody>
      </p:sp>
      <p:sp>
        <p:nvSpPr>
          <p:cNvPr id="5" name="Rectangle 4"/>
          <p:cNvSpPr/>
          <p:nvPr/>
        </p:nvSpPr>
        <p:spPr>
          <a:xfrm>
            <a:off x="291269" y="811789"/>
            <a:ext cx="4389913" cy="211540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2400" b="1" dirty="0" smtClean="0"/>
              <a:t>CREATE OR REPLACE VIEW view_name AS</a:t>
            </a:r>
          </a:p>
          <a:p>
            <a:r>
              <a:rPr lang="en-US" sz="2400" b="1" dirty="0" smtClean="0"/>
              <a:t>SELECT column1,coulmn2,..</a:t>
            </a:r>
          </a:p>
          <a:p>
            <a:r>
              <a:rPr lang="en-US" sz="2400" b="1" dirty="0" smtClean="0"/>
              <a:t>FROM table_name</a:t>
            </a:r>
          </a:p>
          <a:p>
            <a:r>
              <a:rPr lang="en-US" sz="2400" b="1" dirty="0" smtClean="0"/>
              <a:t>WHERE condition;</a:t>
            </a:r>
            <a:endParaRPr lang="en-US" sz="2400" b="1" dirty="0"/>
          </a:p>
        </p:txBody>
      </p:sp>
      <p:sp>
        <p:nvSpPr>
          <p:cNvPr id="6" name="Rectangle 5"/>
          <p:cNvSpPr/>
          <p:nvPr/>
        </p:nvSpPr>
        <p:spPr>
          <a:xfrm>
            <a:off x="225188" y="3742898"/>
            <a:ext cx="6496334" cy="201986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smtClean="0"/>
              <a:t>Example:</a:t>
            </a:r>
          </a:p>
          <a:p>
            <a:r>
              <a:rPr lang="en-US" sz="2400" b="1" dirty="0" smtClean="0"/>
              <a:t>CREATE OR REPLACE VIEW Students_CSE AS</a:t>
            </a:r>
          </a:p>
          <a:p>
            <a:r>
              <a:rPr lang="en-US" sz="2400" b="1" dirty="0" smtClean="0"/>
              <a:t>SELECT </a:t>
            </a:r>
            <a:r>
              <a:rPr lang="en-US" sz="2400" b="1" dirty="0" err="1" smtClean="0"/>
              <a:t>Roll_no,Name,Mobile</a:t>
            </a:r>
            <a:endParaRPr lang="en-US" sz="2400" b="1" dirty="0" smtClean="0"/>
          </a:p>
          <a:p>
            <a:r>
              <a:rPr lang="en-US" sz="2400" b="1" dirty="0" smtClean="0"/>
              <a:t>FROM Students</a:t>
            </a:r>
          </a:p>
          <a:p>
            <a:r>
              <a:rPr lang="en-US" sz="2400" b="1" dirty="0" smtClean="0"/>
              <a:t>WHERE Branch = 'CSE';</a:t>
            </a:r>
            <a:endParaRPr lang="en-US" sz="2400" b="1" dirty="0"/>
          </a:p>
        </p:txBody>
      </p:sp>
      <p:sp>
        <p:nvSpPr>
          <p:cNvPr id="7" name="Rectangle 6"/>
          <p:cNvSpPr/>
          <p:nvPr/>
        </p:nvSpPr>
        <p:spPr>
          <a:xfrm>
            <a:off x="6721522" y="3838771"/>
            <a:ext cx="5316979" cy="1569660"/>
          </a:xfrm>
          <a:prstGeom prst="rect">
            <a:avLst/>
          </a:prstGeom>
        </p:spPr>
        <p:txBody>
          <a:bodyPr wrap="square">
            <a:spAutoFit/>
          </a:bodyPr>
          <a:lstStyle/>
          <a:p>
            <a:pPr marL="342900" indent="-342900">
              <a:buFont typeface="Wingdings" panose="05000000000000000000" pitchFamily="2" charset="2"/>
              <a:buChar char="Ø"/>
            </a:pPr>
            <a:r>
              <a:rPr lang="en-US" sz="2400" dirty="0" smtClean="0"/>
              <a:t>CREATE VIEW defines a view on a set of tables  or views or both.</a:t>
            </a:r>
          </a:p>
          <a:p>
            <a:pPr marL="342900" indent="-342900">
              <a:buFont typeface="Wingdings" panose="05000000000000000000" pitchFamily="2" charset="2"/>
              <a:buChar char="Ø"/>
            </a:pPr>
            <a:r>
              <a:rPr lang="en-US" sz="2400" dirty="0" smtClean="0"/>
              <a:t>REPLACE VIEW redefines an existing view.</a:t>
            </a:r>
            <a:endParaRPr lang="en-US" sz="2400" dirty="0"/>
          </a:p>
        </p:txBody>
      </p:sp>
      <p:sp>
        <p:nvSpPr>
          <p:cNvPr id="9" name="Rectangle 8"/>
          <p:cNvSpPr/>
          <p:nvPr/>
        </p:nvSpPr>
        <p:spPr>
          <a:xfrm>
            <a:off x="625522" y="5898759"/>
            <a:ext cx="10442812" cy="1015663"/>
          </a:xfrm>
          <a:prstGeom prst="rect">
            <a:avLst/>
          </a:prstGeom>
        </p:spPr>
        <p:txBody>
          <a:bodyPr wrap="square">
            <a:spAutoFit/>
          </a:bodyPr>
          <a:lstStyle/>
          <a:p>
            <a:r>
              <a:rPr lang="en-US" sz="2000" b="1" dirty="0" smtClean="0"/>
              <a:t>Fetch all the data from </a:t>
            </a:r>
            <a:r>
              <a:rPr lang="en-US" sz="2000" b="1" dirty="0" err="1" smtClean="0"/>
              <a:t>MarksView</a:t>
            </a:r>
            <a:r>
              <a:rPr lang="en-US" sz="2000" b="1" dirty="0" smtClean="0"/>
              <a:t> now as:</a:t>
            </a:r>
          </a:p>
          <a:p>
            <a:endParaRPr lang="en-US" sz="2000" b="1" dirty="0" smtClean="0"/>
          </a:p>
          <a:p>
            <a:r>
              <a:rPr lang="en-US" sz="2000" b="1" dirty="0" smtClean="0"/>
              <a:t>SELECT * FROM Students_CSE;</a:t>
            </a:r>
            <a:endParaRPr lang="en-US" sz="2000" b="1" dirty="0"/>
          </a:p>
        </p:txBody>
      </p:sp>
    </p:spTree>
    <p:extLst>
      <p:ext uri="{BB962C8B-B14F-4D97-AF65-F5344CB8AC3E}">
        <p14:creationId xmlns:p14="http://schemas.microsoft.com/office/powerpoint/2010/main" val="1355581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Manipulating Data in a View</a:t>
            </a:r>
            <a:br>
              <a:rPr lang="en-US" b="1" dirty="0"/>
            </a:br>
            <a:endParaRPr lang="en-US" dirty="0"/>
          </a:p>
        </p:txBody>
      </p:sp>
      <p:sp>
        <p:nvSpPr>
          <p:cNvPr id="3" name="Content Placeholder 2"/>
          <p:cNvSpPr>
            <a:spLocks noGrp="1"/>
          </p:cNvSpPr>
          <p:nvPr>
            <p:ph idx="1"/>
          </p:nvPr>
        </p:nvSpPr>
        <p:spPr>
          <a:xfrm>
            <a:off x="407276" y="1356883"/>
            <a:ext cx="11302504" cy="5275930"/>
          </a:xfrm>
        </p:spPr>
        <p:txBody>
          <a:bodyPr>
            <a:normAutofit lnSpcReduction="10000"/>
          </a:bodyPr>
          <a:lstStyle/>
          <a:p>
            <a:r>
              <a:rPr lang="en-US" dirty="0"/>
              <a:t>Views can also be used to manipulate data in the scope of the view table only</a:t>
            </a:r>
            <a:r>
              <a:rPr lang="en-US" dirty="0" smtClean="0"/>
              <a:t>,</a:t>
            </a:r>
          </a:p>
          <a:p>
            <a:r>
              <a:rPr lang="en-US" dirty="0" smtClean="0"/>
              <a:t> </a:t>
            </a:r>
            <a:r>
              <a:rPr lang="en-US" b="1" dirty="0"/>
              <a:t>if the view is updatable, updating it will also update the base table or base tables from which the view is derived</a:t>
            </a:r>
            <a:r>
              <a:rPr lang="en-US" dirty="0"/>
              <a:t>. </a:t>
            </a:r>
            <a:endParaRPr lang="en-US" dirty="0" smtClean="0"/>
          </a:p>
          <a:p>
            <a:r>
              <a:rPr lang="en-US" dirty="0" smtClean="0"/>
              <a:t>Any </a:t>
            </a:r>
            <a:r>
              <a:rPr lang="en-US" dirty="0"/>
              <a:t>modifications you make to the view will also affect the base table(s).</a:t>
            </a:r>
            <a:r>
              <a:rPr lang="en-US" dirty="0" smtClean="0"/>
              <a:t>Updateable </a:t>
            </a:r>
            <a:r>
              <a:rPr lang="en-US" dirty="0"/>
              <a:t>Views are views that allow for data manipulation but there are certain conditions needed to be taken care of while manipulating the data of the view:</a:t>
            </a:r>
          </a:p>
          <a:p>
            <a:r>
              <a:rPr lang="en-US" dirty="0"/>
              <a:t>The GROUP BY and </a:t>
            </a:r>
            <a:r>
              <a:rPr lang="en-US" b="1" dirty="0"/>
              <a:t>ORDER BY </a:t>
            </a:r>
            <a:r>
              <a:rPr lang="en-US" dirty="0"/>
              <a:t>clauses should not be included in the SELECT statement used to generate the view.</a:t>
            </a:r>
          </a:p>
          <a:p>
            <a:r>
              <a:rPr lang="en-US" dirty="0"/>
              <a:t>The </a:t>
            </a:r>
            <a:r>
              <a:rPr lang="en-US" b="1" dirty="0"/>
              <a:t>DISTINCT</a:t>
            </a:r>
            <a:r>
              <a:rPr lang="en-US" dirty="0"/>
              <a:t> keyword should not be used in the </a:t>
            </a:r>
            <a:r>
              <a:rPr lang="en-US" b="1" dirty="0"/>
              <a:t>SELECT</a:t>
            </a:r>
            <a:r>
              <a:rPr lang="en-US" dirty="0"/>
              <a:t> statement.</a:t>
            </a:r>
          </a:p>
          <a:p>
            <a:r>
              <a:rPr lang="en-US" dirty="0"/>
              <a:t>All </a:t>
            </a:r>
            <a:r>
              <a:rPr lang="en-US" b="1" dirty="0"/>
              <a:t>NOT NULL </a:t>
            </a:r>
            <a:r>
              <a:rPr lang="en-US" dirty="0"/>
              <a:t>values should be present in the View.</a:t>
            </a:r>
          </a:p>
          <a:p>
            <a:r>
              <a:rPr lang="en-US" dirty="0"/>
              <a:t>Nested or complex queries should not be used to construct the view.</a:t>
            </a:r>
          </a:p>
          <a:p>
            <a:r>
              <a:rPr lang="en-US" dirty="0"/>
              <a:t>A single table should be used to generate the view. We would not be able to update the view if it was constructed using several tables.</a:t>
            </a:r>
          </a:p>
          <a:p>
            <a:r>
              <a:rPr lang="en-US" dirty="0"/>
              <a:t>Manipulating data in a view includes inserting or deleting a row from the view table</a:t>
            </a:r>
          </a:p>
          <a:p>
            <a:endParaRPr lang="en-US" dirty="0"/>
          </a:p>
        </p:txBody>
      </p:sp>
    </p:spTree>
    <p:extLst>
      <p:ext uri="{BB962C8B-B14F-4D97-AF65-F5344CB8AC3E}">
        <p14:creationId xmlns:p14="http://schemas.microsoft.com/office/powerpoint/2010/main" val="2627969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Inserting a Row in a View</a:t>
            </a:r>
            <a:br>
              <a:rPr lang="en-US" b="1" dirty="0"/>
            </a:br>
            <a:endParaRPr lang="en-US" dirty="0"/>
          </a:p>
        </p:txBody>
      </p:sp>
      <p:sp>
        <p:nvSpPr>
          <p:cNvPr id="3" name="Content Placeholder 2"/>
          <p:cNvSpPr>
            <a:spLocks noGrp="1"/>
          </p:cNvSpPr>
          <p:nvPr>
            <p:ph idx="1"/>
          </p:nvPr>
        </p:nvSpPr>
        <p:spPr/>
        <p:txBody>
          <a:bodyPr/>
          <a:lstStyle/>
          <a:p>
            <a:r>
              <a:rPr lang="en-US" dirty="0"/>
              <a:t>We can use insert into statement of SQL </a:t>
            </a:r>
            <a:r>
              <a:rPr lang="en-US" b="1" i="1" dirty="0"/>
              <a:t>to insert a row in a view just like inserting a row in an ordinary table</a:t>
            </a:r>
            <a:endParaRPr lang="en-US" dirty="0"/>
          </a:p>
        </p:txBody>
      </p:sp>
      <p:sp>
        <p:nvSpPr>
          <p:cNvPr id="4" name="Rectangle 3"/>
          <p:cNvSpPr/>
          <p:nvPr/>
        </p:nvSpPr>
        <p:spPr>
          <a:xfrm>
            <a:off x="1103312" y="2947915"/>
            <a:ext cx="7999745" cy="330048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2000" dirty="0" smtClean="0"/>
              <a:t>Syntax: </a:t>
            </a:r>
          </a:p>
          <a:p>
            <a:pPr algn="ctr"/>
            <a:endParaRPr lang="en-US" sz="2000" dirty="0" smtClean="0"/>
          </a:p>
          <a:p>
            <a:pPr algn="ctr"/>
            <a:r>
              <a:rPr lang="en-US" sz="2000" dirty="0" smtClean="0"/>
              <a:t>INSERT view_name(column1, column2 , column3,..)</a:t>
            </a:r>
          </a:p>
          <a:p>
            <a:pPr algn="ctr"/>
            <a:r>
              <a:rPr lang="en-US" sz="2000" dirty="0" smtClean="0"/>
              <a:t>VALUES(value1, value2, value3..);</a:t>
            </a:r>
          </a:p>
          <a:p>
            <a:r>
              <a:rPr lang="en-US" sz="2000" dirty="0" smtClean="0"/>
              <a:t>Example </a:t>
            </a:r>
          </a:p>
          <a:p>
            <a:pPr algn="ctr"/>
            <a:endParaRPr lang="en-US" sz="2000" dirty="0" smtClean="0"/>
          </a:p>
          <a:p>
            <a:pPr algn="ctr"/>
            <a:r>
              <a:rPr lang="en-US" sz="2000" dirty="0" smtClean="0"/>
              <a:t>INSERT INTO </a:t>
            </a:r>
            <a:r>
              <a:rPr lang="en-US" sz="2000" dirty="0" err="1" smtClean="0"/>
              <a:t>DetailsView</a:t>
            </a:r>
            <a:r>
              <a:rPr lang="en-US" sz="2000" dirty="0" smtClean="0"/>
              <a:t>(NAME, ADDRESS)</a:t>
            </a:r>
          </a:p>
          <a:p>
            <a:pPr algn="ctr"/>
            <a:r>
              <a:rPr lang="en-US" sz="2000" dirty="0" smtClean="0"/>
              <a:t>VALUES("</a:t>
            </a:r>
            <a:r>
              <a:rPr lang="en-US" sz="2000" dirty="0" err="1" smtClean="0"/>
              <a:t>Preity</a:t>
            </a:r>
            <a:r>
              <a:rPr lang="en-US" sz="2000" dirty="0" smtClean="0"/>
              <a:t>","Hyderabad");</a:t>
            </a:r>
            <a:endParaRPr lang="en-US" sz="2000" dirty="0"/>
          </a:p>
        </p:txBody>
      </p:sp>
    </p:spTree>
    <p:extLst>
      <p:ext uri="{BB962C8B-B14F-4D97-AF65-F5344CB8AC3E}">
        <p14:creationId xmlns:p14="http://schemas.microsoft.com/office/powerpoint/2010/main" val="4102888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Deleting a Row in a View</a:t>
            </a:r>
            <a:br>
              <a:rPr lang="en-US" b="1" dirty="0"/>
            </a:br>
            <a:endParaRPr lang="en-US" dirty="0"/>
          </a:p>
        </p:txBody>
      </p:sp>
      <p:sp>
        <p:nvSpPr>
          <p:cNvPr id="3" name="Content Placeholder 2"/>
          <p:cNvSpPr>
            <a:spLocks noGrp="1"/>
          </p:cNvSpPr>
          <p:nvPr>
            <p:ph idx="1"/>
          </p:nvPr>
        </p:nvSpPr>
        <p:spPr>
          <a:xfrm>
            <a:off x="646111" y="1520655"/>
            <a:ext cx="10347160" cy="4195481"/>
          </a:xfrm>
        </p:spPr>
        <p:txBody>
          <a:bodyPr/>
          <a:lstStyle/>
          <a:p>
            <a:r>
              <a:rPr lang="en-US" dirty="0"/>
              <a:t>A row in a view </a:t>
            </a:r>
            <a:r>
              <a:rPr lang="en-US" b="1" i="1" dirty="0"/>
              <a:t>can be deleted just like simply deleting rows from a Table using delete statement</a:t>
            </a:r>
            <a:endParaRPr lang="en-US" dirty="0"/>
          </a:p>
          <a:p>
            <a:r>
              <a:rPr lang="en-US" dirty="0"/>
              <a:t>But remember a row in a view </a:t>
            </a:r>
            <a:r>
              <a:rPr lang="en-US" b="1" i="1" dirty="0"/>
              <a:t>can be deleted only if the row is actually deleted in the original table from which it is created</a:t>
            </a:r>
            <a:endParaRPr lang="en-US" dirty="0"/>
          </a:p>
          <a:p>
            <a:endParaRPr lang="en-US" dirty="0"/>
          </a:p>
        </p:txBody>
      </p:sp>
      <p:sp>
        <p:nvSpPr>
          <p:cNvPr id="4" name="Rectangle 3"/>
          <p:cNvSpPr/>
          <p:nvPr/>
        </p:nvSpPr>
        <p:spPr>
          <a:xfrm>
            <a:off x="395785" y="3125337"/>
            <a:ext cx="7847463" cy="2661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2000" b="1" dirty="0" smtClean="0"/>
              <a:t>Syntax: </a:t>
            </a:r>
          </a:p>
          <a:p>
            <a:pPr algn="ctr"/>
            <a:endParaRPr lang="en-US" sz="2000" b="1" dirty="0" smtClean="0"/>
          </a:p>
          <a:p>
            <a:pPr algn="ctr"/>
            <a:r>
              <a:rPr lang="en-US" sz="2000" b="1" dirty="0" smtClean="0"/>
              <a:t>DELETE FROM view_name</a:t>
            </a:r>
          </a:p>
          <a:p>
            <a:pPr algn="ctr"/>
            <a:r>
              <a:rPr lang="en-US" sz="2000" b="1" dirty="0" smtClean="0"/>
              <a:t>WHERE condition;</a:t>
            </a:r>
          </a:p>
          <a:p>
            <a:r>
              <a:rPr lang="en-US" sz="2000" b="1" dirty="0" smtClean="0"/>
              <a:t>Example</a:t>
            </a:r>
          </a:p>
          <a:p>
            <a:pPr algn="ctr"/>
            <a:endParaRPr lang="en-US" sz="2000" b="1" dirty="0" smtClean="0"/>
          </a:p>
          <a:p>
            <a:pPr algn="ctr"/>
            <a:r>
              <a:rPr lang="en-US" sz="2000" b="1" dirty="0" smtClean="0"/>
              <a:t>DELETE FROM </a:t>
            </a:r>
            <a:r>
              <a:rPr lang="en-US" sz="2000" b="1" dirty="0" err="1" smtClean="0"/>
              <a:t>DetailsView</a:t>
            </a:r>
            <a:endParaRPr lang="en-US" sz="2000" b="1" dirty="0" smtClean="0"/>
          </a:p>
          <a:p>
            <a:pPr algn="ctr"/>
            <a:r>
              <a:rPr lang="en-US" sz="2000" b="1" dirty="0" smtClean="0"/>
              <a:t>WHERE NAME="</a:t>
            </a:r>
            <a:r>
              <a:rPr lang="en-US" sz="2000" b="1" dirty="0" err="1" smtClean="0"/>
              <a:t>Preity</a:t>
            </a:r>
            <a:r>
              <a:rPr lang="en-US" sz="2000" b="1" dirty="0" smtClean="0"/>
              <a:t>";</a:t>
            </a:r>
            <a:endParaRPr lang="en-US" sz="2000" b="1" dirty="0"/>
          </a:p>
        </p:txBody>
      </p:sp>
    </p:spTree>
    <p:extLst>
      <p:ext uri="{BB962C8B-B14F-4D97-AF65-F5344CB8AC3E}">
        <p14:creationId xmlns:p14="http://schemas.microsoft.com/office/powerpoint/2010/main" val="341813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Dropping a View</a:t>
            </a:r>
            <a:br>
              <a:rPr lang="en-US" b="1" dirty="0"/>
            </a:br>
            <a:endParaRPr lang="en-US" dirty="0"/>
          </a:p>
        </p:txBody>
      </p:sp>
      <p:sp>
        <p:nvSpPr>
          <p:cNvPr id="3" name="Content Placeholder 2"/>
          <p:cNvSpPr>
            <a:spLocks noGrp="1"/>
          </p:cNvSpPr>
          <p:nvPr>
            <p:ph idx="1"/>
          </p:nvPr>
        </p:nvSpPr>
        <p:spPr/>
        <p:txBody>
          <a:bodyPr/>
          <a:lstStyle/>
          <a:p>
            <a:r>
              <a:rPr lang="en-US" dirty="0"/>
              <a:t>In order to delete a view in a database, we can use the DROP VIEW statement</a:t>
            </a:r>
            <a:r>
              <a:rPr lang="en-US" dirty="0" smtClean="0"/>
              <a:t>.</a:t>
            </a:r>
          </a:p>
          <a:p>
            <a:endParaRPr lang="en-US" dirty="0"/>
          </a:p>
        </p:txBody>
      </p:sp>
      <p:sp>
        <p:nvSpPr>
          <p:cNvPr id="5" name="Rectangle 4"/>
          <p:cNvSpPr/>
          <p:nvPr/>
        </p:nvSpPr>
        <p:spPr>
          <a:xfrm>
            <a:off x="2242899" y="2975211"/>
            <a:ext cx="5645507" cy="158314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smtClean="0"/>
              <a:t>DROP VIEW view_name;</a:t>
            </a:r>
          </a:p>
          <a:p>
            <a:pPr algn="ctr"/>
            <a:endParaRPr lang="en-US" sz="2800" dirty="0" smtClean="0"/>
          </a:p>
          <a:p>
            <a:pPr algn="ctr"/>
            <a:r>
              <a:rPr lang="en-US" sz="2800" dirty="0" smtClean="0"/>
              <a:t>DROP VIEW Students_CSE;</a:t>
            </a:r>
            <a:endParaRPr lang="en-US" sz="2800" dirty="0"/>
          </a:p>
        </p:txBody>
      </p:sp>
    </p:spTree>
    <p:extLst>
      <p:ext uri="{BB962C8B-B14F-4D97-AF65-F5344CB8AC3E}">
        <p14:creationId xmlns:p14="http://schemas.microsoft.com/office/powerpoint/2010/main" val="4167498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Limitations</a:t>
            </a:r>
            <a:r>
              <a:rPr lang="en-US" dirty="0"/>
              <a:t> </a:t>
            </a:r>
            <a:r>
              <a:rPr lang="en-US" b="1" dirty="0"/>
              <a:t/>
            </a:r>
            <a:br>
              <a:rPr lang="en-US" b="1" dirty="0"/>
            </a:br>
            <a:endParaRPr lang="en-US" dirty="0"/>
          </a:p>
        </p:txBody>
      </p:sp>
      <p:sp>
        <p:nvSpPr>
          <p:cNvPr id="3" name="Content Placeholder 2"/>
          <p:cNvSpPr>
            <a:spLocks noGrp="1"/>
          </p:cNvSpPr>
          <p:nvPr>
            <p:ph idx="1"/>
          </p:nvPr>
        </p:nvSpPr>
        <p:spPr>
          <a:xfrm>
            <a:off x="646111" y="1853248"/>
            <a:ext cx="9637476" cy="3769630"/>
          </a:xfrm>
        </p:spPr>
        <p:txBody>
          <a:bodyPr>
            <a:normAutofit/>
          </a:bodyPr>
          <a:lstStyle/>
          <a:p>
            <a:r>
              <a:rPr lang="en-US" sz="2800" b="1" dirty="0"/>
              <a:t>Modifications:</a:t>
            </a:r>
            <a:r>
              <a:rPr lang="en-US" sz="2800" dirty="0"/>
              <a:t> Not all views support INSERT, UPDATE, or DELETE operations. </a:t>
            </a:r>
            <a:r>
              <a:rPr lang="en-US" sz="2800" b="1" i="1" dirty="0"/>
              <a:t>Complex multi-table views are generally read-only</a:t>
            </a:r>
            <a:r>
              <a:rPr lang="en-US" sz="2800" b="1" i="1" dirty="0" smtClean="0"/>
              <a:t>.</a:t>
            </a:r>
          </a:p>
          <a:p>
            <a:endParaRPr lang="en-US" sz="2800" dirty="0"/>
          </a:p>
          <a:p>
            <a:r>
              <a:rPr lang="en-US" sz="2800" b="1" dirty="0"/>
              <a:t>Performance:</a:t>
            </a:r>
            <a:r>
              <a:rPr lang="en-US" sz="2800" dirty="0"/>
              <a:t> </a:t>
            </a:r>
            <a:r>
              <a:rPr lang="en-US" sz="2800" b="1" i="1" dirty="0"/>
              <a:t>Hugely complex</a:t>
            </a:r>
            <a:r>
              <a:rPr lang="en-US" sz="2800" dirty="0"/>
              <a:t> job for the database engine.  That is because each time a view is referenced, the query used to define it, is rerun.</a:t>
            </a:r>
          </a:p>
          <a:p>
            <a:endParaRPr lang="en-US" sz="2800" dirty="0"/>
          </a:p>
        </p:txBody>
      </p:sp>
    </p:spTree>
    <p:extLst>
      <p:ext uri="{BB962C8B-B14F-4D97-AF65-F5344CB8AC3E}">
        <p14:creationId xmlns:p14="http://schemas.microsoft.com/office/powerpoint/2010/main" val="8805687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127</TotalTime>
  <Words>1678</Words>
  <Application>Microsoft Office PowerPoint</Application>
  <PresentationFormat>Widescreen</PresentationFormat>
  <Paragraphs>228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Century Gothic</vt:lpstr>
      <vt:lpstr>Wingdings</vt:lpstr>
      <vt:lpstr>Wingdings 3</vt:lpstr>
      <vt:lpstr>Ion</vt:lpstr>
      <vt:lpstr>Views -SQL</vt:lpstr>
      <vt:lpstr>What is a View in DBMS? </vt:lpstr>
      <vt:lpstr>Views in DBMS </vt:lpstr>
      <vt:lpstr>PowerPoint Presentation</vt:lpstr>
      <vt:lpstr>The view has two primary purposes: </vt:lpstr>
      <vt:lpstr>Advantages of View over database tables </vt:lpstr>
      <vt:lpstr>Creating Views </vt:lpstr>
      <vt:lpstr>PowerPoint Presentation</vt:lpstr>
      <vt:lpstr>PowerPoint Presentation</vt:lpstr>
      <vt:lpstr>PowerPoint Presentation</vt:lpstr>
      <vt:lpstr>Creating a Simple View </vt:lpstr>
      <vt:lpstr>PowerPoint Presentation</vt:lpstr>
      <vt:lpstr>PowerPoint Presentation</vt:lpstr>
      <vt:lpstr>Creating a Complex View </vt:lpstr>
      <vt:lpstr>PowerPoint Presentation</vt:lpstr>
      <vt:lpstr>Updating a View </vt:lpstr>
      <vt:lpstr>Syntax: </vt:lpstr>
      <vt:lpstr>Manipulating Data in a View </vt:lpstr>
      <vt:lpstr>Inserting a Row in a View </vt:lpstr>
      <vt:lpstr>Deleting a Row in a View </vt:lpstr>
      <vt:lpstr>Dropping a View </vt:lpstr>
      <vt:lpstr>Limitations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Views -SQL</dc:title>
  <dc:creator>Windows User</dc:creator>
  <cp:lastModifiedBy>Windows User</cp:lastModifiedBy>
  <cp:revision>24</cp:revision>
  <dcterms:created xsi:type="dcterms:W3CDTF">2024-09-05T17:27:30Z</dcterms:created>
  <dcterms:modified xsi:type="dcterms:W3CDTF">2024-09-09T04:59:31Z</dcterms:modified>
</cp:coreProperties>
</file>
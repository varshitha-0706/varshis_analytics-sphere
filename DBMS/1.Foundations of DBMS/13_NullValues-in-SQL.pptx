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0" r:id="rId1"/>
  </p:sldMasterIdLst>
  <p:sldIdLst>
    <p:sldId id="256" r:id="rId2"/>
    <p:sldId id="257" r:id="rId3"/>
    <p:sldId id="258" r:id="rId4"/>
    <p:sldId id="259" r:id="rId5"/>
    <p:sldId id="260" r:id="rId6"/>
    <p:sldId id="261" r:id="rId7"/>
    <p:sldId id="262" r:id="rId8"/>
    <p:sldId id="277" r:id="rId9"/>
    <p:sldId id="278" r:id="rId10"/>
    <p:sldId id="279" r:id="rId11"/>
    <p:sldId id="280" r:id="rId12"/>
    <p:sldId id="281" r:id="rId13"/>
    <p:sldId id="282" r:id="rId14"/>
    <p:sldId id="289" r:id="rId15"/>
    <p:sldId id="283" r:id="rId16"/>
    <p:sldId id="284" r:id="rId17"/>
    <p:sldId id="285" r:id="rId18"/>
    <p:sldId id="286" r:id="rId19"/>
    <p:sldId id="287" r:id="rId20"/>
    <p:sldId id="28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0D1F792-C591-4ED9-91BE-8BAFA38A9DA9}"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89BD-E49D-42E8-89B8-34434A0E142B}" type="slidenum">
              <a:rPr lang="en-US" smtClean="0"/>
              <a:t>‹#›</a:t>
            </a:fld>
            <a:endParaRPr lang="en-US"/>
          </a:p>
        </p:txBody>
      </p:sp>
    </p:spTree>
    <p:extLst>
      <p:ext uri="{BB962C8B-B14F-4D97-AF65-F5344CB8AC3E}">
        <p14:creationId xmlns:p14="http://schemas.microsoft.com/office/powerpoint/2010/main" val="3694140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60D1F792-C591-4ED9-91BE-8BAFA38A9DA9}"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89BD-E49D-42E8-89B8-34434A0E142B}" type="slidenum">
              <a:rPr lang="en-US" smtClean="0"/>
              <a:t>‹#›</a:t>
            </a:fld>
            <a:endParaRPr lang="en-US"/>
          </a:p>
        </p:txBody>
      </p:sp>
    </p:spTree>
    <p:extLst>
      <p:ext uri="{BB962C8B-B14F-4D97-AF65-F5344CB8AC3E}">
        <p14:creationId xmlns:p14="http://schemas.microsoft.com/office/powerpoint/2010/main" val="2494337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D1F792-C591-4ED9-91BE-8BAFA38A9DA9}"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89BD-E49D-42E8-89B8-34434A0E142B}" type="slidenum">
              <a:rPr lang="en-US" smtClean="0"/>
              <a:t>‹#›</a:t>
            </a:fld>
            <a:endParaRPr lang="en-US"/>
          </a:p>
        </p:txBody>
      </p:sp>
    </p:spTree>
    <p:extLst>
      <p:ext uri="{BB962C8B-B14F-4D97-AF65-F5344CB8AC3E}">
        <p14:creationId xmlns:p14="http://schemas.microsoft.com/office/powerpoint/2010/main" val="2246040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0D1F792-C591-4ED9-91BE-8BAFA38A9DA9}"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E389BD-E49D-42E8-89B8-34434A0E142B}" type="slidenum">
              <a:rPr lang="en-US" smtClean="0"/>
              <a:t>‹#›</a:t>
            </a:fld>
            <a:endParaRPr lang="en-US"/>
          </a:p>
        </p:txBody>
      </p:sp>
    </p:spTree>
    <p:extLst>
      <p:ext uri="{BB962C8B-B14F-4D97-AF65-F5344CB8AC3E}">
        <p14:creationId xmlns:p14="http://schemas.microsoft.com/office/powerpoint/2010/main" val="1391831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0D1F792-C591-4ED9-91BE-8BAFA38A9DA9}" type="datetimeFigureOut">
              <a:rPr lang="en-US" smtClean="0"/>
              <a:t>9/9/2024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E389BD-E49D-42E8-89B8-34434A0E142B}" type="slidenum">
              <a:rPr lang="en-US" smtClean="0"/>
              <a:t>‹#›</a:t>
            </a:fld>
            <a:endParaRPr lang="en-US"/>
          </a:p>
        </p:txBody>
      </p:sp>
    </p:spTree>
    <p:extLst>
      <p:ext uri="{BB962C8B-B14F-4D97-AF65-F5344CB8AC3E}">
        <p14:creationId xmlns:p14="http://schemas.microsoft.com/office/powerpoint/2010/main" val="1353275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60D1F792-C591-4ED9-91BE-8BAFA38A9DA9}" type="datetimeFigureOut">
              <a:rPr lang="en-US" smtClean="0"/>
              <a:t>9/9/2024</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CE389BD-E49D-42E8-89B8-34434A0E142B}" type="slidenum">
              <a:rPr lang="en-US" smtClean="0"/>
              <a:t>‹#›</a:t>
            </a:fld>
            <a:endParaRPr lang="en-US"/>
          </a:p>
        </p:txBody>
      </p:sp>
    </p:spTree>
    <p:extLst>
      <p:ext uri="{BB962C8B-B14F-4D97-AF65-F5344CB8AC3E}">
        <p14:creationId xmlns:p14="http://schemas.microsoft.com/office/powerpoint/2010/main" val="1667893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0D1F792-C591-4ED9-91BE-8BAFA38A9DA9}" type="datetimeFigureOut">
              <a:rPr lang="en-US" smtClean="0"/>
              <a:t>9/9/2024</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CE389BD-E49D-42E8-89B8-34434A0E142B}" type="slidenum">
              <a:rPr lang="en-US" smtClean="0"/>
              <a:t>‹#›</a:t>
            </a:fld>
            <a:endParaRPr lang="en-US"/>
          </a:p>
        </p:txBody>
      </p:sp>
    </p:spTree>
    <p:extLst>
      <p:ext uri="{BB962C8B-B14F-4D97-AF65-F5344CB8AC3E}">
        <p14:creationId xmlns:p14="http://schemas.microsoft.com/office/powerpoint/2010/main" val="1475900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60D1F792-C591-4ED9-91BE-8BAFA38A9DA9}" type="datetimeFigureOut">
              <a:rPr lang="en-US" smtClean="0"/>
              <a:t>9/9/2024</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CE389BD-E49D-42E8-89B8-34434A0E142B}" type="slidenum">
              <a:rPr lang="en-US" smtClean="0"/>
              <a:t>‹#›</a:t>
            </a:fld>
            <a:endParaRPr lang="en-US"/>
          </a:p>
        </p:txBody>
      </p:sp>
    </p:spTree>
    <p:extLst>
      <p:ext uri="{BB962C8B-B14F-4D97-AF65-F5344CB8AC3E}">
        <p14:creationId xmlns:p14="http://schemas.microsoft.com/office/powerpoint/2010/main" val="2402201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D1F792-C591-4ED9-91BE-8BAFA38A9DA9}"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E389BD-E49D-42E8-89B8-34434A0E142B}" type="slidenum">
              <a:rPr lang="en-US" smtClean="0"/>
              <a:t>‹#›</a:t>
            </a:fld>
            <a:endParaRPr lang="en-US"/>
          </a:p>
        </p:txBody>
      </p:sp>
    </p:spTree>
    <p:extLst>
      <p:ext uri="{BB962C8B-B14F-4D97-AF65-F5344CB8AC3E}">
        <p14:creationId xmlns:p14="http://schemas.microsoft.com/office/powerpoint/2010/main" val="3337215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D1F792-C591-4ED9-91BE-8BAFA38A9DA9}"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E389BD-E49D-42E8-89B8-34434A0E142B}" type="slidenum">
              <a:rPr lang="en-US" smtClean="0"/>
              <a:t>‹#›</a:t>
            </a:fld>
            <a:endParaRPr lang="en-US"/>
          </a:p>
        </p:txBody>
      </p:sp>
    </p:spTree>
    <p:extLst>
      <p:ext uri="{BB962C8B-B14F-4D97-AF65-F5344CB8AC3E}">
        <p14:creationId xmlns:p14="http://schemas.microsoft.com/office/powerpoint/2010/main" val="1698389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D1F792-C591-4ED9-91BE-8BAFA38A9DA9}"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89BD-E49D-42E8-89B8-34434A0E142B}" type="slidenum">
              <a:rPr lang="en-US" smtClean="0"/>
              <a:t>‹#›</a:t>
            </a:fld>
            <a:endParaRPr lang="en-US"/>
          </a:p>
        </p:txBody>
      </p:sp>
    </p:spTree>
    <p:extLst>
      <p:ext uri="{BB962C8B-B14F-4D97-AF65-F5344CB8AC3E}">
        <p14:creationId xmlns:p14="http://schemas.microsoft.com/office/powerpoint/2010/main" val="27374421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D1F792-C591-4ED9-91BE-8BAFA38A9DA9}"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89BD-E49D-42E8-89B8-34434A0E142B}"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0269940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D1F792-C591-4ED9-91BE-8BAFA38A9DA9}"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89BD-E49D-42E8-89B8-34434A0E142B}" type="slidenum">
              <a:rPr lang="en-US" smtClean="0"/>
              <a:t>‹#›</a:t>
            </a:fld>
            <a:endParaRPr lang="en-US"/>
          </a:p>
        </p:txBody>
      </p:sp>
    </p:spTree>
    <p:extLst>
      <p:ext uri="{BB962C8B-B14F-4D97-AF65-F5344CB8AC3E}">
        <p14:creationId xmlns:p14="http://schemas.microsoft.com/office/powerpoint/2010/main" val="8098988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0D1F792-C591-4ED9-91BE-8BAFA38A9DA9}" type="datetimeFigureOut">
              <a:rPr lang="en-US" smtClean="0"/>
              <a:t>9/9/2024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89BD-E49D-42E8-89B8-34434A0E142B}" type="slidenum">
              <a:rPr lang="en-US" smtClean="0"/>
              <a:t>‹#›</a:t>
            </a:fld>
            <a:endParaRPr lang="en-US"/>
          </a:p>
        </p:txBody>
      </p:sp>
    </p:spTree>
    <p:extLst>
      <p:ext uri="{BB962C8B-B14F-4D97-AF65-F5344CB8AC3E}">
        <p14:creationId xmlns:p14="http://schemas.microsoft.com/office/powerpoint/2010/main" val="36050634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0D1F792-C591-4ED9-91BE-8BAFA38A9DA9}" type="datetimeFigureOut">
              <a:rPr lang="en-US" smtClean="0"/>
              <a:t>9/9/2024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89BD-E49D-42E8-89B8-34434A0E142B}" type="slidenum">
              <a:rPr lang="en-US" smtClean="0"/>
              <a:t>‹#›</a:t>
            </a:fld>
            <a:endParaRPr lang="en-US"/>
          </a:p>
        </p:txBody>
      </p:sp>
    </p:spTree>
    <p:extLst>
      <p:ext uri="{BB962C8B-B14F-4D97-AF65-F5344CB8AC3E}">
        <p14:creationId xmlns:p14="http://schemas.microsoft.com/office/powerpoint/2010/main" val="3171971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0D1F792-C591-4ED9-91BE-8BAFA38A9DA9}"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89BD-E49D-42E8-89B8-34434A0E142B}" type="slidenum">
              <a:rPr lang="en-US" smtClean="0"/>
              <a:t>‹#›</a:t>
            </a:fld>
            <a:endParaRPr lang="en-US"/>
          </a:p>
        </p:txBody>
      </p:sp>
    </p:spTree>
    <p:extLst>
      <p:ext uri="{BB962C8B-B14F-4D97-AF65-F5344CB8AC3E}">
        <p14:creationId xmlns:p14="http://schemas.microsoft.com/office/powerpoint/2010/main" val="41426766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0D1F792-C591-4ED9-91BE-8BAFA38A9DA9}"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89BD-E49D-42E8-89B8-34434A0E142B}" type="slidenum">
              <a:rPr lang="en-US" smtClean="0"/>
              <a:t>‹#›</a:t>
            </a:fld>
            <a:endParaRPr lang="en-US"/>
          </a:p>
        </p:txBody>
      </p:sp>
    </p:spTree>
    <p:extLst>
      <p:ext uri="{BB962C8B-B14F-4D97-AF65-F5344CB8AC3E}">
        <p14:creationId xmlns:p14="http://schemas.microsoft.com/office/powerpoint/2010/main" val="1495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0D1F792-C591-4ED9-91BE-8BAFA38A9DA9}" type="datetimeFigureOut">
              <a:rPr lang="en-US" smtClean="0"/>
              <a:t>9/9/2024</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CE389BD-E49D-42E8-89B8-34434A0E142B}" type="slidenum">
              <a:rPr lang="en-US" smtClean="0"/>
              <a:t>‹#›</a:t>
            </a:fld>
            <a:endParaRPr lang="en-US"/>
          </a:p>
        </p:txBody>
      </p:sp>
    </p:spTree>
    <p:extLst>
      <p:ext uri="{BB962C8B-B14F-4D97-AF65-F5344CB8AC3E}">
        <p14:creationId xmlns:p14="http://schemas.microsoft.com/office/powerpoint/2010/main" val="3130164364"/>
      </p:ext>
    </p:extLst>
  </p:cSld>
  <p:clrMap bg1="dk1" tx1="lt1" bg2="dk2" tx2="lt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 id="2147483776" r:id="rId16"/>
    <p:sldLayoutId id="21474837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effectLst/>
              </a:rPr>
              <a:t>NULL Values in SQL</a:t>
            </a:r>
            <a:r>
              <a:rPr lang="en-US" b="1" dirty="0" smtClean="0"/>
              <a:t/>
            </a:r>
            <a:br>
              <a:rPr lang="en-US" b="1" dirty="0" smtClean="0"/>
            </a:b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85042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rPr>
              <a:t>NULL Values in SQL</a:t>
            </a:r>
            <a:r>
              <a:rPr lang="en-US" b="1" dirty="0" smtClean="0"/>
              <a:t/>
            </a:r>
            <a:br>
              <a:rPr lang="en-US" b="1" dirty="0" smtClean="0"/>
            </a:br>
            <a:endParaRPr lang="en-US" dirty="0"/>
          </a:p>
        </p:txBody>
      </p:sp>
      <p:sp>
        <p:nvSpPr>
          <p:cNvPr id="3" name="Content Placeholder 2"/>
          <p:cNvSpPr>
            <a:spLocks noGrp="1"/>
          </p:cNvSpPr>
          <p:nvPr>
            <p:ph idx="1"/>
          </p:nvPr>
        </p:nvSpPr>
        <p:spPr>
          <a:xfrm>
            <a:off x="838200" y="1323833"/>
            <a:ext cx="10515600" cy="4853130"/>
          </a:xfrm>
        </p:spPr>
        <p:txBody>
          <a:bodyPr>
            <a:normAutofit/>
          </a:bodyPr>
          <a:lstStyle/>
          <a:p>
            <a:r>
              <a:rPr lang="en-US" dirty="0" smtClean="0"/>
              <a:t>In the world of databases, data is everything, but not all data is created equal. </a:t>
            </a:r>
          </a:p>
          <a:p>
            <a:r>
              <a:rPr lang="en-US" dirty="0" smtClean="0"/>
              <a:t>A fundamental concept in the management and manipulation of data is understanding the importance and role of NULL values.</a:t>
            </a:r>
          </a:p>
          <a:p>
            <a:r>
              <a:rPr lang="en-US" dirty="0" smtClean="0"/>
              <a:t> NULL is a special marker used in Structured Query Language (SQL) to indicate that a data value does not exist in the database.</a:t>
            </a:r>
          </a:p>
          <a:p>
            <a:r>
              <a:rPr lang="en-US" dirty="0" smtClean="0"/>
              <a:t> It could mean that the data is unknown, unavailable, or not applicable. </a:t>
            </a:r>
          </a:p>
          <a:p>
            <a:r>
              <a:rPr lang="en-US" dirty="0" smtClean="0"/>
              <a:t>Understanding NULL values is crucial in designing databases, writing SQL queries, or performing data analysis. </a:t>
            </a:r>
          </a:p>
          <a:p>
            <a:r>
              <a:rPr lang="en-US" dirty="0" smtClean="0"/>
              <a:t>The correct interpretation and management of these NULL values will ensure the accuracy and efficiency of your data operations.</a:t>
            </a:r>
          </a:p>
          <a:p>
            <a:endParaRPr lang="en-US" dirty="0"/>
          </a:p>
        </p:txBody>
      </p:sp>
    </p:spTree>
    <p:extLst>
      <p:ext uri="{BB962C8B-B14F-4D97-AF65-F5344CB8AC3E}">
        <p14:creationId xmlns:p14="http://schemas.microsoft.com/office/powerpoint/2010/main" val="58959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Understanding NULL in SQL</a:t>
            </a:r>
            <a:br>
              <a:rPr lang="en-US" b="1" dirty="0"/>
            </a:br>
            <a:endParaRPr lang="en-US" dirty="0"/>
          </a:p>
        </p:txBody>
      </p:sp>
      <p:sp>
        <p:nvSpPr>
          <p:cNvPr id="3" name="Content Placeholder 2"/>
          <p:cNvSpPr>
            <a:spLocks noGrp="1"/>
          </p:cNvSpPr>
          <p:nvPr>
            <p:ph idx="1"/>
          </p:nvPr>
        </p:nvSpPr>
        <p:spPr>
          <a:xfrm>
            <a:off x="875201" y="1356882"/>
            <a:ext cx="8946541" cy="5501118"/>
          </a:xfrm>
        </p:spPr>
        <p:txBody>
          <a:bodyPr>
            <a:normAutofit lnSpcReduction="10000"/>
          </a:bodyPr>
          <a:lstStyle/>
          <a:p>
            <a:r>
              <a:rPr lang="en-US" dirty="0"/>
              <a:t>In SQL, NULL signifies the absence of information or a missing value. This is different from a zero value or a field that contains spaces</a:t>
            </a:r>
            <a:r>
              <a:rPr lang="en-US" dirty="0" smtClean="0"/>
              <a:t>.</a:t>
            </a:r>
          </a:p>
          <a:p>
            <a:r>
              <a:rPr lang="en-US" dirty="0" smtClean="0"/>
              <a:t> </a:t>
            </a:r>
            <a:r>
              <a:rPr lang="en-US" dirty="0"/>
              <a:t>A NULL value is a field with no value; it is not equivalent to zero or a space, which are actual values. </a:t>
            </a:r>
            <a:endParaRPr lang="en-US" dirty="0" smtClean="0"/>
          </a:p>
          <a:p>
            <a:r>
              <a:rPr lang="en-US" dirty="0" smtClean="0"/>
              <a:t>It's </a:t>
            </a:r>
            <a:r>
              <a:rPr lang="en-US" dirty="0"/>
              <a:t>crucial to recognize that NULL is not data—it represents a lack of data</a:t>
            </a:r>
            <a:r>
              <a:rPr lang="en-US" dirty="0" smtClean="0"/>
              <a:t>.</a:t>
            </a:r>
          </a:p>
          <a:p>
            <a:r>
              <a:rPr lang="en-US" dirty="0"/>
              <a:t>Consider the following example, where we have a table named "Students", and one of the students hasn't been assigned a grade yet</a:t>
            </a:r>
            <a:r>
              <a:rPr lang="en-US" dirty="0" smtClean="0"/>
              <a:t>.</a:t>
            </a:r>
          </a:p>
          <a:p>
            <a:endParaRPr lang="en-US" dirty="0"/>
          </a:p>
          <a:p>
            <a:endParaRPr lang="en-US" dirty="0" smtClean="0"/>
          </a:p>
          <a:p>
            <a:endParaRPr lang="en-US" dirty="0" smtClean="0"/>
          </a:p>
          <a:p>
            <a:endParaRPr lang="en-US" dirty="0"/>
          </a:p>
          <a:p>
            <a:r>
              <a:rPr lang="en-US" dirty="0"/>
              <a:t>Here, Jack Doe's grade isn't available, which is why it's marked as NULL. This NULL represents that we don't have a grade for Jack at the moment.</a:t>
            </a:r>
          </a:p>
        </p:txBody>
      </p:sp>
      <p:graphicFrame>
        <p:nvGraphicFramePr>
          <p:cNvPr id="5" name="Table 4"/>
          <p:cNvGraphicFramePr>
            <a:graphicFrameLocks noGrp="1"/>
          </p:cNvGraphicFramePr>
          <p:nvPr>
            <p:extLst>
              <p:ext uri="{D42A27DB-BD31-4B8C-83A1-F6EECF244321}">
                <p14:modId xmlns:p14="http://schemas.microsoft.com/office/powerpoint/2010/main" val="1336821854"/>
              </p:ext>
            </p:extLst>
          </p:nvPr>
        </p:nvGraphicFramePr>
        <p:xfrm>
          <a:off x="2045647" y="4101000"/>
          <a:ext cx="5487917" cy="1781184"/>
        </p:xfrm>
        <a:graphic>
          <a:graphicData uri="http://schemas.openxmlformats.org/drawingml/2006/table">
            <a:tbl>
              <a:tblPr firstRow="1" bandRow="1">
                <a:tableStyleId>{5C22544A-7EE6-4342-B048-85BDC9FD1C3A}</a:tableStyleId>
              </a:tblPr>
              <a:tblGrid>
                <a:gridCol w="1686121"/>
                <a:gridCol w="2390159"/>
                <a:gridCol w="1411637"/>
              </a:tblGrid>
              <a:tr h="445296">
                <a:tc>
                  <a:txBody>
                    <a:bodyPr/>
                    <a:lstStyle/>
                    <a:p>
                      <a:r>
                        <a:rPr lang="en-US" dirty="0" err="1"/>
                        <a:t>Student_ID</a:t>
                      </a:r>
                      <a:endParaRPr lang="en-US" dirty="0"/>
                    </a:p>
                  </a:txBody>
                  <a:tcPr anchor="ctr"/>
                </a:tc>
                <a:tc>
                  <a:txBody>
                    <a:bodyPr/>
                    <a:lstStyle/>
                    <a:p>
                      <a:r>
                        <a:rPr lang="en-US"/>
                        <a:t>Student_Name</a:t>
                      </a:r>
                    </a:p>
                  </a:txBody>
                  <a:tcPr anchor="ctr"/>
                </a:tc>
                <a:tc>
                  <a:txBody>
                    <a:bodyPr/>
                    <a:lstStyle/>
                    <a:p>
                      <a:r>
                        <a:rPr lang="en-US"/>
                        <a:t>Grade</a:t>
                      </a:r>
                    </a:p>
                  </a:txBody>
                  <a:tcPr anchor="ctr"/>
                </a:tc>
              </a:tr>
              <a:tr h="445296">
                <a:tc>
                  <a:txBody>
                    <a:bodyPr/>
                    <a:lstStyle/>
                    <a:p>
                      <a:r>
                        <a:rPr lang="en-US" dirty="0"/>
                        <a:t>1</a:t>
                      </a:r>
                    </a:p>
                  </a:txBody>
                  <a:tcPr anchor="ctr"/>
                </a:tc>
                <a:tc>
                  <a:txBody>
                    <a:bodyPr/>
                    <a:lstStyle/>
                    <a:p>
                      <a:r>
                        <a:rPr lang="en-US"/>
                        <a:t>John Doe</a:t>
                      </a:r>
                    </a:p>
                  </a:txBody>
                  <a:tcPr anchor="ctr"/>
                </a:tc>
                <a:tc>
                  <a:txBody>
                    <a:bodyPr/>
                    <a:lstStyle/>
                    <a:p>
                      <a:r>
                        <a:rPr lang="en-US"/>
                        <a:t>A</a:t>
                      </a:r>
                    </a:p>
                  </a:txBody>
                  <a:tcPr anchor="ctr"/>
                </a:tc>
              </a:tr>
              <a:tr h="445296">
                <a:tc>
                  <a:txBody>
                    <a:bodyPr/>
                    <a:lstStyle/>
                    <a:p>
                      <a:r>
                        <a:rPr lang="en-US"/>
                        <a:t>2</a:t>
                      </a:r>
                    </a:p>
                  </a:txBody>
                  <a:tcPr anchor="ctr"/>
                </a:tc>
                <a:tc>
                  <a:txBody>
                    <a:bodyPr/>
                    <a:lstStyle/>
                    <a:p>
                      <a:r>
                        <a:rPr lang="en-US" dirty="0"/>
                        <a:t>Jane Doe</a:t>
                      </a:r>
                    </a:p>
                  </a:txBody>
                  <a:tcPr anchor="ctr"/>
                </a:tc>
                <a:tc>
                  <a:txBody>
                    <a:bodyPr/>
                    <a:lstStyle/>
                    <a:p>
                      <a:r>
                        <a:rPr lang="en-US"/>
                        <a:t>B</a:t>
                      </a:r>
                    </a:p>
                  </a:txBody>
                  <a:tcPr anchor="ctr"/>
                </a:tc>
              </a:tr>
              <a:tr h="445296">
                <a:tc>
                  <a:txBody>
                    <a:bodyPr/>
                    <a:lstStyle/>
                    <a:p>
                      <a:r>
                        <a:rPr lang="en-US"/>
                        <a:t>3</a:t>
                      </a:r>
                    </a:p>
                  </a:txBody>
                  <a:tcPr anchor="ctr"/>
                </a:tc>
                <a:tc>
                  <a:txBody>
                    <a:bodyPr/>
                    <a:lstStyle/>
                    <a:p>
                      <a:r>
                        <a:rPr lang="en-US"/>
                        <a:t>Jack Doe</a:t>
                      </a:r>
                    </a:p>
                  </a:txBody>
                  <a:tcPr anchor="ctr"/>
                </a:tc>
                <a:tc>
                  <a:txBody>
                    <a:bodyPr/>
                    <a:lstStyle/>
                    <a:p>
                      <a:r>
                        <a:rPr lang="en-US" dirty="0"/>
                        <a:t>NULL</a:t>
                      </a:r>
                    </a:p>
                  </a:txBody>
                  <a:tcPr anchor="ctr"/>
                </a:tc>
              </a:tr>
            </a:tbl>
          </a:graphicData>
        </a:graphic>
      </p:graphicFrame>
    </p:spTree>
    <p:extLst>
      <p:ext uri="{BB962C8B-B14F-4D97-AF65-F5344CB8AC3E}">
        <p14:creationId xmlns:p14="http://schemas.microsoft.com/office/powerpoint/2010/main" val="2222401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Handling NULL Values in SQL</a:t>
            </a:r>
            <a:br>
              <a:rPr lang="en-US" b="1" dirty="0"/>
            </a:br>
            <a:endParaRPr lang="en-US" dirty="0"/>
          </a:p>
        </p:txBody>
      </p:sp>
      <p:sp>
        <p:nvSpPr>
          <p:cNvPr id="3" name="Content Placeholder 2"/>
          <p:cNvSpPr>
            <a:spLocks noGrp="1"/>
          </p:cNvSpPr>
          <p:nvPr>
            <p:ph idx="1"/>
          </p:nvPr>
        </p:nvSpPr>
        <p:spPr>
          <a:xfrm>
            <a:off x="646111" y="1274996"/>
            <a:ext cx="11090964" cy="5166747"/>
          </a:xfrm>
        </p:spPr>
        <p:txBody>
          <a:bodyPr>
            <a:normAutofit/>
          </a:bodyPr>
          <a:lstStyle/>
          <a:p>
            <a:r>
              <a:rPr lang="en-US" dirty="0" smtClean="0"/>
              <a:t>When handling data in SQL, NULL values might present some challenges because any operation on NULL yields NULL. </a:t>
            </a:r>
          </a:p>
          <a:p>
            <a:r>
              <a:rPr lang="en-US" dirty="0" smtClean="0"/>
              <a:t>This behavior can lead to unexpected results if not carefully managed. </a:t>
            </a:r>
          </a:p>
          <a:p>
            <a:r>
              <a:rPr lang="en-US" dirty="0" smtClean="0"/>
              <a:t>SQL provides some handy ways to handle NULL values. </a:t>
            </a:r>
            <a:br>
              <a:rPr lang="en-US" dirty="0" smtClean="0"/>
            </a:br>
            <a:r>
              <a:rPr lang="en-US" dirty="0" smtClean="0"/>
              <a:t>You can use the IS NULL and IS NOT NULL operators to check for NULL values.</a:t>
            </a:r>
          </a:p>
          <a:p>
            <a:r>
              <a:rPr lang="en-US" dirty="0" smtClean="0"/>
              <a:t>Here is a simple query to find all students who haven't been assigned a grade yet:</a:t>
            </a:r>
          </a:p>
          <a:p>
            <a:r>
              <a:rPr lang="en-US" sz="3200" b="1" dirty="0" smtClean="0"/>
              <a:t>SELECT * FROM Students </a:t>
            </a:r>
          </a:p>
          <a:p>
            <a:pPr marL="0" indent="0">
              <a:buNone/>
            </a:pPr>
            <a:r>
              <a:rPr lang="en-US" sz="3200" b="1" dirty="0" smtClean="0"/>
              <a:t>     WHERE Grade IS NULL;</a:t>
            </a:r>
            <a:endParaRPr lang="en-US" dirty="0" smtClean="0"/>
          </a:p>
          <a:p>
            <a:r>
              <a:rPr lang="en-US" dirty="0" smtClean="0"/>
              <a:t>Similarly, you can select the students who have been assigned a grade using IS NOT NULL:</a:t>
            </a:r>
          </a:p>
          <a:p>
            <a:pPr marL="0" indent="0">
              <a:buNone/>
            </a:pPr>
            <a:r>
              <a:rPr lang="en-US" dirty="0" smtClean="0"/>
              <a:t>         </a:t>
            </a:r>
            <a:r>
              <a:rPr lang="en-US" sz="2800" b="1" dirty="0" smtClean="0"/>
              <a:t>SELECT </a:t>
            </a:r>
            <a:r>
              <a:rPr lang="en-US" sz="2800" b="1" dirty="0"/>
              <a:t>* FROM Students WHERE Grade IS NOT NULL;</a:t>
            </a:r>
          </a:p>
          <a:p>
            <a:endParaRPr lang="en-US" dirty="0"/>
          </a:p>
        </p:txBody>
      </p:sp>
    </p:spTree>
    <p:extLst>
      <p:ext uri="{BB962C8B-B14F-4D97-AF65-F5344CB8AC3E}">
        <p14:creationId xmlns:p14="http://schemas.microsoft.com/office/powerpoint/2010/main" val="147714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NULL Values in SQL Functions</a:t>
            </a:r>
            <a:br>
              <a:rPr lang="en-US" b="1" dirty="0"/>
            </a:br>
            <a:endParaRPr lang="en-US" dirty="0"/>
          </a:p>
        </p:txBody>
      </p:sp>
      <p:sp>
        <p:nvSpPr>
          <p:cNvPr id="3" name="Content Placeholder 2"/>
          <p:cNvSpPr>
            <a:spLocks noGrp="1"/>
          </p:cNvSpPr>
          <p:nvPr>
            <p:ph idx="1"/>
          </p:nvPr>
        </p:nvSpPr>
        <p:spPr>
          <a:xfrm>
            <a:off x="646112" y="1514902"/>
            <a:ext cx="10258450" cy="4733498"/>
          </a:xfrm>
        </p:spPr>
        <p:txBody>
          <a:bodyPr>
            <a:normAutofit fontScale="92500" lnSpcReduction="10000"/>
          </a:bodyPr>
          <a:lstStyle/>
          <a:p>
            <a:r>
              <a:rPr lang="en-US" sz="2400" dirty="0"/>
              <a:t>Different SQL functions handle NULL values differently</a:t>
            </a:r>
            <a:r>
              <a:rPr lang="en-US" sz="2400" dirty="0" smtClean="0"/>
              <a:t>.</a:t>
            </a:r>
          </a:p>
          <a:p>
            <a:r>
              <a:rPr lang="en-US" sz="2400" dirty="0" smtClean="0"/>
              <a:t> </a:t>
            </a:r>
            <a:r>
              <a:rPr lang="en-US" sz="2400" dirty="0"/>
              <a:t>Functions like COUNT(), SUM(), and AVG() ignore NULL values, whereas others like CONCAT() </a:t>
            </a:r>
            <a:r>
              <a:rPr lang="en-US" sz="2400" dirty="0" smtClean="0"/>
              <a:t> </a:t>
            </a:r>
            <a:r>
              <a:rPr lang="en-US" sz="2400" dirty="0"/>
              <a:t>handle NULL in their own ways</a:t>
            </a:r>
            <a:r>
              <a:rPr lang="en-US" sz="2400" dirty="0" smtClean="0"/>
              <a:t>.</a:t>
            </a:r>
            <a:endParaRPr lang="en-US" sz="2400" dirty="0"/>
          </a:p>
          <a:p>
            <a:r>
              <a:rPr lang="en-US" sz="2400" dirty="0"/>
              <a:t>For example, COUNT(column) ignores NULL values while counting, but COUNT(*) counts rows including NULL. So be careful while using these functions as it might result in unexpected output</a:t>
            </a:r>
            <a:r>
              <a:rPr lang="en-US" sz="2400" dirty="0" smtClean="0"/>
              <a:t>.</a:t>
            </a:r>
          </a:p>
          <a:p>
            <a:pPr marL="0" indent="0">
              <a:buNone/>
            </a:pPr>
            <a:r>
              <a:rPr lang="en-US" sz="2400" dirty="0" smtClean="0"/>
              <a:t>   </a:t>
            </a:r>
            <a:r>
              <a:rPr lang="en-US" sz="2800" b="1" dirty="0" smtClean="0"/>
              <a:t>SELECT </a:t>
            </a:r>
            <a:r>
              <a:rPr lang="en-US" sz="2800" b="1" dirty="0"/>
              <a:t>COUNT(Grade) FROM Students</a:t>
            </a:r>
            <a:r>
              <a:rPr lang="en-US" sz="2800" b="1" dirty="0" smtClean="0"/>
              <a:t>;</a:t>
            </a:r>
            <a:endParaRPr lang="en-US" sz="2800" b="1" dirty="0"/>
          </a:p>
          <a:p>
            <a:pPr marL="0" indent="0">
              <a:buNone/>
            </a:pPr>
            <a:r>
              <a:rPr lang="en-US" sz="2800" b="1" dirty="0"/>
              <a:t> </a:t>
            </a:r>
            <a:r>
              <a:rPr lang="en-US" sz="2800" b="1" dirty="0" smtClean="0"/>
              <a:t>    SELECT </a:t>
            </a:r>
            <a:r>
              <a:rPr lang="en-US" sz="2800" b="1" dirty="0"/>
              <a:t>COUNT(*) FROM Students</a:t>
            </a:r>
            <a:r>
              <a:rPr lang="en-US" sz="2800" b="1" dirty="0" smtClean="0"/>
              <a:t>;</a:t>
            </a:r>
          </a:p>
          <a:p>
            <a:pPr marL="0" indent="0">
              <a:buNone/>
            </a:pPr>
            <a:r>
              <a:rPr lang="en-US" sz="2800" dirty="0"/>
              <a:t>The first query will give us the number of students who have been assigned a grade (excluding NULLs), whereas the second query will give us the total number of students (including NULLs).</a:t>
            </a:r>
            <a:endParaRPr lang="en-US" sz="2800" b="1" dirty="0"/>
          </a:p>
        </p:txBody>
      </p:sp>
    </p:spTree>
    <p:extLst>
      <p:ext uri="{BB962C8B-B14F-4D97-AF65-F5344CB8AC3E}">
        <p14:creationId xmlns:p14="http://schemas.microsoft.com/office/powerpoint/2010/main" val="1490088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SQL NULL Functions</a:t>
            </a:r>
            <a:br>
              <a:rPr lang="en-US" b="1" dirty="0"/>
            </a:br>
            <a:endParaRPr lang="en-US" dirty="0"/>
          </a:p>
        </p:txBody>
      </p:sp>
      <p:sp>
        <p:nvSpPr>
          <p:cNvPr id="3" name="Content Placeholder 2"/>
          <p:cNvSpPr>
            <a:spLocks noGrp="1"/>
          </p:cNvSpPr>
          <p:nvPr>
            <p:ph idx="1"/>
          </p:nvPr>
        </p:nvSpPr>
        <p:spPr>
          <a:xfrm>
            <a:off x="1103312" y="1624084"/>
            <a:ext cx="8946541" cy="4624315"/>
          </a:xfrm>
        </p:spPr>
        <p:txBody>
          <a:bodyPr/>
          <a:lstStyle/>
          <a:p>
            <a:r>
              <a:rPr lang="en-US" dirty="0"/>
              <a:t>SQL provides a few functions to deal specifically with NULL values: </a:t>
            </a:r>
            <a:r>
              <a:rPr lang="en-US" b="1" dirty="0"/>
              <a:t>ISNULL</a:t>
            </a:r>
            <a:r>
              <a:rPr lang="en-US" b="1" dirty="0" smtClean="0"/>
              <a:t>() </a:t>
            </a:r>
            <a:r>
              <a:rPr lang="en-US" b="1" dirty="0"/>
              <a:t>and NULLIF</a:t>
            </a:r>
            <a:r>
              <a:rPr lang="en-US" b="1" dirty="0" smtClean="0"/>
              <a:t>().</a:t>
            </a:r>
          </a:p>
          <a:p>
            <a:r>
              <a:rPr lang="en-US" b="1" dirty="0"/>
              <a:t>ISNULL() is a SQL Server function that lets you replace NULL values with a specified value. It takes two arguments, where it checks if the first one is NULL, and if it is, it returns the second argument. If not, it returns the first argument</a:t>
            </a:r>
            <a:r>
              <a:rPr lang="en-US" b="1" dirty="0" smtClean="0"/>
              <a:t>.</a:t>
            </a:r>
          </a:p>
          <a:p>
            <a:endParaRPr lang="en-US" b="1" dirty="0"/>
          </a:p>
          <a:p>
            <a:r>
              <a:rPr lang="en-US" b="1" dirty="0"/>
              <a:t>SELECT </a:t>
            </a:r>
            <a:r>
              <a:rPr lang="en-US" b="1" dirty="0" err="1"/>
              <a:t>Student_Name</a:t>
            </a:r>
            <a:r>
              <a:rPr lang="en-US" b="1" dirty="0"/>
              <a:t>, ISNULL(Grade, 'No Grade') AS Grade</a:t>
            </a:r>
          </a:p>
          <a:p>
            <a:r>
              <a:rPr lang="en-US" b="1" dirty="0"/>
              <a:t>FROM Students</a:t>
            </a:r>
            <a:r>
              <a:rPr lang="en-US" b="1" dirty="0" smtClean="0"/>
              <a:t>;</a:t>
            </a:r>
          </a:p>
          <a:p>
            <a:r>
              <a:rPr lang="en-US" dirty="0"/>
              <a:t>In this query, ISNULL checks if the Grade is NULL, and if it is, it replaces it with 'No Grade'. So, instead of displaying NULL, it would display 'No Grade'.</a:t>
            </a:r>
          </a:p>
          <a:p>
            <a:endParaRPr lang="en-US" b="1" dirty="0"/>
          </a:p>
        </p:txBody>
      </p:sp>
    </p:spTree>
    <p:extLst>
      <p:ext uri="{BB962C8B-B14F-4D97-AF65-F5344CB8AC3E}">
        <p14:creationId xmlns:p14="http://schemas.microsoft.com/office/powerpoint/2010/main" val="266913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2032" y="379828"/>
            <a:ext cx="11043138" cy="5868571"/>
          </a:xfrm>
        </p:spPr>
        <p:txBody>
          <a:bodyPr>
            <a:normAutofit/>
          </a:bodyPr>
          <a:lstStyle/>
          <a:p>
            <a:endParaRPr lang="en-US" dirty="0"/>
          </a:p>
          <a:p>
            <a:r>
              <a:rPr lang="en-US" sz="2800" dirty="0"/>
              <a:t>The NULLIF() function compares two expressions and returns NULL if they're equal; if they aren't, it returns the first expression.</a:t>
            </a:r>
          </a:p>
          <a:p>
            <a:endParaRPr lang="en-US" sz="2800" dirty="0"/>
          </a:p>
          <a:p>
            <a:r>
              <a:rPr lang="en-US" sz="2800" dirty="0"/>
              <a:t>SELECT </a:t>
            </a:r>
            <a:r>
              <a:rPr lang="en-US" sz="2800" dirty="0" err="1"/>
              <a:t>Student_Name</a:t>
            </a:r>
            <a:r>
              <a:rPr lang="en-US" sz="2800" dirty="0"/>
              <a:t>, NULLIF(Grade, 'F') AS Grade</a:t>
            </a:r>
          </a:p>
          <a:p>
            <a:r>
              <a:rPr lang="en-US" sz="2800" dirty="0"/>
              <a:t>FROM Students;</a:t>
            </a:r>
          </a:p>
          <a:p>
            <a:endParaRPr lang="en-US" sz="2800" dirty="0"/>
          </a:p>
          <a:p>
            <a:r>
              <a:rPr lang="en-US" sz="2800" dirty="0"/>
              <a:t>In this case, the NULLIF() function will return NULL if a student's grade is 'F'; otherwise, it will return the grade. This is useful in situations where you want to treat certain non-null values as null.</a:t>
            </a:r>
          </a:p>
        </p:txBody>
      </p:sp>
    </p:spTree>
    <p:extLst>
      <p:ext uri="{BB962C8B-B14F-4D97-AF65-F5344CB8AC3E}">
        <p14:creationId xmlns:p14="http://schemas.microsoft.com/office/powerpoint/2010/main" val="1144893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Different Types of SQL Keys</a:t>
            </a:r>
          </a:p>
        </p:txBody>
      </p:sp>
      <p:sp>
        <p:nvSpPr>
          <p:cNvPr id="3" name="Content Placeholder 2"/>
          <p:cNvSpPr>
            <a:spLocks noGrp="1"/>
          </p:cNvSpPr>
          <p:nvPr>
            <p:ph idx="1"/>
          </p:nvPr>
        </p:nvSpPr>
        <p:spPr>
          <a:xfrm>
            <a:off x="875201" y="1561599"/>
            <a:ext cx="8946541" cy="4195481"/>
          </a:xfrm>
        </p:spPr>
        <p:txBody>
          <a:bodyPr>
            <a:noAutofit/>
          </a:bodyPr>
          <a:lstStyle/>
          <a:p>
            <a:r>
              <a:rPr lang="en-US" sz="3200" b="1" dirty="0"/>
              <a:t>SQL Keys</a:t>
            </a:r>
          </a:p>
          <a:p>
            <a:r>
              <a:rPr lang="en-US" sz="3200" dirty="0"/>
              <a:t>SQL Key is a single or combination of multiple fields in a table. It is used to fetch or retrieve records/data rows from the data table according to the condition/requirement</a:t>
            </a:r>
            <a:r>
              <a:rPr lang="en-US" sz="3200" dirty="0" smtClean="0"/>
              <a:t>.</a:t>
            </a:r>
          </a:p>
          <a:p>
            <a:r>
              <a:rPr lang="en-US" sz="3200" dirty="0" smtClean="0"/>
              <a:t> </a:t>
            </a:r>
            <a:r>
              <a:rPr lang="en-US" sz="3200" dirty="0"/>
              <a:t>Keys are also used to create a relationship among different database tables or views.</a:t>
            </a:r>
            <a:endParaRPr lang="en-US" sz="3200" dirty="0"/>
          </a:p>
        </p:txBody>
      </p:sp>
    </p:spTree>
    <p:extLst>
      <p:ext uri="{BB962C8B-B14F-4D97-AF65-F5344CB8AC3E}">
        <p14:creationId xmlns:p14="http://schemas.microsoft.com/office/powerpoint/2010/main" val="2375163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 key in SQL?</a:t>
            </a:r>
            <a:br>
              <a:rPr lang="en-US" b="1" dirty="0"/>
            </a:br>
            <a:endParaRPr lang="en-US" dirty="0"/>
          </a:p>
        </p:txBody>
      </p:sp>
      <p:sp>
        <p:nvSpPr>
          <p:cNvPr id="3" name="Content Placeholder 2"/>
          <p:cNvSpPr>
            <a:spLocks noGrp="1"/>
          </p:cNvSpPr>
          <p:nvPr>
            <p:ph idx="1"/>
          </p:nvPr>
        </p:nvSpPr>
        <p:spPr>
          <a:xfrm>
            <a:off x="646111" y="1438769"/>
            <a:ext cx="10094677" cy="4195481"/>
          </a:xfrm>
        </p:spPr>
        <p:txBody>
          <a:bodyPr>
            <a:noAutofit/>
          </a:bodyPr>
          <a:lstStyle/>
          <a:p>
            <a:r>
              <a:rPr lang="en-US" sz="2800" dirty="0"/>
              <a:t>In SQL, the different types of keys are the set of attributes used to identify a specific row from a table and to find or create the relation between two or more tables. </a:t>
            </a:r>
            <a:endParaRPr lang="en-US" sz="2800" dirty="0" smtClean="0"/>
          </a:p>
          <a:p>
            <a:r>
              <a:rPr lang="en-US" sz="2800" dirty="0" smtClean="0"/>
              <a:t>For </a:t>
            </a:r>
            <a:r>
              <a:rPr lang="en-US" sz="2800" dirty="0"/>
              <a:t>example, the keys identify the rows by combining one or more sets of columns. </a:t>
            </a:r>
            <a:endParaRPr lang="en-US" sz="2800" dirty="0" smtClean="0"/>
          </a:p>
          <a:p>
            <a:r>
              <a:rPr lang="en-US" sz="2800" dirty="0" smtClean="0"/>
              <a:t>SQL </a:t>
            </a:r>
            <a:r>
              <a:rPr lang="en-US" sz="2800" dirty="0"/>
              <a:t>provides different types of keys such as super key, candidate key, etc. </a:t>
            </a:r>
            <a:endParaRPr lang="en-US" sz="2800" dirty="0" smtClean="0"/>
          </a:p>
          <a:p>
            <a:r>
              <a:rPr lang="en-US" sz="2800" dirty="0" smtClean="0"/>
              <a:t>Generally</a:t>
            </a:r>
            <a:r>
              <a:rPr lang="en-US" sz="2800" dirty="0"/>
              <a:t>, all the SQL keys use constraints to uniquely identify the rows from the larger set of datasets.</a:t>
            </a:r>
          </a:p>
        </p:txBody>
      </p:sp>
    </p:spTree>
    <p:extLst>
      <p:ext uri="{BB962C8B-B14F-4D97-AF65-F5344CB8AC3E}">
        <p14:creationId xmlns:p14="http://schemas.microsoft.com/office/powerpoint/2010/main" val="1238694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SQL Keys</a:t>
            </a:r>
            <a:br>
              <a:rPr lang="en-US" b="1" dirty="0"/>
            </a:br>
            <a:endParaRPr lang="en-US" dirty="0"/>
          </a:p>
        </p:txBody>
      </p:sp>
      <p:pic>
        <p:nvPicPr>
          <p:cNvPr id="6" name="Content Placeholder 5"/>
          <p:cNvPicPr>
            <a:picLocks noGrp="1" noChangeAspect="1"/>
          </p:cNvPicPr>
          <p:nvPr>
            <p:ph idx="1"/>
          </p:nvPr>
        </p:nvPicPr>
        <p:blipFill rotWithShape="1">
          <a:blip r:embed="rId2"/>
          <a:srcRect r="823" b="9053"/>
          <a:stretch/>
        </p:blipFill>
        <p:spPr>
          <a:xfrm>
            <a:off x="453077" y="1438489"/>
            <a:ext cx="10219471" cy="4685706"/>
          </a:xfrm>
          <a:prstGeom prst="rect">
            <a:avLst/>
          </a:prstGeom>
        </p:spPr>
      </p:pic>
    </p:spTree>
    <p:extLst>
      <p:ext uri="{BB962C8B-B14F-4D97-AF65-F5344CB8AC3E}">
        <p14:creationId xmlns:p14="http://schemas.microsoft.com/office/powerpoint/2010/main" val="402503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Candidate Key</a:t>
            </a:r>
            <a:br>
              <a:rPr lang="en-US" b="1" dirty="0"/>
            </a:br>
            <a:endParaRPr lang="en-US" dirty="0"/>
          </a:p>
        </p:txBody>
      </p:sp>
      <p:sp>
        <p:nvSpPr>
          <p:cNvPr id="3" name="Content Placeholder 2"/>
          <p:cNvSpPr>
            <a:spLocks noGrp="1"/>
          </p:cNvSpPr>
          <p:nvPr>
            <p:ph idx="1"/>
          </p:nvPr>
        </p:nvSpPr>
        <p:spPr>
          <a:xfrm>
            <a:off x="263974" y="1152983"/>
            <a:ext cx="11677817" cy="4195481"/>
          </a:xfrm>
        </p:spPr>
        <p:txBody>
          <a:bodyPr>
            <a:noAutofit/>
          </a:bodyPr>
          <a:lstStyle/>
          <a:p>
            <a:r>
              <a:rPr lang="en-US" sz="2400" dirty="0"/>
              <a:t>A Candidate Key is a set of one or more fields/columns that can identify a record uniquely in a table. </a:t>
            </a:r>
            <a:endParaRPr lang="en-US" sz="2400" dirty="0" smtClean="0"/>
          </a:p>
          <a:p>
            <a:r>
              <a:rPr lang="en-US" sz="2400" dirty="0" smtClean="0"/>
              <a:t>There </a:t>
            </a:r>
            <a:r>
              <a:rPr lang="en-US" sz="2400" dirty="0"/>
              <a:t>can be multiple Candidate Keys in one table. Each Candidate Key can work as a Primary Key</a:t>
            </a:r>
            <a:r>
              <a:rPr lang="en-US" sz="2400" dirty="0" smtClean="0"/>
              <a:t>.</a:t>
            </a:r>
          </a:p>
          <a:p>
            <a:r>
              <a:rPr lang="en-US" sz="2400" dirty="0"/>
              <a:t>The value for the Candidate key is always unique and non-null for all the tuples types. One thing to be remembered is that every table has to have at least one Candidate key, but there can be more than one candidate key can be there in a table. It is a super key with no repeated data is called a candidate key</a:t>
            </a:r>
            <a:r>
              <a:rPr lang="en-US" sz="2400" dirty="0" smtClean="0"/>
              <a:t>. </a:t>
            </a:r>
          </a:p>
          <a:p>
            <a:r>
              <a:rPr lang="en-US" sz="2400" b="1" dirty="0" smtClean="0"/>
              <a:t>Example</a:t>
            </a:r>
            <a:endParaRPr lang="en-US" sz="2400" b="1" dirty="0"/>
          </a:p>
        </p:txBody>
      </p:sp>
      <p:pic>
        <p:nvPicPr>
          <p:cNvPr id="4" name="Picture 3"/>
          <p:cNvPicPr>
            <a:picLocks noChangeAspect="1"/>
          </p:cNvPicPr>
          <p:nvPr/>
        </p:nvPicPr>
        <p:blipFill>
          <a:blip r:embed="rId2"/>
          <a:stretch>
            <a:fillRect/>
          </a:stretch>
        </p:blipFill>
        <p:spPr>
          <a:xfrm>
            <a:off x="4462818" y="4503761"/>
            <a:ext cx="7287904" cy="2230625"/>
          </a:xfrm>
          <a:prstGeom prst="rect">
            <a:avLst/>
          </a:prstGeom>
        </p:spPr>
      </p:pic>
    </p:spTree>
    <p:extLst>
      <p:ext uri="{BB962C8B-B14F-4D97-AF65-F5344CB8AC3E}">
        <p14:creationId xmlns:p14="http://schemas.microsoft.com/office/powerpoint/2010/main" val="4203636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Primary Key</a:t>
            </a:r>
            <a:br>
              <a:rPr lang="en-US" b="1" dirty="0"/>
            </a:br>
            <a:endParaRPr lang="en-US" dirty="0"/>
          </a:p>
        </p:txBody>
      </p:sp>
      <p:sp>
        <p:nvSpPr>
          <p:cNvPr id="3" name="Content Placeholder 2"/>
          <p:cNvSpPr>
            <a:spLocks noGrp="1"/>
          </p:cNvSpPr>
          <p:nvPr>
            <p:ph idx="1"/>
          </p:nvPr>
        </p:nvSpPr>
        <p:spPr>
          <a:xfrm>
            <a:off x="646111" y="1288643"/>
            <a:ext cx="10517758" cy="4195481"/>
          </a:xfrm>
        </p:spPr>
        <p:txBody>
          <a:bodyPr>
            <a:noAutofit/>
          </a:bodyPr>
          <a:lstStyle/>
          <a:p>
            <a:r>
              <a:rPr lang="en-US" sz="2400" dirty="0" smtClean="0"/>
              <a:t>A </a:t>
            </a:r>
            <a:r>
              <a:rPr lang="en-US" sz="2400" dirty="0"/>
              <a:t>primary key is a set of one or more fields/columns of a table that uniquely identify a record in a database table. It can not accept null, or duplicate values.</a:t>
            </a:r>
          </a:p>
          <a:p>
            <a:r>
              <a:rPr lang="en-US" sz="2400" dirty="0"/>
              <a:t>Only one Candidate Key can be the Primary Key.</a:t>
            </a:r>
          </a:p>
          <a:p>
            <a:r>
              <a:rPr lang="en-US" sz="2400" dirty="0"/>
              <a:t>Out of all the candidate keys that can be possible or created for the specific table, there should be only one key that can be used to retrieve unique tuples from the table.</a:t>
            </a:r>
          </a:p>
          <a:p>
            <a:r>
              <a:rPr lang="en-US" sz="2400" dirty="0"/>
              <a:t>It is a thumb rule that there can be one Primary key that should be there for a table.</a:t>
            </a:r>
          </a:p>
          <a:p>
            <a:r>
              <a:rPr lang="en-US" sz="2400" dirty="0"/>
              <a:t>It can identify only one tuple (a record) at a time.</a:t>
            </a:r>
          </a:p>
          <a:p>
            <a:r>
              <a:rPr lang="en-US" sz="2400" b="1" dirty="0"/>
              <a:t>Example</a:t>
            </a:r>
          </a:p>
          <a:p>
            <a:r>
              <a:rPr lang="en-US" sz="2400" dirty="0" err="1"/>
              <a:t>Emp_Id</a:t>
            </a:r>
            <a:r>
              <a:rPr lang="en-US" sz="2400" dirty="0"/>
              <a:t> is the primary key for relation Employee.</a:t>
            </a:r>
          </a:p>
          <a:p>
            <a:endParaRPr lang="en-US" sz="2400" dirty="0"/>
          </a:p>
        </p:txBody>
      </p:sp>
    </p:spTree>
    <p:extLst>
      <p:ext uri="{BB962C8B-B14F-4D97-AF65-F5344CB8AC3E}">
        <p14:creationId xmlns:p14="http://schemas.microsoft.com/office/powerpoint/2010/main" val="3592659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Super Key</a:t>
            </a:r>
            <a:br>
              <a:rPr lang="en-US" b="1" dirty="0"/>
            </a:br>
            <a:endParaRPr lang="en-US" dirty="0"/>
          </a:p>
        </p:txBody>
      </p:sp>
      <p:sp>
        <p:nvSpPr>
          <p:cNvPr id="3" name="Content Placeholder 2"/>
          <p:cNvSpPr>
            <a:spLocks noGrp="1"/>
          </p:cNvSpPr>
          <p:nvPr>
            <p:ph idx="1"/>
          </p:nvPr>
        </p:nvSpPr>
        <p:spPr>
          <a:xfrm>
            <a:off x="141144" y="1298638"/>
            <a:ext cx="6396134" cy="5120280"/>
          </a:xfrm>
        </p:spPr>
        <p:txBody>
          <a:bodyPr>
            <a:noAutofit/>
          </a:bodyPr>
          <a:lstStyle/>
          <a:p>
            <a:r>
              <a:rPr lang="en-US" dirty="0" smtClean="0"/>
              <a:t>A </a:t>
            </a:r>
            <a:r>
              <a:rPr lang="en-US" dirty="0"/>
              <a:t>super key is a set of one or more than one key that can be used to identify a record uniquely in a table. </a:t>
            </a:r>
            <a:r>
              <a:rPr lang="en-US" b="1" dirty="0"/>
              <a:t>Example:</a:t>
            </a:r>
            <a:r>
              <a:rPr lang="en-US" dirty="0"/>
              <a:t> Primary key, Unique key, and Alternate key are a subset of Super Keys.</a:t>
            </a:r>
          </a:p>
          <a:p>
            <a:r>
              <a:rPr lang="en-US" dirty="0"/>
              <a:t>Super Key can contain multiple attributes that might not be able to identify tuples in a table independently, but when grouped with certain keys, they can identify tuples uniquely. It supports NULL values.</a:t>
            </a:r>
          </a:p>
          <a:p>
            <a:r>
              <a:rPr lang="en-US" dirty="0"/>
              <a:t>Adding zero or more attributes to the candidate key generates the super key</a:t>
            </a:r>
            <a:r>
              <a:rPr lang="en-US" dirty="0" smtClean="0"/>
              <a:t>. </a:t>
            </a:r>
            <a:r>
              <a:rPr lang="en-US" sz="2400" b="1" dirty="0"/>
              <a:t>Example</a:t>
            </a:r>
          </a:p>
          <a:p>
            <a:r>
              <a:rPr lang="en-US" dirty="0" err="1"/>
              <a:t>Emp_Id</a:t>
            </a:r>
            <a:r>
              <a:rPr lang="en-US" dirty="0"/>
              <a:t> + </a:t>
            </a:r>
            <a:r>
              <a:rPr lang="en-US" dirty="0" err="1"/>
              <a:t>Mobile_No</a:t>
            </a:r>
            <a:r>
              <a:rPr lang="en-US" dirty="0"/>
              <a:t> is a super key</a:t>
            </a:r>
            <a:r>
              <a:rPr lang="en-US" dirty="0" smtClean="0"/>
              <a:t>.</a:t>
            </a:r>
            <a:endParaRPr lang="en-US" dirty="0"/>
          </a:p>
          <a:p>
            <a:r>
              <a:rPr lang="en-US" sz="1800" dirty="0"/>
              <a:t>A candidate key is a super key but vice versa is not true.</a:t>
            </a:r>
          </a:p>
          <a:p>
            <a:endParaRPr lang="en-US" sz="2400" dirty="0"/>
          </a:p>
        </p:txBody>
      </p:sp>
      <p:pic>
        <p:nvPicPr>
          <p:cNvPr id="4" name="Picture 3"/>
          <p:cNvPicPr>
            <a:picLocks noChangeAspect="1"/>
          </p:cNvPicPr>
          <p:nvPr/>
        </p:nvPicPr>
        <p:blipFill rotWithShape="1">
          <a:blip r:embed="rId2"/>
          <a:srcRect b="8299"/>
          <a:stretch/>
        </p:blipFill>
        <p:spPr>
          <a:xfrm>
            <a:off x="6660108" y="1152983"/>
            <a:ext cx="5531891" cy="5411590"/>
          </a:xfrm>
          <a:prstGeom prst="rect">
            <a:avLst/>
          </a:prstGeom>
        </p:spPr>
      </p:pic>
    </p:spTree>
    <p:extLst>
      <p:ext uri="{BB962C8B-B14F-4D97-AF65-F5344CB8AC3E}">
        <p14:creationId xmlns:p14="http://schemas.microsoft.com/office/powerpoint/2010/main" val="2096307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1742" y="292357"/>
            <a:ext cx="10749412" cy="4195481"/>
          </a:xfrm>
        </p:spPr>
        <p:txBody>
          <a:bodyPr>
            <a:noAutofit/>
          </a:bodyPr>
          <a:lstStyle/>
          <a:p>
            <a:r>
              <a:rPr lang="en-US" sz="2400" dirty="0"/>
              <a:t>Super Key is the superset of a candidate key (explained below). The Primary Key of a table is picked from the super key set to be made the table’s identity attribute.</a:t>
            </a:r>
          </a:p>
          <a:p>
            <a:r>
              <a:rPr lang="en-US" sz="2400" b="1" dirty="0"/>
              <a:t>Examples of Super Keys </a:t>
            </a:r>
          </a:p>
          <a:p>
            <a:r>
              <a:rPr lang="en-US" sz="2400" dirty="0"/>
              <a:t>Here is a table with examples of super keys in a relational database context. Assume we have a table named Students with the following attributes: </a:t>
            </a:r>
            <a:r>
              <a:rPr lang="en-US" sz="2400" dirty="0" err="1"/>
              <a:t>StudentID</a:t>
            </a:r>
            <a:r>
              <a:rPr lang="en-US" sz="2400" dirty="0"/>
              <a:t>, </a:t>
            </a:r>
            <a:r>
              <a:rPr lang="en-US" sz="2400" dirty="0" err="1"/>
              <a:t>RollNo</a:t>
            </a:r>
            <a:r>
              <a:rPr lang="en-US" sz="2400" dirty="0"/>
              <a:t>, </a:t>
            </a:r>
            <a:r>
              <a:rPr lang="en-US" sz="2400" dirty="0" err="1"/>
              <a:t>FirstName</a:t>
            </a:r>
            <a:r>
              <a:rPr lang="en-US" sz="2400" dirty="0"/>
              <a:t>, </a:t>
            </a:r>
            <a:r>
              <a:rPr lang="en-US" sz="2400" dirty="0" err="1"/>
              <a:t>LastName</a:t>
            </a:r>
            <a:r>
              <a:rPr lang="en-US" sz="2400" dirty="0"/>
              <a:t>, and Email.</a:t>
            </a:r>
          </a:p>
          <a:p>
            <a:endParaRPr lang="en-US" sz="2400" dirty="0"/>
          </a:p>
        </p:txBody>
      </p:sp>
      <p:pic>
        <p:nvPicPr>
          <p:cNvPr id="4" name="Picture 3"/>
          <p:cNvPicPr>
            <a:picLocks noChangeAspect="1"/>
          </p:cNvPicPr>
          <p:nvPr/>
        </p:nvPicPr>
        <p:blipFill>
          <a:blip r:embed="rId2"/>
          <a:stretch>
            <a:fillRect/>
          </a:stretch>
        </p:blipFill>
        <p:spPr>
          <a:xfrm>
            <a:off x="946481" y="3322108"/>
            <a:ext cx="9479934" cy="3535892"/>
          </a:xfrm>
          <a:prstGeom prst="rect">
            <a:avLst/>
          </a:prstGeom>
        </p:spPr>
      </p:pic>
    </p:spTree>
    <p:extLst>
      <p:ext uri="{BB962C8B-B14F-4D97-AF65-F5344CB8AC3E}">
        <p14:creationId xmlns:p14="http://schemas.microsoft.com/office/powerpoint/2010/main" val="1013109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 Alternate key</a:t>
            </a:r>
            <a:br>
              <a:rPr lang="en-US" b="1" dirty="0"/>
            </a:br>
            <a:endParaRPr lang="en-US" dirty="0"/>
          </a:p>
        </p:txBody>
      </p:sp>
      <p:sp>
        <p:nvSpPr>
          <p:cNvPr id="3" name="Content Placeholder 2"/>
          <p:cNvSpPr>
            <a:spLocks noGrp="1"/>
          </p:cNvSpPr>
          <p:nvPr>
            <p:ph idx="1"/>
          </p:nvPr>
        </p:nvSpPr>
        <p:spPr>
          <a:xfrm>
            <a:off x="359508" y="1152983"/>
            <a:ext cx="10995429" cy="5303226"/>
          </a:xfrm>
        </p:spPr>
        <p:txBody>
          <a:bodyPr>
            <a:noAutofit/>
          </a:bodyPr>
          <a:lstStyle/>
          <a:p>
            <a:r>
              <a:rPr lang="en-US" dirty="0"/>
              <a:t>An Alternate key is a key that can work as a primary key. It is a candidate key that currently is not a primary key. It is also called a secondary key.</a:t>
            </a:r>
          </a:p>
          <a:p>
            <a:r>
              <a:rPr lang="en-US" dirty="0"/>
              <a:t>In other words, the alternate key is a column or collection of columns in a table that can uniquely identify each row in that table. </a:t>
            </a:r>
            <a:endParaRPr lang="en-US" dirty="0" smtClean="0"/>
          </a:p>
          <a:p>
            <a:r>
              <a:rPr lang="en-US" dirty="0" smtClean="0"/>
              <a:t>Every </a:t>
            </a:r>
            <a:r>
              <a:rPr lang="en-US" dirty="0"/>
              <a:t>table of the database table can have multiple options for a primary key to be configured but out of them, only one column can be set as the primary key. </a:t>
            </a:r>
            <a:endParaRPr lang="en-US" dirty="0" smtClean="0"/>
          </a:p>
          <a:p>
            <a:r>
              <a:rPr lang="en-US" dirty="0" smtClean="0"/>
              <a:t>All </a:t>
            </a:r>
            <a:r>
              <a:rPr lang="en-US" dirty="0"/>
              <a:t>the keys which are not primary keys are called the alternate keys of that table.</a:t>
            </a:r>
          </a:p>
          <a:p>
            <a:r>
              <a:rPr lang="en-US" dirty="0"/>
              <a:t>This secondary assurance becomes crucial when dealing with scenarios where the primary key might not be feasible due to complexity, length, or other considerations</a:t>
            </a:r>
            <a:r>
              <a:rPr lang="en-US" dirty="0" smtClean="0"/>
              <a:t>.</a:t>
            </a:r>
          </a:p>
          <a:p>
            <a:r>
              <a:rPr lang="en-US" b="1" dirty="0"/>
              <a:t>Example</a:t>
            </a:r>
          </a:p>
          <a:p>
            <a:r>
              <a:rPr lang="en-US" dirty="0"/>
              <a:t>In the Employee relation, </a:t>
            </a:r>
            <a:r>
              <a:rPr lang="en-US" dirty="0" err="1"/>
              <a:t>Emp_Id</a:t>
            </a:r>
            <a:r>
              <a:rPr lang="en-US" dirty="0"/>
              <a:t>, as well as </a:t>
            </a:r>
            <a:r>
              <a:rPr lang="en-US" dirty="0" err="1"/>
              <a:t>Mobile_No</a:t>
            </a:r>
            <a:r>
              <a:rPr lang="en-US" dirty="0"/>
              <a:t> both, are candidate keys but </a:t>
            </a:r>
            <a:r>
              <a:rPr lang="en-US" dirty="0" err="1"/>
              <a:t>Mobile_No</a:t>
            </a:r>
            <a:r>
              <a:rPr lang="en-US" dirty="0"/>
              <a:t> will be an alternate key (only one out of many candidate keys</a:t>
            </a:r>
            <a:r>
              <a:rPr lang="en-US" dirty="0" smtClean="0"/>
              <a:t>)</a:t>
            </a:r>
          </a:p>
          <a:p>
            <a:r>
              <a:rPr lang="en-US" dirty="0"/>
              <a:t>Practically in the database, we have only three types of keys Primary Key, Unique Key, and Foreign Key. Other types of keys are the only concepts of RDBMS that you should know.</a:t>
            </a:r>
          </a:p>
          <a:p>
            <a:endParaRPr lang="en-US" dirty="0"/>
          </a:p>
        </p:txBody>
      </p:sp>
    </p:spTree>
    <p:extLst>
      <p:ext uri="{BB962C8B-B14F-4D97-AF65-F5344CB8AC3E}">
        <p14:creationId xmlns:p14="http://schemas.microsoft.com/office/powerpoint/2010/main" val="2841990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r="1311" b="9053"/>
          <a:stretch/>
        </p:blipFill>
        <p:spPr>
          <a:xfrm>
            <a:off x="371192" y="655092"/>
            <a:ext cx="10929476" cy="5964071"/>
          </a:xfrm>
          <a:prstGeom prst="rect">
            <a:avLst/>
          </a:prstGeom>
        </p:spPr>
      </p:pic>
    </p:spTree>
    <p:extLst>
      <p:ext uri="{BB962C8B-B14F-4D97-AF65-F5344CB8AC3E}">
        <p14:creationId xmlns:p14="http://schemas.microsoft.com/office/powerpoint/2010/main" val="2542839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Composite/Compound Key</a:t>
            </a:r>
            <a:br>
              <a:rPr lang="en-US" dirty="0"/>
            </a:br>
            <a:endParaRPr lang="en-US" dirty="0"/>
          </a:p>
        </p:txBody>
      </p:sp>
      <p:sp>
        <p:nvSpPr>
          <p:cNvPr id="3" name="Content Placeholder 2"/>
          <p:cNvSpPr>
            <a:spLocks noGrp="1"/>
          </p:cNvSpPr>
          <p:nvPr>
            <p:ph idx="1"/>
          </p:nvPr>
        </p:nvSpPr>
        <p:spPr>
          <a:xfrm>
            <a:off x="646111" y="1725372"/>
            <a:ext cx="10074204" cy="4195481"/>
          </a:xfrm>
        </p:spPr>
        <p:txBody>
          <a:bodyPr>
            <a:normAutofit fontScale="92500" lnSpcReduction="20000"/>
          </a:bodyPr>
          <a:lstStyle/>
          <a:p>
            <a:r>
              <a:rPr lang="en-US" sz="3000" dirty="0" smtClean="0"/>
              <a:t>A </a:t>
            </a:r>
            <a:r>
              <a:rPr lang="en-US" sz="3000" dirty="0"/>
              <a:t>composite Key is a combination of more than one field/column of a table. It can be a Candidate key or a primary key.</a:t>
            </a:r>
          </a:p>
          <a:p>
            <a:r>
              <a:rPr lang="en-US" sz="3000" dirty="0"/>
              <a:t>It gets its importance when it's not possible for a single column/attribute to uniquely identify all the records of a table. It acts as a primary key if there is no primary key in a table.</a:t>
            </a:r>
          </a:p>
          <a:p>
            <a:r>
              <a:rPr lang="en-US" sz="3000" dirty="0"/>
              <a:t>To create a composite key, you need to define multiple columns as primary or unique. This intertwining of attributes forms a robust identifier that prevents identical combinations from surfacing.</a:t>
            </a:r>
          </a:p>
          <a:p>
            <a:endParaRPr lang="en-US" dirty="0"/>
          </a:p>
        </p:txBody>
      </p:sp>
    </p:spTree>
    <p:extLst>
      <p:ext uri="{BB962C8B-B14F-4D97-AF65-F5344CB8AC3E}">
        <p14:creationId xmlns:p14="http://schemas.microsoft.com/office/powerpoint/2010/main" val="2573682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6. Unique Key</a:t>
            </a:r>
            <a:br>
              <a:rPr lang="en-US" b="1" dirty="0"/>
            </a:br>
            <a:endParaRPr lang="en-US" dirty="0"/>
          </a:p>
        </p:txBody>
      </p:sp>
      <p:sp>
        <p:nvSpPr>
          <p:cNvPr id="3" name="Content Placeholder 2"/>
          <p:cNvSpPr>
            <a:spLocks noGrp="1"/>
          </p:cNvSpPr>
          <p:nvPr>
            <p:ph idx="1"/>
          </p:nvPr>
        </p:nvSpPr>
        <p:spPr>
          <a:xfrm>
            <a:off x="646111" y="1425121"/>
            <a:ext cx="10517758" cy="5166748"/>
          </a:xfrm>
        </p:spPr>
        <p:txBody>
          <a:bodyPr>
            <a:noAutofit/>
          </a:bodyPr>
          <a:lstStyle/>
          <a:p>
            <a:r>
              <a:rPr lang="en-US" sz="2400" dirty="0"/>
              <a:t>Unique Key can be a column or set of columns that can be used to uniquely identify the tuple from the database. One or more fields can be declared as a unique Key. </a:t>
            </a:r>
            <a:endParaRPr lang="en-US" sz="2400" dirty="0" smtClean="0"/>
          </a:p>
          <a:p>
            <a:r>
              <a:rPr lang="en-US" sz="2400" dirty="0" smtClean="0"/>
              <a:t>The </a:t>
            </a:r>
            <a:r>
              <a:rPr lang="en-US" sz="2400" dirty="0"/>
              <a:t>unique Key column can also hold the NULL value. The use of unique keys improves the performance of data retrieval. It makes searching for records from the database much faster &amp; efficient</a:t>
            </a:r>
            <a:r>
              <a:rPr lang="en-US" sz="2400" dirty="0" smtClean="0"/>
              <a:t>.</a:t>
            </a:r>
          </a:p>
          <a:p>
            <a:r>
              <a:rPr lang="en-US" sz="2400" b="1" dirty="0"/>
              <a:t>Example</a:t>
            </a:r>
          </a:p>
          <a:p>
            <a:r>
              <a:rPr lang="en-US" sz="2400" dirty="0"/>
              <a:t>In the Employee relation, a Unique Key could be applied to the email column, allowing null values to be present while maintaining the uniqueness requirement for non-null entries.</a:t>
            </a:r>
          </a:p>
          <a:p>
            <a:endParaRPr lang="en-US" sz="2400" dirty="0"/>
          </a:p>
        </p:txBody>
      </p:sp>
    </p:spTree>
    <p:extLst>
      <p:ext uri="{BB962C8B-B14F-4D97-AF65-F5344CB8AC3E}">
        <p14:creationId xmlns:p14="http://schemas.microsoft.com/office/powerpoint/2010/main" val="2018146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 Foreign Key</a:t>
            </a:r>
          </a:p>
        </p:txBody>
      </p:sp>
      <p:sp>
        <p:nvSpPr>
          <p:cNvPr id="3" name="Content Placeholder 2"/>
          <p:cNvSpPr>
            <a:spLocks noGrp="1"/>
          </p:cNvSpPr>
          <p:nvPr>
            <p:ph idx="1"/>
          </p:nvPr>
        </p:nvSpPr>
        <p:spPr>
          <a:xfrm>
            <a:off x="325389" y="1261348"/>
            <a:ext cx="11111434" cy="4907440"/>
          </a:xfrm>
        </p:spPr>
        <p:txBody>
          <a:bodyPr>
            <a:noAutofit/>
          </a:bodyPr>
          <a:lstStyle/>
          <a:p>
            <a:r>
              <a:rPr lang="en-US" sz="2400" dirty="0" smtClean="0"/>
              <a:t>A </a:t>
            </a:r>
            <a:r>
              <a:rPr lang="en-US" sz="2400" dirty="0"/>
              <a:t>foreign key is an attribute that is a Primary key in its parent table but is included as an attribute in another host table. </a:t>
            </a:r>
            <a:endParaRPr lang="en-US" sz="2400" dirty="0" smtClean="0"/>
          </a:p>
          <a:p>
            <a:r>
              <a:rPr lang="en-US" sz="2400" dirty="0" smtClean="0"/>
              <a:t>The </a:t>
            </a:r>
            <a:r>
              <a:rPr lang="en-US" sz="2400" dirty="0"/>
              <a:t>relation that is being referenced is called the referenced relation and the corresponding attribute is called the referenced attribute. </a:t>
            </a:r>
            <a:endParaRPr lang="en-US" sz="2400" dirty="0" smtClean="0"/>
          </a:p>
          <a:p>
            <a:r>
              <a:rPr lang="en-US" sz="2400" dirty="0" smtClean="0"/>
              <a:t>The </a:t>
            </a:r>
            <a:r>
              <a:rPr lang="en-US" sz="2400" dirty="0"/>
              <a:t>relation that refers to the referenced relation is called a referencing relation and the corresponding attribute is called a referencing attribute</a:t>
            </a:r>
            <a:r>
              <a:rPr lang="en-US" sz="2400" dirty="0" smtClean="0"/>
              <a:t>.</a:t>
            </a:r>
          </a:p>
          <a:p>
            <a:r>
              <a:rPr lang="en-US" sz="2400" dirty="0" smtClean="0"/>
              <a:t> </a:t>
            </a:r>
            <a:r>
              <a:rPr lang="en-US" sz="2400" dirty="0"/>
              <a:t>The referenced attribute of the referenced relation should be the primary key to it.</a:t>
            </a:r>
          </a:p>
          <a:p>
            <a:r>
              <a:rPr lang="en-US" sz="2400" dirty="0"/>
              <a:t>Foreign Key may have duplicate &amp; NULL values if it is defined to accept NULL values.</a:t>
            </a:r>
          </a:p>
          <a:p>
            <a:r>
              <a:rPr lang="en-US" sz="2400" b="1" dirty="0"/>
              <a:t>Example</a:t>
            </a:r>
          </a:p>
          <a:p>
            <a:r>
              <a:rPr lang="en-US" sz="2400" dirty="0" err="1"/>
              <a:t>Emp_Id</a:t>
            </a:r>
            <a:r>
              <a:rPr lang="en-US" sz="2400" dirty="0"/>
              <a:t> in the Department table is a foreign key to </a:t>
            </a:r>
            <a:r>
              <a:rPr lang="en-US" sz="2400" dirty="0" err="1"/>
              <a:t>Emp_Id</a:t>
            </a:r>
            <a:r>
              <a:rPr lang="en-US" sz="2400" dirty="0"/>
              <a:t> in Employee relation.</a:t>
            </a:r>
          </a:p>
          <a:p>
            <a:endParaRPr lang="en-US" sz="2400" dirty="0"/>
          </a:p>
        </p:txBody>
      </p:sp>
    </p:spTree>
    <p:extLst>
      <p:ext uri="{BB962C8B-B14F-4D97-AF65-F5344CB8AC3E}">
        <p14:creationId xmlns:p14="http://schemas.microsoft.com/office/powerpoint/2010/main" val="1354326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300252"/>
            <a:ext cx="9951375" cy="6387152"/>
          </a:xfrm>
        </p:spPr>
        <p:txBody>
          <a:bodyPr>
            <a:normAutofit fontScale="92500" lnSpcReduction="20000"/>
          </a:bodyPr>
          <a:lstStyle/>
          <a:p>
            <a:pPr marL="0" indent="0">
              <a:buNone/>
            </a:pPr>
            <a:r>
              <a:rPr lang="en-US" dirty="0">
                <a:solidFill>
                  <a:schemeClr val="accent2"/>
                </a:solidFill>
              </a:rPr>
              <a:t>--Department Table</a:t>
            </a:r>
          </a:p>
          <a:p>
            <a:pPr marL="0" indent="0">
              <a:buNone/>
            </a:pPr>
            <a:r>
              <a:rPr lang="en-US" dirty="0"/>
              <a:t> CREATE TABLE Department </a:t>
            </a:r>
          </a:p>
          <a:p>
            <a:pPr marL="0" indent="0">
              <a:buNone/>
            </a:pPr>
            <a:r>
              <a:rPr lang="en-US" dirty="0"/>
              <a:t>(</a:t>
            </a:r>
          </a:p>
          <a:p>
            <a:pPr marL="0" indent="0">
              <a:buNone/>
            </a:pPr>
            <a:r>
              <a:rPr lang="en-US" dirty="0"/>
              <a:t> </a:t>
            </a:r>
            <a:r>
              <a:rPr lang="en-US" dirty="0" err="1"/>
              <a:t>DeptID</a:t>
            </a:r>
            <a:r>
              <a:rPr lang="en-US" dirty="0"/>
              <a:t> </a:t>
            </a:r>
            <a:r>
              <a:rPr lang="en-US" dirty="0" err="1"/>
              <a:t>int</a:t>
            </a:r>
            <a:r>
              <a:rPr lang="en-US" dirty="0"/>
              <a:t> PRIMARY KEY, </a:t>
            </a:r>
            <a:r>
              <a:rPr lang="en-US" dirty="0">
                <a:solidFill>
                  <a:schemeClr val="accent2"/>
                </a:solidFill>
              </a:rPr>
              <a:t>--primary key</a:t>
            </a:r>
          </a:p>
          <a:p>
            <a:pPr marL="0" indent="0">
              <a:buNone/>
            </a:pPr>
            <a:r>
              <a:rPr lang="en-US" dirty="0"/>
              <a:t> Name </a:t>
            </a:r>
            <a:r>
              <a:rPr lang="en-US" dirty="0" err="1"/>
              <a:t>varchar</a:t>
            </a:r>
            <a:r>
              <a:rPr lang="en-US" dirty="0"/>
              <a:t> (50) NOT NULL,</a:t>
            </a:r>
          </a:p>
          <a:p>
            <a:pPr marL="0" indent="0">
              <a:buNone/>
            </a:pPr>
            <a:r>
              <a:rPr lang="en-US" dirty="0"/>
              <a:t> Address </a:t>
            </a:r>
            <a:r>
              <a:rPr lang="en-US" dirty="0" err="1"/>
              <a:t>varchar</a:t>
            </a:r>
            <a:r>
              <a:rPr lang="en-US" dirty="0"/>
              <a:t> (200) NOT NULL</a:t>
            </a:r>
          </a:p>
          <a:p>
            <a:pPr marL="0" indent="0">
              <a:buNone/>
            </a:pPr>
            <a:r>
              <a:rPr lang="en-US" dirty="0"/>
              <a:t> ) </a:t>
            </a:r>
          </a:p>
          <a:p>
            <a:pPr marL="0" indent="0">
              <a:buNone/>
            </a:pPr>
            <a:r>
              <a:rPr lang="en-US" dirty="0">
                <a:solidFill>
                  <a:schemeClr val="accent2"/>
                </a:solidFill>
              </a:rPr>
              <a:t>--Student Table</a:t>
            </a:r>
          </a:p>
          <a:p>
            <a:pPr marL="0" indent="0">
              <a:buNone/>
            </a:pPr>
            <a:r>
              <a:rPr lang="en-US" dirty="0"/>
              <a:t>CREATE TABLE Student </a:t>
            </a:r>
          </a:p>
          <a:p>
            <a:pPr marL="0" indent="0">
              <a:buNone/>
            </a:pPr>
            <a:r>
              <a:rPr lang="en-US" dirty="0"/>
              <a:t>(</a:t>
            </a:r>
          </a:p>
          <a:p>
            <a:pPr marL="0" indent="0">
              <a:buNone/>
            </a:pPr>
            <a:r>
              <a:rPr lang="en-US" dirty="0"/>
              <a:t> ID </a:t>
            </a:r>
            <a:r>
              <a:rPr lang="en-US" dirty="0" err="1"/>
              <a:t>int</a:t>
            </a:r>
            <a:r>
              <a:rPr lang="en-US" dirty="0"/>
              <a:t> PRIMARY KEY, </a:t>
            </a:r>
            <a:r>
              <a:rPr lang="en-US" dirty="0">
                <a:solidFill>
                  <a:schemeClr val="accent2"/>
                </a:solidFill>
              </a:rPr>
              <a:t>--primary key</a:t>
            </a:r>
          </a:p>
          <a:p>
            <a:pPr marL="0" indent="0">
              <a:buNone/>
            </a:pPr>
            <a:r>
              <a:rPr lang="en-US" dirty="0"/>
              <a:t> </a:t>
            </a:r>
            <a:r>
              <a:rPr lang="en-US" dirty="0" err="1"/>
              <a:t>RollNo</a:t>
            </a:r>
            <a:r>
              <a:rPr lang="en-US" dirty="0"/>
              <a:t> </a:t>
            </a:r>
            <a:r>
              <a:rPr lang="en-US" dirty="0" err="1"/>
              <a:t>varchar</a:t>
            </a:r>
            <a:r>
              <a:rPr lang="en-US" dirty="0"/>
              <a:t>(10) NOT NULL,</a:t>
            </a:r>
          </a:p>
          <a:p>
            <a:pPr marL="0" indent="0">
              <a:buNone/>
            </a:pPr>
            <a:r>
              <a:rPr lang="en-US" dirty="0"/>
              <a:t> Name </a:t>
            </a:r>
            <a:r>
              <a:rPr lang="en-US" dirty="0" err="1"/>
              <a:t>varchar</a:t>
            </a:r>
            <a:r>
              <a:rPr lang="en-US" dirty="0"/>
              <a:t>(50) NOT NULL,</a:t>
            </a:r>
          </a:p>
          <a:p>
            <a:pPr marL="0" indent="0">
              <a:buNone/>
            </a:pPr>
            <a:r>
              <a:rPr lang="en-US" dirty="0"/>
              <a:t> </a:t>
            </a:r>
            <a:r>
              <a:rPr lang="en-US" dirty="0" err="1"/>
              <a:t>EnrollNo</a:t>
            </a:r>
            <a:r>
              <a:rPr lang="en-US" dirty="0"/>
              <a:t> </a:t>
            </a:r>
            <a:r>
              <a:rPr lang="en-US" dirty="0" err="1"/>
              <a:t>varchar</a:t>
            </a:r>
            <a:r>
              <a:rPr lang="en-US" dirty="0"/>
              <a:t>(50) UNIQUE, </a:t>
            </a:r>
            <a:r>
              <a:rPr lang="en-US" dirty="0">
                <a:solidFill>
                  <a:schemeClr val="accent2"/>
                </a:solidFill>
              </a:rPr>
              <a:t>--unique key</a:t>
            </a:r>
          </a:p>
          <a:p>
            <a:pPr marL="0" indent="0">
              <a:buNone/>
            </a:pPr>
            <a:r>
              <a:rPr lang="en-US" dirty="0"/>
              <a:t> Address </a:t>
            </a:r>
            <a:r>
              <a:rPr lang="en-US" dirty="0" err="1"/>
              <a:t>varchar</a:t>
            </a:r>
            <a:r>
              <a:rPr lang="en-US" dirty="0"/>
              <a:t>(200) NOT NULL,</a:t>
            </a:r>
          </a:p>
          <a:p>
            <a:pPr marL="0" indent="0">
              <a:buNone/>
            </a:pPr>
            <a:r>
              <a:rPr lang="en-US" dirty="0"/>
              <a:t> </a:t>
            </a:r>
            <a:r>
              <a:rPr lang="en-US" dirty="0" err="1"/>
              <a:t>DeptID</a:t>
            </a:r>
            <a:r>
              <a:rPr lang="en-US" dirty="0"/>
              <a:t> </a:t>
            </a:r>
            <a:r>
              <a:rPr lang="en-US" dirty="0" err="1"/>
              <a:t>int</a:t>
            </a:r>
            <a:r>
              <a:rPr lang="en-US" dirty="0"/>
              <a:t> FOREIGN KEY REFERENCES Department(</a:t>
            </a:r>
            <a:r>
              <a:rPr lang="en-US" dirty="0" err="1"/>
              <a:t>DeptID</a:t>
            </a:r>
            <a:r>
              <a:rPr lang="en-US" dirty="0"/>
              <a:t>) </a:t>
            </a:r>
            <a:r>
              <a:rPr lang="en-US" dirty="0">
                <a:solidFill>
                  <a:schemeClr val="accent2"/>
                </a:solidFill>
              </a:rPr>
              <a:t>--foreign key</a:t>
            </a:r>
          </a:p>
          <a:p>
            <a:pPr marL="0" indent="0">
              <a:buNone/>
            </a:pPr>
            <a:r>
              <a:rPr lang="en-US" dirty="0"/>
              <a:t>) </a:t>
            </a:r>
          </a:p>
        </p:txBody>
      </p:sp>
    </p:spTree>
    <p:extLst>
      <p:ext uri="{BB962C8B-B14F-4D97-AF65-F5344CB8AC3E}">
        <p14:creationId xmlns:p14="http://schemas.microsoft.com/office/powerpoint/2010/main" val="10216319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210</TotalTime>
  <Words>1833</Words>
  <Application>Microsoft Office PowerPoint</Application>
  <PresentationFormat>Widescreen</PresentationFormat>
  <Paragraphs>135</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Century Gothic</vt:lpstr>
      <vt:lpstr>Wingdings 3</vt:lpstr>
      <vt:lpstr>Ion</vt:lpstr>
      <vt:lpstr>NULL Values in SQL </vt:lpstr>
      <vt:lpstr>NULL Values in SQL </vt:lpstr>
      <vt:lpstr>Understanding NULL in SQL </vt:lpstr>
      <vt:lpstr>Handling NULL Values in SQL </vt:lpstr>
      <vt:lpstr>NULL Values in SQL Functions </vt:lpstr>
      <vt:lpstr>SQL NULL Functions </vt:lpstr>
      <vt:lpstr>PowerPoint Presentation</vt:lpstr>
      <vt:lpstr>Different Types of SQL Keys</vt:lpstr>
      <vt:lpstr>What is a key in SQL? </vt:lpstr>
      <vt:lpstr>Types of SQL Keys </vt:lpstr>
      <vt:lpstr>1. Candidate Key </vt:lpstr>
      <vt:lpstr>2. Primary Key </vt:lpstr>
      <vt:lpstr>3. Super Key </vt:lpstr>
      <vt:lpstr>PowerPoint Presentation</vt:lpstr>
      <vt:lpstr>4. Alternate key </vt:lpstr>
      <vt:lpstr>PowerPoint Presentation</vt:lpstr>
      <vt:lpstr>5. Composite/Compound Key </vt:lpstr>
      <vt:lpstr>6. Unique Key </vt:lpstr>
      <vt:lpstr>7. Foreign Key</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NULL Values in SQL </dc:title>
  <dc:creator>Windows User</dc:creator>
  <cp:lastModifiedBy>Windows User</cp:lastModifiedBy>
  <cp:revision>20</cp:revision>
  <dcterms:created xsi:type="dcterms:W3CDTF">2024-09-03T10:45:30Z</dcterms:created>
  <dcterms:modified xsi:type="dcterms:W3CDTF">2024-09-09T05:42:36Z</dcterms:modified>
</cp:coreProperties>
</file>